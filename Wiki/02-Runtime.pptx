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handoutMasterIdLst>
    <p:handoutMasterId r:id="rId36"/>
  </p:handoutMasterIdLst>
  <p:sldIdLst>
    <p:sldId id="292" r:id="rId2"/>
    <p:sldId id="293" r:id="rId3"/>
    <p:sldId id="294" r:id="rId4"/>
    <p:sldId id="296" r:id="rId5"/>
    <p:sldId id="295" r:id="rId6"/>
    <p:sldId id="328" r:id="rId7"/>
    <p:sldId id="329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24" r:id="rId17"/>
    <p:sldId id="305" r:id="rId18"/>
    <p:sldId id="313" r:id="rId19"/>
    <p:sldId id="309" r:id="rId20"/>
    <p:sldId id="310" r:id="rId21"/>
    <p:sldId id="311" r:id="rId22"/>
    <p:sldId id="308" r:id="rId23"/>
    <p:sldId id="312" r:id="rId24"/>
    <p:sldId id="314" r:id="rId25"/>
    <p:sldId id="315" r:id="rId26"/>
    <p:sldId id="316" r:id="rId27"/>
    <p:sldId id="317" r:id="rId28"/>
    <p:sldId id="318" r:id="rId29"/>
    <p:sldId id="319" r:id="rId30"/>
    <p:sldId id="320" r:id="rId31"/>
    <p:sldId id="321" r:id="rId32"/>
    <p:sldId id="322" r:id="rId33"/>
    <p:sldId id="323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35E4DC2-62B4-BF44-9EB8-E882BDCEB1CF}">
          <p14:sldIdLst>
            <p14:sldId id="292"/>
          </p14:sldIdLst>
        </p14:section>
        <p14:section name="面试题" id="{E2613D14-14A3-1F4B-B0E6-48735BD8A814}">
          <p14:sldIdLst>
            <p14:sldId id="293"/>
            <p14:sldId id="294"/>
            <p14:sldId id="296"/>
          </p14:sldIdLst>
        </p14:section>
        <p14:section name="Runtime" id="{10D1F52D-C6C3-8B45-AC82-EE518C326C08}">
          <p14:sldIdLst>
            <p14:sldId id="295"/>
            <p14:sldId id="328"/>
            <p14:sldId id="329"/>
          </p14:sldIdLst>
        </p14:section>
        <p14:section name="isa" id="{435ABC94-002A-434A-A6F1-A5DAE29F7038}">
          <p14:sldIdLst>
            <p14:sldId id="297"/>
            <p14:sldId id="298"/>
          </p14:sldIdLst>
        </p14:section>
        <p14:section name="class的结构" id="{C4E010E2-32E4-1441-8B04-C7A076A089DB}">
          <p14:sldIdLst>
            <p14:sldId id="299"/>
            <p14:sldId id="300"/>
            <p14:sldId id="301"/>
            <p14:sldId id="302"/>
            <p14:sldId id="303"/>
          </p14:sldIdLst>
        </p14:section>
        <p14:section name="方法缓存" id="{64ADC7C0-9D7E-3343-9AFB-87336BCA0C80}">
          <p14:sldIdLst>
            <p14:sldId id="304"/>
            <p14:sldId id="324"/>
          </p14:sldIdLst>
        </p14:section>
        <p14:section name="objc_msgSend" id="{A64C9C41-D9A4-6A4A-8123-7EDBE34B90CB}">
          <p14:sldIdLst>
            <p14:sldId id="305"/>
            <p14:sldId id="313"/>
            <p14:sldId id="309"/>
            <p14:sldId id="310"/>
            <p14:sldId id="311"/>
            <p14:sldId id="308"/>
            <p14:sldId id="312"/>
          </p14:sldIdLst>
        </p14:section>
        <p14:section name="super" id="{F37488C0-AFC2-3240-B4BE-285172E1C4A0}">
          <p14:sldIdLst>
            <p14:sldId id="314"/>
            <p14:sldId id="315"/>
          </p14:sldIdLst>
        </p14:section>
        <p14:section name="应用" id="{C888390E-AD48-A24A-A28E-0D71B3F1AE35}">
          <p14:sldIdLst>
            <p14:sldId id="316"/>
            <p14:sldId id="317"/>
            <p14:sldId id="318"/>
          </p14:sldIdLst>
        </p14:section>
        <p14:section name="API" id="{FFC693F5-D388-A04D-9673-A29F2EC6AF93}">
          <p14:sldIdLst>
            <p14:sldId id="319"/>
            <p14:sldId id="320"/>
            <p14:sldId id="321"/>
            <p14:sldId id="322"/>
            <p14:sldId id="32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096" userDrawn="1">
          <p15:clr>
            <a:srgbClr val="A4A3A4"/>
          </p15:clr>
        </p15:guide>
        <p15:guide id="4" orient="horz" pos="595" userDrawn="1">
          <p15:clr>
            <a:srgbClr val="A4A3A4"/>
          </p15:clr>
        </p15:guide>
        <p15:guide id="5" orient="horz" pos="822" userDrawn="1">
          <p15:clr>
            <a:srgbClr val="A4A3A4"/>
          </p15:clr>
        </p15:guide>
        <p15:guide id="6" orient="horz" pos="1480" userDrawn="1">
          <p15:clr>
            <a:srgbClr val="A4A3A4"/>
          </p15:clr>
        </p15:guide>
        <p15:guide id="7" orient="horz" pos="2863" userDrawn="1">
          <p15:clr>
            <a:srgbClr val="A4A3A4"/>
          </p15:clr>
        </p15:guide>
        <p15:guide id="8" pos="2547" userDrawn="1">
          <p15:clr>
            <a:srgbClr val="A4A3A4"/>
          </p15:clr>
        </p15:guide>
        <p15:guide id="9" pos="5110" userDrawn="1">
          <p15:clr>
            <a:srgbClr val="A4A3A4"/>
          </p15:clr>
        </p15:guide>
        <p15:guide id="10" pos="511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F7A707"/>
    <a:srgbClr val="FEC200"/>
    <a:srgbClr val="31CDA8"/>
    <a:srgbClr val="3498DB"/>
    <a:srgbClr val="192871"/>
    <a:srgbClr val="0037A4"/>
    <a:srgbClr val="002A7E"/>
    <a:srgbClr val="F1A069"/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深色样式 1 - 强调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样式 1 - 强调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浅色样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67" autoAdjust="0"/>
    <p:restoredTop sz="86384" autoAdjust="0"/>
  </p:normalViewPr>
  <p:slideViewPr>
    <p:cSldViewPr snapToGrid="0" showGuides="1">
      <p:cViewPr varScale="1">
        <p:scale>
          <a:sx n="95" d="100"/>
          <a:sy n="95" d="100"/>
        </p:scale>
        <p:origin x="208" y="280"/>
      </p:cViewPr>
      <p:guideLst>
        <p:guide orient="horz" pos="2160"/>
        <p:guide pos="3840"/>
        <p:guide pos="1096"/>
        <p:guide orient="horz" pos="595"/>
        <p:guide orient="horz" pos="822"/>
        <p:guide orient="horz" pos="1480"/>
        <p:guide orient="horz" pos="2863"/>
        <p:guide pos="2547"/>
        <p:guide pos="5110"/>
        <p:guide pos="5111"/>
      </p:guideLst>
    </p:cSldViewPr>
  </p:slideViewPr>
  <p:outlineViewPr>
    <p:cViewPr>
      <p:scale>
        <a:sx n="33" d="100"/>
        <a:sy n="33" d="100"/>
      </p:scale>
      <p:origin x="0" y="-56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-114"/>
    </p:cViewPr>
  </p:sorterViewPr>
  <p:notesViewPr>
    <p:cSldViewPr snapToGrid="0">
      <p:cViewPr varScale="1">
        <p:scale>
          <a:sx n="65" d="100"/>
          <a:sy n="65" d="100"/>
        </p:scale>
        <p:origin x="315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AFCBEEA2-BF04-4625-9D90-F4291A119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691C78A-5A0F-4F2E-9C48-9BEEFCC112A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7634C-074B-4260-9010-E574428551B5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D4B301-C1F1-4488-BE41-C37374152C4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927E0BC-A1AC-4B31-B1CD-ECA55CA19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A7C4FF-9C5A-4350-A3CE-CE48C6E745E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13115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591C1-7BBD-4BAD-9912-0ADD21A74F0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33780-C451-4576-A162-3E5813E9C1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252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6">
            <a:extLst>
              <a:ext uri="{FF2B5EF4-FFF2-40B4-BE49-F238E27FC236}">
                <a16:creationId xmlns:a16="http://schemas.microsoft.com/office/drawing/2014/main" id="{F619AC0B-D093-4B29-BED5-E396B58FD1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232" y="0"/>
            <a:ext cx="12196559" cy="6858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" name="图片 1">
            <a:extLst>
              <a:ext uri="{FF2B5EF4-FFF2-40B4-BE49-F238E27FC236}">
                <a16:creationId xmlns:a16="http://schemas.microsoft.com/office/drawing/2014/main" id="{EC130C9D-3B92-4E92-AF34-4C37ACD515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336557" y="5640180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5">
            <a:extLst>
              <a:ext uri="{FF2B5EF4-FFF2-40B4-BE49-F238E27FC236}">
                <a16:creationId xmlns:a16="http://schemas.microsoft.com/office/drawing/2014/main" id="{36BA4FD9-4EAF-40CB-91E3-48F885239803}"/>
              </a:ext>
            </a:extLst>
          </p:cNvPr>
          <p:cNvSpPr/>
          <p:nvPr userDrawn="1"/>
        </p:nvSpPr>
        <p:spPr>
          <a:xfrm>
            <a:off x="4734893" y="6205486"/>
            <a:ext cx="2735236" cy="338554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pPr lvl="0" indent="0" algn="ctr"/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实力</a:t>
            </a:r>
            <a:r>
              <a:rPr lang="en-US" altLang="zh-CN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IT</a:t>
            </a:r>
            <a:r>
              <a:rPr lang="zh-CN" altLang="en-US" sz="1600" b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教育 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  <a:sym typeface="黑体" panose="02010609060101010101" charset="-122"/>
              </a:rPr>
              <a:t>www.520it.com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  <a:sym typeface="黑体" panose="02010609060101010101" charset="-122"/>
            </a:endParaRPr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E772C4B5-AB4E-43B0-B717-25071084F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54114"/>
            <a:ext cx="12192000" cy="1011116"/>
          </a:xfrm>
        </p:spPr>
        <p:txBody>
          <a:bodyPr anchor="ctr">
            <a:normAutofit/>
          </a:bodyPr>
          <a:lstStyle>
            <a:lvl1pPr algn="ctr">
              <a:defRPr sz="72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B401CC44-47BA-4904-A587-245165E74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32234" y="3417401"/>
            <a:ext cx="6327531" cy="43363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800" b="1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06322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5">
            <a:extLst>
              <a:ext uri="{FF2B5EF4-FFF2-40B4-BE49-F238E27FC236}">
                <a16:creationId xmlns:a16="http://schemas.microsoft.com/office/drawing/2014/main" id="{F612FBBA-ABAE-4812-AAB2-77CA48D541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1" y="-728"/>
            <a:ext cx="12200141" cy="68691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矩形 29">
            <a:extLst>
              <a:ext uri="{FF2B5EF4-FFF2-40B4-BE49-F238E27FC236}">
                <a16:creationId xmlns:a16="http://schemas.microsoft.com/office/drawing/2014/main" id="{89038A74-5A1B-45B4-AA7D-C9934D2FDABC}"/>
              </a:ext>
            </a:extLst>
          </p:cNvPr>
          <p:cNvSpPr/>
          <p:nvPr userDrawn="1"/>
        </p:nvSpPr>
        <p:spPr>
          <a:xfrm>
            <a:off x="-6349" y="1139584"/>
            <a:ext cx="12198349" cy="22225"/>
          </a:xfrm>
          <a:prstGeom prst="rect">
            <a:avLst/>
          </a:prstGeom>
          <a:solidFill>
            <a:srgbClr val="EAEAEA">
              <a:alpha val="32155"/>
            </a:srgbClr>
          </a:solidFill>
          <a:ln w="9525">
            <a:noFill/>
          </a:ln>
        </p:spPr>
        <p:txBody>
          <a:bodyPr anchor="ctr"/>
          <a:lstStyle/>
          <a:p>
            <a:pPr lvl="0" indent="0" algn="ctr"/>
            <a:endParaRPr lang="zh-CN" altLang="en-US" sz="1800" b="1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12" name="图片 1">
            <a:extLst>
              <a:ext uri="{FF2B5EF4-FFF2-40B4-BE49-F238E27FC236}">
                <a16:creationId xmlns:a16="http://schemas.microsoft.com/office/drawing/2014/main" id="{DB3FFE7C-0303-4D2A-9F24-474FCCD761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1839" y="399965"/>
            <a:ext cx="1531908" cy="565306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3C067B8-78E3-4D7C-B8BF-D55591977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4935" y="395532"/>
            <a:ext cx="10081824" cy="7121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kumimoji="1" lang="zh-CN" altLang="en-US"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E8B5E84D-8FAC-4FA6-9CA7-55579F675DF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61193" y="1238066"/>
            <a:ext cx="11866684" cy="5444088"/>
          </a:xfrm>
        </p:spPr>
        <p:txBody>
          <a:bodyPr>
            <a:normAutofit/>
          </a:bodyPr>
          <a:lstStyle>
            <a:lvl1pPr marL="228600" indent="-228600">
              <a:lnSpc>
                <a:spcPts val="2000"/>
              </a:lnSpc>
              <a:buFont typeface="Wingdings" panose="05000000000000000000" pitchFamily="2" charset="2"/>
              <a:buChar char="n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85800" indent="-228600">
              <a:lnSpc>
                <a:spcPts val="2000"/>
              </a:lnSpc>
              <a:buFont typeface="Wingdings" panose="05000000000000000000" pitchFamily="2" charset="2"/>
              <a:buChar char="p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143000" indent="-228600">
              <a:lnSpc>
                <a:spcPts val="2000"/>
              </a:lnSpc>
              <a:buFont typeface="Wingdings" panose="05000000000000000000" pitchFamily="2" charset="2"/>
              <a:buChar char="ü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600200" indent="-228600">
              <a:lnSpc>
                <a:spcPts val="2000"/>
              </a:lnSpc>
              <a:buFont typeface="Wingdings" panose="05000000000000000000" pitchFamily="2" charset="2"/>
              <a:buChar char="Ø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2057400" indent="-228600">
              <a:lnSpc>
                <a:spcPts val="2000"/>
              </a:lnSpc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056342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D8E73B-0927-45CC-BC19-B5A752C4C781}" type="datetimeFigureOut">
              <a:rPr lang="zh-CN" altLang="en-US" smtClean="0"/>
              <a:t>2019/1/30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811428-941F-4F39-9F0C-B1B29E093D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651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llvm.org/docs/LangRef.html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5D2A8A-4D20-46E7-AB5F-6F0B875B77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/>
              <a:t>Runtime</a:t>
            </a:r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/>
              <a:t>@M</a:t>
            </a:r>
            <a:r>
              <a:rPr lang="zh-CN" altLang="en-US"/>
              <a:t>了个</a:t>
            </a:r>
            <a:r>
              <a:rPr lang="en-US" altLang="zh-CN"/>
              <a:t>J</a:t>
            </a:r>
            <a:endParaRPr lang="zh-CN" altLang="en-US"/>
          </a:p>
        </p:txBody>
      </p:sp>
      <p:sp>
        <p:nvSpPr>
          <p:cNvPr id="4" name="副标题 2">
            <a:extLst>
              <a:ext uri="{FF2B5EF4-FFF2-40B4-BE49-F238E27FC236}">
                <a16:creationId xmlns:a16="http://schemas.microsoft.com/office/drawing/2014/main" id="{F8E18B87-7327-4283-B60A-4EF5B1BB4F6D}"/>
              </a:ext>
            </a:extLst>
          </p:cNvPr>
          <p:cNvSpPr txBox="1">
            <a:spLocks/>
          </p:cNvSpPr>
          <p:nvPr/>
        </p:nvSpPr>
        <p:spPr>
          <a:xfrm>
            <a:off x="2932234" y="4016115"/>
            <a:ext cx="6327531" cy="4336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b="0"/>
              <a:t>https://github.com/CoderMJLee</a:t>
            </a:r>
          </a:p>
        </p:txBody>
      </p:sp>
    </p:spTree>
    <p:extLst>
      <p:ext uri="{BB962C8B-B14F-4D97-AF65-F5344CB8AC3E}">
        <p14:creationId xmlns:p14="http://schemas.microsoft.com/office/powerpoint/2010/main" val="453187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3"/>
            <a:ext cx="11653167" cy="126197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讲一下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的消息机制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中的方法调用其实都是转成了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函数的调用，给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（方法调用者）发送了一条消息（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selector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方法名）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底层有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大阶段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消息发送（当前类、父类中查找）、动态方法解析、消息转发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343593" y="2634884"/>
            <a:ext cx="11501313" cy="72553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消息转发机制流程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3592" y="3543541"/>
            <a:ext cx="11501313" cy="31813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什么是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？平时项目中有用过么？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是一门动态性比较强的编程语言，允许很多操作推迟到程序运行时再进行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的动态性就是由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来支撑和实现的，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是一套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，封装了很多动态性相关的函数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平时编写的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代码，底层都是转换成了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进行调用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具体应用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利用关联对象（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AssociatedObject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）给分类添加属性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遍历类的所有成员变量（修改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textfield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的占位文字颜色、字典转模型、自动归档解档）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交换方法实现（交换系统的方法）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利用消息转发机制解决方法找不到的异常问题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ü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......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0241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429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打印结果分别是什么？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3248" y="3100682"/>
            <a:ext cx="6001657" cy="128869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592" y="3100682"/>
            <a:ext cx="5271948" cy="223632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592" y="1795092"/>
            <a:ext cx="3233275" cy="7804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1578" y="1795092"/>
            <a:ext cx="3254174" cy="77480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3309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面试题</a:t>
            </a:r>
          </a:p>
        </p:txBody>
      </p:sp>
      <p:sp>
        <p:nvSpPr>
          <p:cNvPr id="44" name="文本框 43"/>
          <p:cNvSpPr txBox="1"/>
          <p:nvPr/>
        </p:nvSpPr>
        <p:spPr>
          <a:xfrm>
            <a:off x="343592" y="1203432"/>
            <a:ext cx="11501313" cy="4294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以下代码能不能执行成功？如果可以，打印结果是什么？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02" y="1728576"/>
            <a:ext cx="5461000" cy="11557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602" y="3284326"/>
            <a:ext cx="4876800" cy="14351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070" y="1728576"/>
            <a:ext cx="4051300" cy="31115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093727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3"/>
            <a:ext cx="11836739" cy="486589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Objective-C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是一门动态性比较强的编程语言，跟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等语言有着很大的不同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Objective-C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的动态性是由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来支撑的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API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提供的接口基本都是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语言的，源码由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C\C++\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汇编语言编写</a:t>
            </a:r>
          </a:p>
        </p:txBody>
      </p:sp>
    </p:spTree>
    <p:extLst>
      <p:ext uri="{BB962C8B-B14F-4D97-AF65-F5344CB8AC3E}">
        <p14:creationId xmlns:p14="http://schemas.microsoft.com/office/powerpoint/2010/main" val="929747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3458" y="2413321"/>
            <a:ext cx="3715473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@selector(</a:t>
            </a:r>
            <a:r>
              <a:rPr lang="en-US" altLang="zh-CN"/>
              <a:t>sendAction:to:forEvent:</a:t>
            </a:r>
            <a:r>
              <a:rPr kumimoji="1" lang="en-US" altLang="zh-CN"/>
              <a:t>)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877293" y="1672541"/>
            <a:ext cx="3238980" cy="212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Method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45775" y="2268638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SEL</a:t>
            </a:r>
            <a:r>
              <a:rPr kumimoji="1" lang="zh-CN" altLang="en-US"/>
              <a:t> </a:t>
            </a:r>
            <a:r>
              <a:rPr kumimoji="1" lang="en-US" altLang="zh-CN"/>
              <a:t>name</a:t>
            </a:r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45774" y="2589834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types</a:t>
            </a:r>
            <a:endParaRPr kumimoji="1"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6945773" y="3009418"/>
            <a:ext cx="3170500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sendAction:to:forEvent:</a:t>
            </a:r>
            <a:r>
              <a:rPr lang="zh-CN" altLang="en-US"/>
              <a:t>的实现</a:t>
            </a:r>
            <a:endParaRPr kumimoji="1" lang="zh-CN" altLang="en-US"/>
          </a:p>
        </p:txBody>
      </p:sp>
      <p:cxnSp>
        <p:nvCxnSpPr>
          <p:cNvPr id="10" name="直线箭头连接符 9"/>
          <p:cNvCxnSpPr>
            <a:stCxn id="4" idx="3"/>
            <a:endCxn id="5" idx="1"/>
          </p:cNvCxnSpPr>
          <p:nvPr/>
        </p:nvCxnSpPr>
        <p:spPr>
          <a:xfrm>
            <a:off x="4328931" y="2708476"/>
            <a:ext cx="2548362" cy="2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522790" y="4579716"/>
            <a:ext cx="4095509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@selector(mj_</a:t>
            </a:r>
            <a:r>
              <a:rPr lang="en-US" altLang="zh-CN"/>
              <a:t>sendAction:to:forEvent:</a:t>
            </a:r>
            <a:r>
              <a:rPr kumimoji="1" lang="en-US" altLang="zh-CN"/>
              <a:t>)</a:t>
            </a:r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877293" y="4392593"/>
            <a:ext cx="4350150" cy="212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Method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945775" y="4988690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SEL</a:t>
            </a:r>
            <a:r>
              <a:rPr kumimoji="1" lang="zh-CN" altLang="en-US"/>
              <a:t> </a:t>
            </a:r>
            <a:r>
              <a:rPr kumimoji="1" lang="en-US" altLang="zh-CN"/>
              <a:t>name</a:t>
            </a:r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945774" y="5309886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types</a:t>
            </a:r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45773" y="5729470"/>
            <a:ext cx="3807108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mj_sendAction:to:forEvent:</a:t>
            </a:r>
            <a:r>
              <a:rPr lang="zh-CN" altLang="en-US"/>
              <a:t>的实现</a:t>
            </a:r>
            <a:endParaRPr kumimoji="1" lang="zh-CN" altLang="en-US"/>
          </a:p>
        </p:txBody>
      </p:sp>
      <p:cxnSp>
        <p:nvCxnSpPr>
          <p:cNvPr id="17" name="直线箭头连接符 16"/>
          <p:cNvCxnSpPr>
            <a:stCxn id="12" idx="3"/>
            <a:endCxn id="13" idx="1"/>
          </p:cNvCxnSpPr>
          <p:nvPr/>
        </p:nvCxnSpPr>
        <p:spPr>
          <a:xfrm>
            <a:off x="4618299" y="4874871"/>
            <a:ext cx="2258994" cy="5797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53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13458" y="2413321"/>
            <a:ext cx="3715473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@selector(</a:t>
            </a:r>
            <a:r>
              <a:rPr lang="en-US" altLang="zh-CN"/>
              <a:t>sendAction:to:forEvent:</a:t>
            </a:r>
            <a:r>
              <a:rPr kumimoji="1" lang="en-US" altLang="zh-CN"/>
              <a:t>)</a:t>
            </a:r>
            <a:endParaRPr kumimoji="1"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6703672" y="1672541"/>
            <a:ext cx="4350149" cy="212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Method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6945775" y="2268638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SEL</a:t>
            </a:r>
            <a:r>
              <a:rPr kumimoji="1" lang="zh-CN" altLang="en-US"/>
              <a:t> </a:t>
            </a:r>
            <a:r>
              <a:rPr kumimoji="1" lang="en-US" altLang="zh-CN"/>
              <a:t>name</a:t>
            </a:r>
            <a:endParaRPr kumimoji="1"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945774" y="2589834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types</a:t>
            </a:r>
            <a:endParaRPr kumimoji="1" lang="zh-CN" altLang="en-US"/>
          </a:p>
        </p:txBody>
      </p:sp>
      <p:cxnSp>
        <p:nvCxnSpPr>
          <p:cNvPr id="10" name="直线箭头连接符 9"/>
          <p:cNvCxnSpPr>
            <a:stCxn id="4" idx="3"/>
            <a:endCxn id="5" idx="1"/>
          </p:cNvCxnSpPr>
          <p:nvPr/>
        </p:nvCxnSpPr>
        <p:spPr>
          <a:xfrm>
            <a:off x="4328931" y="2708476"/>
            <a:ext cx="2374741" cy="26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233422" y="5014731"/>
            <a:ext cx="4095509" cy="59030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@selector(mj_</a:t>
            </a:r>
            <a:r>
              <a:rPr lang="en-US" altLang="zh-CN"/>
              <a:t>sendAction:to:forEvent:</a:t>
            </a:r>
            <a:r>
              <a:rPr kumimoji="1" lang="en-US" altLang="zh-CN"/>
              <a:t>)</a:t>
            </a:r>
            <a:endParaRPr kumimoji="1"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6703672" y="4216079"/>
            <a:ext cx="4350150" cy="21239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Method</a:t>
            </a:r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en-US" altLang="zh-CN"/>
          </a:p>
          <a:p>
            <a:pPr algn="ctr"/>
            <a:endParaRPr kumimoji="1"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945775" y="4988690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SEL</a:t>
            </a:r>
            <a:r>
              <a:rPr kumimoji="1" lang="zh-CN" altLang="en-US"/>
              <a:t> </a:t>
            </a:r>
            <a:r>
              <a:rPr kumimoji="1" lang="en-US" altLang="zh-CN"/>
              <a:t>name</a:t>
            </a:r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945774" y="5309886"/>
            <a:ext cx="1932973" cy="289367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/>
              <a:t>types</a:t>
            </a:r>
            <a:endParaRPr kumimoji="1" lang="zh-CN" altLang="en-US"/>
          </a:p>
        </p:txBody>
      </p:sp>
      <p:cxnSp>
        <p:nvCxnSpPr>
          <p:cNvPr id="17" name="直线箭头连接符 16"/>
          <p:cNvCxnSpPr>
            <a:stCxn id="12" idx="3"/>
            <a:endCxn id="13" idx="1"/>
          </p:cNvCxnSpPr>
          <p:nvPr/>
        </p:nvCxnSpPr>
        <p:spPr>
          <a:xfrm flipV="1">
            <a:off x="4328931" y="5278057"/>
            <a:ext cx="2374741" cy="318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945774" y="5729469"/>
            <a:ext cx="3170500" cy="28936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sendAction:to:forEvent:</a:t>
            </a:r>
            <a:r>
              <a:rPr lang="zh-CN" altLang="en-US"/>
              <a:t>的实现</a:t>
            </a:r>
            <a:endParaRPr kumimoji="1"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6975193" y="3154100"/>
            <a:ext cx="3807108" cy="289367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mj_sendAction:to:forEvent:</a:t>
            </a:r>
            <a:r>
              <a:rPr lang="zh-CN" altLang="en-US"/>
              <a:t>的实现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687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</a:t>
            </a:r>
            <a:r>
              <a:rPr lang="zh-CN" altLang="en-US"/>
              <a:t>详解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3"/>
            <a:ext cx="11836739" cy="150547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要想学习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，首先要了解它底层的一些常用数据结构，比如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arm64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架构之前，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就是一个普通的指针，存储着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Meta-Class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对象的内存地址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arm64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架构开始，对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进行了优化，变成了一个共用体（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union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）结构，还使用位域来存储更多的信息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2960370"/>
            <a:ext cx="4045755" cy="33401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8664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isa</a:t>
            </a:r>
            <a:r>
              <a:rPr lang="zh-CN" altLang="en-US"/>
              <a:t>详解 </a:t>
            </a:r>
            <a:r>
              <a:rPr lang="mr-IN" altLang="zh-CN"/>
              <a:t>–</a:t>
            </a:r>
            <a:r>
              <a:rPr lang="zh-CN" altLang="en-US"/>
              <a:t> 位域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1" y="1249152"/>
            <a:ext cx="6697979" cy="540310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nonpointer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，代表普通的指针，存储着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Meta-Class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对象的内存地址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，代表优化过，使用位域存储更多的信息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has_assoc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是否有设置过关联对象，如果没有，释放时会更快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has_cxx_dtor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C++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的析构函数（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.cxx_destruct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），如果没有，释放时会更快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shiftcls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存储着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Meta-Class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对象的内存地址信息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magic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用于在调试时分辨对象是否未完成初始化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weakly_referenced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是否有被弱引用指向过，如果没有，释放时会更快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949441" y="1249153"/>
            <a:ext cx="5047319" cy="530023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deallocating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对象是否正在释放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extra_rc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里面存储的值是引用计数器减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has_sidetable_rc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引用计数器是否过大无法存储在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，那么引用计数会存储在一个叫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SideTable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的类的属性中</a:t>
            </a:r>
          </a:p>
        </p:txBody>
      </p:sp>
    </p:spTree>
    <p:extLst>
      <p:ext uri="{BB962C8B-B14F-4D97-AF65-F5344CB8AC3E}">
        <p14:creationId xmlns:p14="http://schemas.microsoft.com/office/powerpoint/2010/main" val="56072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</a:t>
            </a:r>
            <a:r>
              <a:rPr lang="zh-CN" altLang="en-US"/>
              <a:t>的结构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22" y="1206579"/>
            <a:ext cx="60833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6" name="直线箭头连接符 5"/>
          <p:cNvCxnSpPr/>
          <p:nvPr/>
        </p:nvCxnSpPr>
        <p:spPr>
          <a:xfrm flipH="1">
            <a:off x="3348841" y="2668329"/>
            <a:ext cx="2" cy="845452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3372591" y="3085088"/>
            <a:ext cx="2209306" cy="341474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342900" marR="0" lvl="0" indent="-342900" algn="ctr" defTabSz="91440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charset="2"/>
              <a:buNone/>
              <a:tabLst/>
              <a:defRPr/>
            </a:pP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FAST_DATA_MASK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222" y="3513781"/>
            <a:ext cx="6337300" cy="3225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7316" y="2843490"/>
            <a:ext cx="5202296" cy="3307929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直线箭头连接符 10"/>
          <p:cNvCxnSpPr/>
          <p:nvPr/>
        </p:nvCxnSpPr>
        <p:spPr>
          <a:xfrm flipV="1">
            <a:off x="3491345" y="4497455"/>
            <a:ext cx="3415971" cy="15169"/>
          </a:xfrm>
          <a:prstGeom prst="straightConnector1">
            <a:avLst/>
          </a:prstGeom>
          <a:ln w="19050">
            <a:solidFill>
              <a:srgbClr val="FF0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02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class_rw_t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021" y="1214863"/>
            <a:ext cx="11836738" cy="43105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class_rw_t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properties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protocols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是二维数组，是可读可写的，包含了类的初始内容、分类的内容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1" y="1794511"/>
            <a:ext cx="4191000" cy="14351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直线箭头连接符 4"/>
          <p:cNvCxnSpPr>
            <a:endCxn id="7" idx="1"/>
          </p:cNvCxnSpPr>
          <p:nvPr/>
        </p:nvCxnSpPr>
        <p:spPr>
          <a:xfrm>
            <a:off x="3874770" y="2251710"/>
            <a:ext cx="1411167" cy="63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20208"/>
              </p:ext>
            </p:extLst>
          </p:nvPr>
        </p:nvGraphicFramePr>
        <p:xfrm>
          <a:off x="5285937" y="2066925"/>
          <a:ext cx="461391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379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9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method_list_t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method_list_t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method_list_t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570898"/>
              </p:ext>
            </p:extLst>
          </p:nvPr>
        </p:nvGraphicFramePr>
        <p:xfrm>
          <a:off x="5202372" y="3092450"/>
          <a:ext cx="12151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067468"/>
              </p:ext>
            </p:extLst>
          </p:nvPr>
        </p:nvGraphicFramePr>
        <p:xfrm>
          <a:off x="7047287" y="3083560"/>
          <a:ext cx="12151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2" name="表格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76099"/>
              </p:ext>
            </p:extLst>
          </p:nvPr>
        </p:nvGraphicFramePr>
        <p:xfrm>
          <a:off x="8892202" y="3083560"/>
          <a:ext cx="12151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15" name="直线箭头连接符 14"/>
          <p:cNvCxnSpPr>
            <a:endCxn id="10" idx="0"/>
          </p:cNvCxnSpPr>
          <p:nvPr/>
        </p:nvCxnSpPr>
        <p:spPr>
          <a:xfrm flipH="1">
            <a:off x="5809939" y="2343150"/>
            <a:ext cx="190811" cy="7493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>
            <a:endCxn id="11" idx="0"/>
          </p:cNvCxnSpPr>
          <p:nvPr/>
        </p:nvCxnSpPr>
        <p:spPr>
          <a:xfrm>
            <a:off x="7509510" y="2343150"/>
            <a:ext cx="145344" cy="7404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/>
          <p:cNvCxnSpPr>
            <a:endCxn id="12" idx="0"/>
          </p:cNvCxnSpPr>
          <p:nvPr/>
        </p:nvCxnSpPr>
        <p:spPr>
          <a:xfrm>
            <a:off x="9163614" y="2343150"/>
            <a:ext cx="336155" cy="74041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7089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class_ro_t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021" y="1214863"/>
            <a:ext cx="11836738" cy="41962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class_ro_t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baseMethodList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baseProtocols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ivars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baseProperties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是一维数组，是只读的，包含了类的初始内容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023848"/>
              </p:ext>
            </p:extLst>
          </p:nvPr>
        </p:nvGraphicFramePr>
        <p:xfrm>
          <a:off x="7728402" y="2326640"/>
          <a:ext cx="12151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method_t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39" y="1856740"/>
            <a:ext cx="4902200" cy="1778000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5" name="直线箭头连接符 4"/>
          <p:cNvCxnSpPr>
            <a:endCxn id="10" idx="1"/>
          </p:cNvCxnSpPr>
          <p:nvPr/>
        </p:nvCxnSpPr>
        <p:spPr>
          <a:xfrm>
            <a:off x="5132070" y="2326640"/>
            <a:ext cx="2596332" cy="55626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3511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method_t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021" y="1180573"/>
            <a:ext cx="3520439" cy="35104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method_t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是对方法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函数的封装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3309621"/>
            <a:ext cx="7708900" cy="304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5176851"/>
            <a:ext cx="4495800" cy="3683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1556522"/>
            <a:ext cx="5040630" cy="127776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文本框 16"/>
          <p:cNvSpPr txBox="1"/>
          <p:nvPr/>
        </p:nvSpPr>
        <p:spPr>
          <a:xfrm>
            <a:off x="160021" y="3840085"/>
            <a:ext cx="11452859" cy="11961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代表方法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\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函数名，一般叫做选择器，底层结构跟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*类似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@selector()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sel_registerName()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可以通过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sel_getName()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NSStringFromSelector()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转成字符串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不同类中相同名字的方法，所对应的方法选择器是相同的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160021" y="2941636"/>
            <a:ext cx="5314949" cy="379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代表函数的具体实现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60020" y="5790287"/>
            <a:ext cx="7178040" cy="379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types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包含了函数返回值、参数编码的字符串</a:t>
            </a: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1574152"/>
              </p:ext>
            </p:extLst>
          </p:nvPr>
        </p:nvGraphicFramePr>
        <p:xfrm>
          <a:off x="320040" y="6185425"/>
          <a:ext cx="608076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6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1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返回值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参数</a:t>
                      </a: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参数</a:t>
                      </a: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参数</a:t>
                      </a:r>
                      <a:r>
                        <a:rPr lang="en-US" altLang="zh-CN"/>
                        <a:t>n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9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Type</a:t>
            </a:r>
            <a:r>
              <a:rPr lang="zh-CN" altLang="en-US"/>
              <a:t> </a:t>
            </a:r>
            <a:r>
              <a:rPr lang="en-US" altLang="zh-CN"/>
              <a:t>Encoding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60021" y="1214863"/>
            <a:ext cx="11836738" cy="43105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中提供了一个叫做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@encode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的指令，可以将具体的类型表示成字符串编码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1645920"/>
            <a:ext cx="4752340" cy="490401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9109" y="2062875"/>
            <a:ext cx="6381920" cy="3711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66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方法缓存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1" y="1192003"/>
            <a:ext cx="11836738" cy="44248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内部结构中有个方法缓存（</a:t>
            </a:r>
            <a:r>
              <a:rPr lang="en-US" altLang="zh-CN" sz="1600">
                <a:solidFill>
                  <a:srgbClr val="3F6E74"/>
                </a:solidFill>
                <a:latin typeface="Menlo-Regular" charset="0"/>
              </a:rPr>
              <a:t>cache_t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），用</a:t>
            </a:r>
            <a:r>
              <a:rPr lang="zh-CN" altLang="en-US" sz="16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散列表（哈希表）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来缓存曾经调用过的方法，可以提高方法的查找速度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80" y="1634491"/>
            <a:ext cx="4268300" cy="11754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2494" y="1634491"/>
            <a:ext cx="3690200" cy="982769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093233"/>
              </p:ext>
            </p:extLst>
          </p:nvPr>
        </p:nvGraphicFramePr>
        <p:xfrm>
          <a:off x="1914935" y="2978150"/>
          <a:ext cx="1215135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5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bucket_t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bucket_t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7" name="直线箭头连接符 6"/>
          <p:cNvCxnSpPr>
            <a:endCxn id="9" idx="0"/>
          </p:cNvCxnSpPr>
          <p:nvPr/>
        </p:nvCxnSpPr>
        <p:spPr>
          <a:xfrm flipH="1">
            <a:off x="2522502" y="2063403"/>
            <a:ext cx="209268" cy="9147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60021" y="4199542"/>
            <a:ext cx="11836738" cy="9415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缓存查找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objc-cache.mm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rgbClr val="3F6E74"/>
                </a:solidFill>
                <a:latin typeface="Menlo-Regular" charset="0"/>
              </a:rPr>
              <a:t>bucket_t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* </a:t>
            </a:r>
            <a:r>
              <a:rPr lang="en-US" altLang="zh-CN" sz="1600">
                <a:solidFill>
                  <a:srgbClr val="3F6E74"/>
                </a:solidFill>
                <a:latin typeface="Menlo-Regular" charset="0"/>
              </a:rPr>
              <a:t>cache_t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::find(</a:t>
            </a:r>
            <a:r>
              <a:rPr lang="en-US" altLang="zh-CN" sz="1600">
                <a:solidFill>
                  <a:srgbClr val="3F6E74"/>
                </a:solidFill>
                <a:latin typeface="Menlo-Regular" charset="0"/>
              </a:rPr>
              <a:t>cache_key_t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k, 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receiver)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485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392243"/>
              </p:ext>
            </p:extLst>
          </p:nvPr>
        </p:nvGraphicFramePr>
        <p:xfrm>
          <a:off x="4659451" y="2328547"/>
          <a:ext cx="6799486" cy="26512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18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8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228">
                <a:tc>
                  <a:txBody>
                    <a:bodyPr/>
                    <a:lstStyle/>
                    <a:p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NULL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NULL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bucket_t</a:t>
                      </a:r>
                      <a:r>
                        <a:rPr lang="zh-CN" altLang="en-US"/>
                        <a:t>（</a:t>
                      </a:r>
                      <a:r>
                        <a:rPr lang="en-US" altLang="zh-CN"/>
                        <a:t>_key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=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@selector(personTest),</a:t>
                      </a:r>
                      <a:r>
                        <a:rPr lang="zh-CN" altLang="en-US"/>
                        <a:t> </a:t>
                      </a:r>
                      <a:r>
                        <a:rPr lang="en-US" altLang="zh-CN"/>
                        <a:t>_imp</a:t>
                      </a:r>
                      <a:r>
                        <a:rPr lang="zh-CN" altLang="en-US"/>
                        <a:t>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3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NULL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4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NULL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5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/>
                        <a:t>NULL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/>
                        <a:t>......</a:t>
                      </a:r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28262" y="2342157"/>
            <a:ext cx="367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@selector(personTest)</a:t>
            </a:r>
            <a:r>
              <a:rPr kumimoji="1" lang="zh-CN" altLang="en-US"/>
              <a:t>  </a:t>
            </a:r>
            <a:r>
              <a:rPr kumimoji="1" lang="en-US" altLang="zh-CN"/>
              <a:t>&amp;</a:t>
            </a:r>
            <a:r>
              <a:rPr kumimoji="1" lang="zh-CN" altLang="en-US"/>
              <a:t> </a:t>
            </a:r>
            <a:r>
              <a:rPr kumimoji="1" lang="en-US" altLang="zh-CN"/>
              <a:t>_mask</a:t>
            </a:r>
            <a:r>
              <a:rPr kumimoji="1" lang="zh-CN" altLang="en-US"/>
              <a:t> </a:t>
            </a:r>
            <a:r>
              <a:rPr kumimoji="1" lang="en-US" altLang="zh-CN"/>
              <a:t>=</a:t>
            </a:r>
            <a:r>
              <a:rPr kumimoji="1" lang="zh-CN" altLang="en-US"/>
              <a:t> 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800581" y="4036765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/>
              <a:t>空间换时间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93179" y="1693869"/>
            <a:ext cx="36304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@selector(studentTest)</a:t>
            </a:r>
            <a:r>
              <a:rPr kumimoji="1" lang="zh-CN" altLang="en-US"/>
              <a:t>  </a:t>
            </a:r>
            <a:r>
              <a:rPr kumimoji="1" lang="en-US" altLang="zh-CN"/>
              <a:t>&amp;</a:t>
            </a:r>
            <a:r>
              <a:rPr kumimoji="1" lang="zh-CN" altLang="en-US"/>
              <a:t> </a:t>
            </a:r>
            <a:r>
              <a:rPr kumimoji="1" lang="en-US" altLang="zh-CN"/>
              <a:t>_mask</a:t>
            </a:r>
            <a:r>
              <a:rPr kumimoji="1" lang="zh-CN" altLang="en-US"/>
              <a:t> </a:t>
            </a:r>
            <a:r>
              <a:rPr kumimoji="1" lang="en-US" altLang="zh-CN"/>
              <a:t>=</a:t>
            </a:r>
            <a:r>
              <a:rPr kumimoji="1" lang="zh-CN" altLang="en-US"/>
              <a:t> </a:t>
            </a:r>
            <a:r>
              <a:rPr kumimoji="1" lang="en-US" altLang="zh-CN"/>
              <a:t>2</a:t>
            </a:r>
            <a:endParaRPr kumimoji="1"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28262" y="3189461"/>
            <a:ext cx="4240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@selector(goodStudentTest)</a:t>
            </a:r>
            <a:r>
              <a:rPr kumimoji="1" lang="zh-CN" altLang="en-US"/>
              <a:t>  </a:t>
            </a:r>
            <a:r>
              <a:rPr kumimoji="1" lang="en-US" altLang="zh-CN"/>
              <a:t>&amp;</a:t>
            </a:r>
            <a:r>
              <a:rPr kumimoji="1" lang="zh-CN" altLang="en-US"/>
              <a:t> </a:t>
            </a:r>
            <a:r>
              <a:rPr kumimoji="1" lang="en-US" altLang="zh-CN"/>
              <a:t>_mask</a:t>
            </a:r>
            <a:r>
              <a:rPr kumimoji="1" lang="zh-CN" altLang="en-US"/>
              <a:t> </a:t>
            </a:r>
            <a:r>
              <a:rPr kumimoji="1" lang="en-US" altLang="zh-CN"/>
              <a:t>=</a:t>
            </a:r>
            <a:r>
              <a:rPr kumimoji="1" lang="zh-CN" altLang="en-US"/>
              <a:t> </a:t>
            </a:r>
            <a:r>
              <a:rPr kumimoji="1" lang="en-US" altLang="zh-CN"/>
              <a:t>7</a:t>
            </a:r>
            <a:endParaRPr kumimoji="1"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059194" y="1509203"/>
            <a:ext cx="1555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/>
              <a:t>f(key)</a:t>
            </a:r>
            <a:r>
              <a:rPr kumimoji="1" lang="zh-CN" altLang="en-US"/>
              <a:t> </a:t>
            </a:r>
            <a:r>
              <a:rPr kumimoji="1" lang="en-US" altLang="zh-CN"/>
              <a:t>==</a:t>
            </a:r>
            <a:r>
              <a:rPr kumimoji="1" lang="zh-CN" altLang="en-US"/>
              <a:t> </a:t>
            </a:r>
            <a:r>
              <a:rPr kumimoji="1" lang="en-US" altLang="zh-CN"/>
              <a:t>index</a:t>
            </a:r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44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objc_msgSend</a:t>
            </a:r>
            <a:r>
              <a:rPr lang="zh-CN" altLang="en-US"/>
              <a:t>执行流程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4259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中的方法调用，其实都是转换为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函数的调用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的执行流程可以分为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大阶段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消息发送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动态方法解析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消息转发</a:t>
            </a:r>
          </a:p>
        </p:txBody>
      </p:sp>
    </p:spTree>
    <p:extLst>
      <p:ext uri="{BB962C8B-B14F-4D97-AF65-F5344CB8AC3E}">
        <p14:creationId xmlns:p14="http://schemas.microsoft.com/office/powerpoint/2010/main" val="1096502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objc_msgSend</a:t>
            </a:r>
            <a:r>
              <a:rPr lang="zh-CN" altLang="en-US"/>
              <a:t>执行流程 </a:t>
            </a:r>
            <a:r>
              <a:rPr lang="mr-IN" altLang="zh-CN"/>
              <a:t>–</a:t>
            </a:r>
            <a:r>
              <a:rPr lang="zh-CN" altLang="en-US"/>
              <a:t> 源码跟读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3"/>
            <a:ext cx="4770795" cy="258148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objc-msg-arm64.s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 _objc_msgSend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b.le	LNilOrTagged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CacheLookup NORMAL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.macro CacheLookup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.macro CheckMiss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STATIC_ENTRY __objc_msgSend_uncached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.macro MethodTableLookup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__class_lookupMethodAndLoadCache3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60019" y="3880642"/>
            <a:ext cx="8960831" cy="267408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objc-runtime-new.mm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_class_lookupMethodAndLoadCache3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lookUpImpOrForward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getMethodNoSuper_nolock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search_method_list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log_and_fill_cache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cache_getImp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log_and_fill_cache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getMethodNoSuper_nolock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log_and_fill_cache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_class_resolveInstanceMethod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_objc_msgForward_impcache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716677" y="1203433"/>
            <a:ext cx="5280082" cy="2156348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objc-msg-arm64.s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STATIC_ENTRY __objc_msgForward_impcache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ENTRY __objc_msgForward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Core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Foundation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__forwarding__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（不开源）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6275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objc_msgSend</a:t>
            </a:r>
            <a:r>
              <a:rPr lang="zh-CN" altLang="en-US"/>
              <a:t>执行流程</a:t>
            </a:r>
            <a:r>
              <a:rPr lang="en-US" altLang="zh-CN"/>
              <a:t>01-</a:t>
            </a:r>
            <a:r>
              <a:rPr lang="zh-CN" altLang="en-US"/>
              <a:t>消息发送</a:t>
            </a:r>
          </a:p>
        </p:txBody>
      </p:sp>
      <p:sp>
        <p:nvSpPr>
          <p:cNvPr id="2" name="决策 1"/>
          <p:cNvSpPr/>
          <p:nvPr/>
        </p:nvSpPr>
        <p:spPr>
          <a:xfrm>
            <a:off x="1114835" y="1291590"/>
            <a:ext cx="2082292" cy="712265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/>
              <a:t>receiver</a:t>
            </a:r>
            <a:r>
              <a:rPr kumimoji="1" lang="zh-CN" altLang="en-US" sz="1600"/>
              <a:t>是否为</a:t>
            </a:r>
            <a:r>
              <a:rPr kumimoji="1" lang="en-US" altLang="zh-CN" sz="1600"/>
              <a:t>nil</a:t>
            </a:r>
            <a:endParaRPr kumimoji="1" lang="zh-CN" altLang="en-US" sz="1600"/>
          </a:p>
        </p:txBody>
      </p:sp>
      <p:sp>
        <p:nvSpPr>
          <p:cNvPr id="3" name="终止符 2"/>
          <p:cNvSpPr/>
          <p:nvPr/>
        </p:nvSpPr>
        <p:spPr>
          <a:xfrm>
            <a:off x="1453036" y="2343150"/>
            <a:ext cx="1405890" cy="457200"/>
          </a:xfrm>
          <a:prstGeom prst="flowChartTermina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退出</a:t>
            </a:r>
          </a:p>
        </p:txBody>
      </p:sp>
      <p:cxnSp>
        <p:nvCxnSpPr>
          <p:cNvPr id="6" name="直线箭头连接符 5"/>
          <p:cNvCxnSpPr>
            <a:stCxn id="2" idx="2"/>
            <a:endCxn id="3" idx="0"/>
          </p:cNvCxnSpPr>
          <p:nvPr/>
        </p:nvCxnSpPr>
        <p:spPr>
          <a:xfrm>
            <a:off x="2155981" y="2003855"/>
            <a:ext cx="0" cy="3392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2166381" y="1980995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174267" y="1263432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  <p:sp>
        <p:nvSpPr>
          <p:cNvPr id="15" name="决策 14"/>
          <p:cNvSpPr/>
          <p:nvPr/>
        </p:nvSpPr>
        <p:spPr>
          <a:xfrm>
            <a:off x="3649021" y="1291366"/>
            <a:ext cx="3829050" cy="712489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从</a:t>
            </a:r>
            <a:r>
              <a:rPr kumimoji="1" lang="en-US" altLang="zh-CN" sz="1600"/>
              <a:t>reveiverClass</a:t>
            </a:r>
            <a:r>
              <a:rPr kumimoji="1" lang="zh-CN" altLang="en-US" sz="1600"/>
              <a:t>的</a:t>
            </a:r>
            <a:r>
              <a:rPr kumimoji="1" lang="en-US" altLang="zh-CN" sz="1600">
                <a:solidFill>
                  <a:schemeClr val="tx1"/>
                </a:solidFill>
              </a:rPr>
              <a:t>cache</a:t>
            </a:r>
            <a:r>
              <a:rPr kumimoji="1" lang="zh-CN" altLang="en-US" sz="1600"/>
              <a:t>中查找方法</a:t>
            </a:r>
          </a:p>
        </p:txBody>
      </p:sp>
      <p:cxnSp>
        <p:nvCxnSpPr>
          <p:cNvPr id="16" name="直线箭头连接符 15"/>
          <p:cNvCxnSpPr>
            <a:stCxn id="2" idx="3"/>
            <a:endCxn id="15" idx="1"/>
          </p:cNvCxnSpPr>
          <p:nvPr/>
        </p:nvCxnSpPr>
        <p:spPr>
          <a:xfrm flipV="1">
            <a:off x="3197127" y="1647611"/>
            <a:ext cx="451894" cy="11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7342027" y="1259937"/>
            <a:ext cx="1241203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找到了方法</a:t>
            </a:r>
          </a:p>
        </p:txBody>
      </p:sp>
      <p:cxnSp>
        <p:nvCxnSpPr>
          <p:cNvPr id="20" name="直线箭头连接符 19"/>
          <p:cNvCxnSpPr>
            <a:stCxn id="15" idx="3"/>
            <a:endCxn id="24" idx="1"/>
          </p:cNvCxnSpPr>
          <p:nvPr/>
        </p:nvCxnSpPr>
        <p:spPr>
          <a:xfrm flipV="1">
            <a:off x="7478071" y="1647610"/>
            <a:ext cx="1041842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终止符 23"/>
          <p:cNvSpPr/>
          <p:nvPr/>
        </p:nvSpPr>
        <p:spPr>
          <a:xfrm>
            <a:off x="8519913" y="1277630"/>
            <a:ext cx="1735794" cy="739959"/>
          </a:xfrm>
          <a:prstGeom prst="flowChartTermina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调用方法</a:t>
            </a:r>
            <a:endParaRPr kumimoji="1" lang="en-US" altLang="zh-CN" sz="1600"/>
          </a:p>
          <a:p>
            <a:pPr algn="ctr"/>
            <a:r>
              <a:rPr kumimoji="1" lang="zh-CN" altLang="en-US" sz="1600"/>
              <a:t>结束查找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5573777" y="2016925"/>
            <a:ext cx="1295653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没找到方法</a:t>
            </a:r>
          </a:p>
        </p:txBody>
      </p:sp>
      <p:sp>
        <p:nvSpPr>
          <p:cNvPr id="36" name="决策 35"/>
          <p:cNvSpPr/>
          <p:nvPr/>
        </p:nvSpPr>
        <p:spPr>
          <a:xfrm>
            <a:off x="3460821" y="2400559"/>
            <a:ext cx="4201217" cy="777758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从</a:t>
            </a:r>
            <a:r>
              <a:rPr kumimoji="1" lang="en-US" altLang="zh-CN" sz="1600"/>
              <a:t>reveiverClass</a:t>
            </a:r>
            <a:r>
              <a:rPr kumimoji="1" lang="zh-CN" altLang="en-US" sz="1600"/>
              <a:t>的</a:t>
            </a:r>
            <a:r>
              <a:rPr kumimoji="1" lang="en-US" altLang="zh-CN" sz="1600">
                <a:solidFill>
                  <a:schemeClr val="tx1"/>
                </a:solidFill>
              </a:rPr>
              <a:t>class_rw_t</a:t>
            </a:r>
            <a:r>
              <a:rPr kumimoji="1" lang="zh-CN" altLang="en-US" sz="1600"/>
              <a:t>中查找方法</a:t>
            </a:r>
            <a:endParaRPr kumimoji="1" lang="en-US" altLang="zh-CN" sz="1600"/>
          </a:p>
        </p:txBody>
      </p:sp>
      <p:cxnSp>
        <p:nvCxnSpPr>
          <p:cNvPr id="37" name="直线箭头连接符 36"/>
          <p:cNvCxnSpPr>
            <a:stCxn id="15" idx="2"/>
            <a:endCxn id="36" idx="0"/>
          </p:cNvCxnSpPr>
          <p:nvPr/>
        </p:nvCxnSpPr>
        <p:spPr>
          <a:xfrm flipH="1">
            <a:off x="5561430" y="2003855"/>
            <a:ext cx="2116" cy="39670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7560801" y="2405622"/>
            <a:ext cx="1266276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找到了方法</a:t>
            </a:r>
          </a:p>
        </p:txBody>
      </p:sp>
      <p:cxnSp>
        <p:nvCxnSpPr>
          <p:cNvPr id="41" name="直线箭头连接符 40"/>
          <p:cNvCxnSpPr>
            <a:stCxn id="36" idx="3"/>
            <a:endCxn id="45" idx="1"/>
          </p:cNvCxnSpPr>
          <p:nvPr/>
        </p:nvCxnSpPr>
        <p:spPr>
          <a:xfrm>
            <a:off x="7662038" y="2789438"/>
            <a:ext cx="1165039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终止符 44"/>
          <p:cNvSpPr/>
          <p:nvPr/>
        </p:nvSpPr>
        <p:spPr>
          <a:xfrm>
            <a:off x="8827077" y="2419458"/>
            <a:ext cx="2640330" cy="739959"/>
          </a:xfrm>
          <a:prstGeom prst="flowChartTerminator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调用方法，结束查找</a:t>
            </a:r>
            <a:endParaRPr kumimoji="1" lang="en-US" altLang="zh-CN" sz="1600"/>
          </a:p>
          <a:p>
            <a:pPr algn="ctr"/>
            <a:r>
              <a:rPr kumimoji="1" lang="zh-CN" altLang="en-US" sz="1600"/>
              <a:t>并将方法缓存到</a:t>
            </a:r>
            <a:r>
              <a:rPr kumimoji="1" lang="en-US" altLang="zh-CN" sz="1600"/>
              <a:t>reveiverClass</a:t>
            </a:r>
            <a:r>
              <a:rPr kumimoji="1" lang="zh-CN" altLang="en-US" sz="1600"/>
              <a:t>的</a:t>
            </a:r>
            <a:r>
              <a:rPr kumimoji="1" lang="en-US" altLang="zh-CN" sz="1600">
                <a:solidFill>
                  <a:schemeClr val="tx1"/>
                </a:solidFill>
              </a:rPr>
              <a:t>cache</a:t>
            </a:r>
            <a:r>
              <a:rPr kumimoji="1" lang="zh-CN" altLang="en-US" sz="1600"/>
              <a:t>中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5568394" y="3188401"/>
            <a:ext cx="1301036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没找到方法</a:t>
            </a:r>
          </a:p>
        </p:txBody>
      </p:sp>
      <p:sp>
        <p:nvSpPr>
          <p:cNvPr id="49" name="决策 48"/>
          <p:cNvSpPr/>
          <p:nvPr/>
        </p:nvSpPr>
        <p:spPr>
          <a:xfrm>
            <a:off x="3653869" y="3567310"/>
            <a:ext cx="3829050" cy="778672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从</a:t>
            </a:r>
            <a:r>
              <a:rPr kumimoji="1" lang="en-US" altLang="zh-CN" sz="1600"/>
              <a:t>superClass</a:t>
            </a:r>
            <a:r>
              <a:rPr kumimoji="1" lang="zh-CN" altLang="en-US" sz="1600"/>
              <a:t>的</a:t>
            </a:r>
            <a:r>
              <a:rPr kumimoji="1" lang="en-US" altLang="zh-CN" sz="1600">
                <a:solidFill>
                  <a:schemeClr val="tx1"/>
                </a:solidFill>
              </a:rPr>
              <a:t>cache</a:t>
            </a:r>
            <a:r>
              <a:rPr kumimoji="1" lang="zh-CN" altLang="en-US" sz="1600"/>
              <a:t>中查找方法</a:t>
            </a:r>
          </a:p>
        </p:txBody>
      </p:sp>
      <p:cxnSp>
        <p:nvCxnSpPr>
          <p:cNvPr id="50" name="直线箭头连接符 49"/>
          <p:cNvCxnSpPr>
            <a:stCxn id="36" idx="2"/>
            <a:endCxn id="49" idx="0"/>
          </p:cNvCxnSpPr>
          <p:nvPr/>
        </p:nvCxnSpPr>
        <p:spPr>
          <a:xfrm>
            <a:off x="5561430" y="3178317"/>
            <a:ext cx="6964" cy="38899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205204" y="5744943"/>
            <a:ext cx="3287619" cy="946347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如果是从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class_rw_t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中查找方法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已经排序的，二分查找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没有排序的，遍历查找</a:t>
            </a:r>
          </a:p>
        </p:txBody>
      </p:sp>
      <p:sp>
        <p:nvSpPr>
          <p:cNvPr id="71" name="文本框 70"/>
          <p:cNvSpPr txBox="1"/>
          <p:nvPr/>
        </p:nvSpPr>
        <p:spPr>
          <a:xfrm>
            <a:off x="7499669" y="3280471"/>
            <a:ext cx="1259942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找到了方法</a:t>
            </a:r>
          </a:p>
        </p:txBody>
      </p:sp>
      <p:cxnSp>
        <p:nvCxnSpPr>
          <p:cNvPr id="72" name="直线箭头连接符 71"/>
          <p:cNvCxnSpPr>
            <a:stCxn id="49" idx="3"/>
            <a:endCxn id="45" idx="2"/>
          </p:cNvCxnSpPr>
          <p:nvPr/>
        </p:nvCxnSpPr>
        <p:spPr>
          <a:xfrm flipV="1">
            <a:off x="7482919" y="3159417"/>
            <a:ext cx="2664323" cy="7972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/>
          <p:cNvSpPr txBox="1"/>
          <p:nvPr/>
        </p:nvSpPr>
        <p:spPr>
          <a:xfrm>
            <a:off x="5561430" y="4365983"/>
            <a:ext cx="1308000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没找到方法</a:t>
            </a:r>
          </a:p>
        </p:txBody>
      </p:sp>
      <p:sp>
        <p:nvSpPr>
          <p:cNvPr id="76" name="决策 75"/>
          <p:cNvSpPr/>
          <p:nvPr/>
        </p:nvSpPr>
        <p:spPr>
          <a:xfrm>
            <a:off x="3467785" y="4766085"/>
            <a:ext cx="4201217" cy="807831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从</a:t>
            </a:r>
            <a:r>
              <a:rPr kumimoji="1" lang="en-US" altLang="zh-CN" sz="1600"/>
              <a:t>superClass</a:t>
            </a:r>
            <a:r>
              <a:rPr kumimoji="1" lang="zh-CN" altLang="en-US" sz="1600"/>
              <a:t>的</a:t>
            </a:r>
            <a:r>
              <a:rPr kumimoji="1" lang="en-US" altLang="zh-CN" sz="1600">
                <a:solidFill>
                  <a:schemeClr val="tx1"/>
                </a:solidFill>
              </a:rPr>
              <a:t>class_rw_t</a:t>
            </a:r>
            <a:r>
              <a:rPr kumimoji="1" lang="zh-CN" altLang="en-US" sz="1600"/>
              <a:t>中查找方法</a:t>
            </a:r>
            <a:endParaRPr kumimoji="1" lang="en-US" altLang="zh-CN" sz="1600"/>
          </a:p>
        </p:txBody>
      </p:sp>
      <p:cxnSp>
        <p:nvCxnSpPr>
          <p:cNvPr id="77" name="直线箭头连接符 76"/>
          <p:cNvCxnSpPr>
            <a:stCxn id="49" idx="2"/>
            <a:endCxn id="76" idx="0"/>
          </p:cNvCxnSpPr>
          <p:nvPr/>
        </p:nvCxnSpPr>
        <p:spPr>
          <a:xfrm>
            <a:off x="5568394" y="4345982"/>
            <a:ext cx="0" cy="4201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文本框 89"/>
          <p:cNvSpPr txBox="1"/>
          <p:nvPr/>
        </p:nvSpPr>
        <p:spPr>
          <a:xfrm>
            <a:off x="7140830" y="4361723"/>
            <a:ext cx="1241203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找到了方法</a:t>
            </a:r>
          </a:p>
        </p:txBody>
      </p:sp>
      <p:cxnSp>
        <p:nvCxnSpPr>
          <p:cNvPr id="91" name="直线箭头连接符 90"/>
          <p:cNvCxnSpPr>
            <a:stCxn id="76" idx="3"/>
            <a:endCxn id="45" idx="2"/>
          </p:cNvCxnSpPr>
          <p:nvPr/>
        </p:nvCxnSpPr>
        <p:spPr>
          <a:xfrm flipV="1">
            <a:off x="7669002" y="3159417"/>
            <a:ext cx="2478240" cy="201058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文本框 93"/>
          <p:cNvSpPr txBox="1"/>
          <p:nvPr/>
        </p:nvSpPr>
        <p:spPr>
          <a:xfrm>
            <a:off x="1613687" y="4959938"/>
            <a:ext cx="1445060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没找到方法</a:t>
            </a:r>
          </a:p>
        </p:txBody>
      </p:sp>
      <p:cxnSp>
        <p:nvCxnSpPr>
          <p:cNvPr id="95" name="直线箭头连接符 94"/>
          <p:cNvCxnSpPr>
            <a:stCxn id="76" idx="1"/>
            <a:endCxn id="98" idx="2"/>
          </p:cNvCxnSpPr>
          <p:nvPr/>
        </p:nvCxnSpPr>
        <p:spPr>
          <a:xfrm flipH="1" flipV="1">
            <a:off x="1637959" y="4701598"/>
            <a:ext cx="1829826" cy="4684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决策 97"/>
          <p:cNvSpPr/>
          <p:nvPr/>
        </p:nvSpPr>
        <p:spPr>
          <a:xfrm>
            <a:off x="182880" y="3935345"/>
            <a:ext cx="2910157" cy="766253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上层是否还有</a:t>
            </a:r>
            <a:r>
              <a:rPr kumimoji="1" lang="en-US" altLang="zh-CN" sz="1600"/>
              <a:t>superClass</a:t>
            </a:r>
            <a:endParaRPr kumimoji="1" lang="zh-CN" altLang="en-US" sz="1600"/>
          </a:p>
        </p:txBody>
      </p:sp>
      <p:sp>
        <p:nvSpPr>
          <p:cNvPr id="102" name="文本框 101"/>
          <p:cNvSpPr txBox="1"/>
          <p:nvPr/>
        </p:nvSpPr>
        <p:spPr>
          <a:xfrm>
            <a:off x="3255446" y="4059157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103" name="文本框 102"/>
          <p:cNvSpPr txBox="1"/>
          <p:nvPr/>
        </p:nvSpPr>
        <p:spPr>
          <a:xfrm>
            <a:off x="1635528" y="3609161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  <p:cxnSp>
        <p:nvCxnSpPr>
          <p:cNvPr id="104" name="直线箭头连接符 103"/>
          <p:cNvCxnSpPr>
            <a:stCxn id="98" idx="3"/>
            <a:endCxn id="49" idx="1"/>
          </p:cNvCxnSpPr>
          <p:nvPr/>
        </p:nvCxnSpPr>
        <p:spPr>
          <a:xfrm flipV="1">
            <a:off x="3093037" y="3956646"/>
            <a:ext cx="560832" cy="361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进程 110"/>
          <p:cNvSpPr/>
          <p:nvPr/>
        </p:nvSpPr>
        <p:spPr>
          <a:xfrm>
            <a:off x="894735" y="3135988"/>
            <a:ext cx="1496170" cy="453999"/>
          </a:xfrm>
          <a:prstGeom prst="flowChartProcess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动态方法解析</a:t>
            </a:r>
          </a:p>
        </p:txBody>
      </p:sp>
      <p:cxnSp>
        <p:nvCxnSpPr>
          <p:cNvPr id="112" name="直线箭头连接符 111"/>
          <p:cNvCxnSpPr>
            <a:stCxn id="98" idx="0"/>
            <a:endCxn id="111" idx="2"/>
          </p:cNvCxnSpPr>
          <p:nvPr/>
        </p:nvCxnSpPr>
        <p:spPr>
          <a:xfrm flipV="1">
            <a:off x="1637959" y="3589987"/>
            <a:ext cx="4861" cy="34535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" name="文本框 165"/>
          <p:cNvSpPr txBox="1"/>
          <p:nvPr/>
        </p:nvSpPr>
        <p:spPr>
          <a:xfrm>
            <a:off x="3988542" y="5744943"/>
            <a:ext cx="5189220" cy="72342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指针找到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receiverClass</a:t>
            </a:r>
          </a:p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指针找到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superClass</a:t>
            </a:r>
          </a:p>
        </p:txBody>
      </p:sp>
    </p:spTree>
    <p:extLst>
      <p:ext uri="{BB962C8B-B14F-4D97-AF65-F5344CB8AC3E}">
        <p14:creationId xmlns:p14="http://schemas.microsoft.com/office/powerpoint/2010/main" val="1370972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1" grpId="0"/>
      <p:bldP spid="12" grpId="0"/>
      <p:bldP spid="15" grpId="0" animBg="1"/>
      <p:bldP spid="19" grpId="0"/>
      <p:bldP spid="24" grpId="0" animBg="1"/>
      <p:bldP spid="35" grpId="0"/>
      <p:bldP spid="36" grpId="0" animBg="1"/>
      <p:bldP spid="40" grpId="0"/>
      <p:bldP spid="45" grpId="0" animBg="1"/>
      <p:bldP spid="48" grpId="0"/>
      <p:bldP spid="49" grpId="0" animBg="1"/>
      <p:bldP spid="71" grpId="0"/>
      <p:bldP spid="75" grpId="0"/>
      <p:bldP spid="76" grpId="0" animBg="1"/>
      <p:bldP spid="90" grpId="0"/>
      <p:bldP spid="94" grpId="0"/>
      <p:bldP spid="98" grpId="0" animBg="1"/>
      <p:bldP spid="102" grpId="0"/>
      <p:bldP spid="103" grpId="0"/>
      <p:bldP spid="1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objc_msgSend</a:t>
            </a:r>
            <a:r>
              <a:rPr lang="zh-CN" altLang="en-US"/>
              <a:t>执行流程</a:t>
            </a:r>
            <a:r>
              <a:rPr lang="en-US" altLang="zh-CN"/>
              <a:t>02-</a:t>
            </a:r>
            <a:r>
              <a:rPr lang="zh-CN" altLang="en-US"/>
              <a:t>动态方法解析</a:t>
            </a:r>
          </a:p>
        </p:txBody>
      </p:sp>
      <p:sp>
        <p:nvSpPr>
          <p:cNvPr id="2" name="决策 1"/>
          <p:cNvSpPr/>
          <p:nvPr/>
        </p:nvSpPr>
        <p:spPr>
          <a:xfrm>
            <a:off x="426732" y="1263432"/>
            <a:ext cx="2614197" cy="1055165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是否曾经</a:t>
            </a:r>
            <a:endParaRPr kumimoji="1" lang="en-US" altLang="zh-CN" sz="1600"/>
          </a:p>
          <a:p>
            <a:pPr algn="ctr"/>
            <a:r>
              <a:rPr kumimoji="1" lang="zh-CN" altLang="en-US" sz="1600"/>
              <a:t>有动态解析</a:t>
            </a:r>
          </a:p>
        </p:txBody>
      </p:sp>
      <p:cxnSp>
        <p:nvCxnSpPr>
          <p:cNvPr id="6" name="直线箭头连接符 5"/>
          <p:cNvCxnSpPr>
            <a:stCxn id="2" idx="2"/>
            <a:endCxn id="51" idx="0"/>
          </p:cNvCxnSpPr>
          <p:nvPr/>
        </p:nvCxnSpPr>
        <p:spPr>
          <a:xfrm flipH="1">
            <a:off x="1733830" y="2318597"/>
            <a:ext cx="1" cy="40809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3353515" y="1390396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745260" y="2339764"/>
            <a:ext cx="47475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否</a:t>
            </a:r>
          </a:p>
        </p:txBody>
      </p:sp>
      <p:cxnSp>
        <p:nvCxnSpPr>
          <p:cNvPr id="16" name="直线箭头连接符 15"/>
          <p:cNvCxnSpPr>
            <a:stCxn id="2" idx="3"/>
            <a:endCxn id="111" idx="1"/>
          </p:cNvCxnSpPr>
          <p:nvPr/>
        </p:nvCxnSpPr>
        <p:spPr>
          <a:xfrm flipV="1">
            <a:off x="3040929" y="1791014"/>
            <a:ext cx="1099926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本框 53"/>
          <p:cNvSpPr txBox="1"/>
          <p:nvPr/>
        </p:nvSpPr>
        <p:spPr>
          <a:xfrm>
            <a:off x="4787229" y="2860597"/>
            <a:ext cx="4892821" cy="1112821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开发者可以实现以下方法，来动态添加方法实现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+resolveInstanceMethod:</a:t>
            </a: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+resolveClassMethod: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进程 110"/>
          <p:cNvSpPr/>
          <p:nvPr/>
        </p:nvSpPr>
        <p:spPr>
          <a:xfrm>
            <a:off x="4140855" y="1564014"/>
            <a:ext cx="1496170" cy="453999"/>
          </a:xfrm>
          <a:prstGeom prst="flowChartProcess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消息转发</a:t>
            </a:r>
          </a:p>
        </p:txBody>
      </p:sp>
      <p:sp>
        <p:nvSpPr>
          <p:cNvPr id="51" name="进程 50"/>
          <p:cNvSpPr/>
          <p:nvPr/>
        </p:nvSpPr>
        <p:spPr>
          <a:xfrm>
            <a:off x="297152" y="2726691"/>
            <a:ext cx="2873355" cy="823927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</a:t>
            </a:r>
            <a:r>
              <a:rPr kumimoji="1" lang="en-US" altLang="zh-CN" sz="1600"/>
              <a:t>+resolveInstanceMethod:</a:t>
            </a:r>
          </a:p>
          <a:p>
            <a:pPr algn="ctr"/>
            <a:r>
              <a:rPr kumimoji="1" lang="zh-CN" altLang="en-US" sz="1600"/>
              <a:t>或者</a:t>
            </a:r>
            <a:r>
              <a:rPr kumimoji="1" lang="en-US" altLang="zh-CN" sz="1600"/>
              <a:t>+resolveClassMethod:</a:t>
            </a:r>
            <a:r>
              <a:rPr kumimoji="1" lang="zh-CN" altLang="en-US" sz="1600"/>
              <a:t>方法</a:t>
            </a:r>
            <a:endParaRPr kumimoji="1" lang="en-US" altLang="zh-CN" sz="1600"/>
          </a:p>
          <a:p>
            <a:pPr algn="ctr"/>
            <a:r>
              <a:rPr kumimoji="1" lang="zh-CN" altLang="en-US" sz="1600"/>
              <a:t>来动态解析方法</a:t>
            </a:r>
          </a:p>
        </p:txBody>
      </p:sp>
      <p:sp>
        <p:nvSpPr>
          <p:cNvPr id="52" name="进程 51"/>
          <p:cNvSpPr/>
          <p:nvPr/>
        </p:nvSpPr>
        <p:spPr>
          <a:xfrm>
            <a:off x="626032" y="3966100"/>
            <a:ext cx="2215593" cy="546822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标记为已经动态解析</a:t>
            </a:r>
          </a:p>
        </p:txBody>
      </p:sp>
      <p:cxnSp>
        <p:nvCxnSpPr>
          <p:cNvPr id="53" name="直线箭头连接符 52"/>
          <p:cNvCxnSpPr>
            <a:stCxn id="51" idx="2"/>
            <a:endCxn id="52" idx="0"/>
          </p:cNvCxnSpPr>
          <p:nvPr/>
        </p:nvCxnSpPr>
        <p:spPr>
          <a:xfrm flipH="1">
            <a:off x="1733829" y="3550618"/>
            <a:ext cx="1" cy="415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进程 56"/>
          <p:cNvSpPr/>
          <p:nvPr/>
        </p:nvSpPr>
        <p:spPr>
          <a:xfrm>
            <a:off x="985743" y="4899849"/>
            <a:ext cx="1496170" cy="453999"/>
          </a:xfrm>
          <a:prstGeom prst="flowChartProcess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消息发送</a:t>
            </a:r>
          </a:p>
        </p:txBody>
      </p:sp>
      <p:cxnSp>
        <p:nvCxnSpPr>
          <p:cNvPr id="58" name="直线箭头连接符 57"/>
          <p:cNvCxnSpPr>
            <a:stCxn id="52" idx="2"/>
            <a:endCxn id="57" idx="0"/>
          </p:cNvCxnSpPr>
          <p:nvPr/>
        </p:nvCxnSpPr>
        <p:spPr>
          <a:xfrm flipH="1">
            <a:off x="1733828" y="4512922"/>
            <a:ext cx="1" cy="38692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4787229" y="4276601"/>
            <a:ext cx="5580940" cy="62324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动态解析过后，会重新走“消息发送”的流程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p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中查找方法”这一步开始执行</a:t>
            </a:r>
          </a:p>
        </p:txBody>
      </p:sp>
    </p:spTree>
    <p:extLst>
      <p:ext uri="{BB962C8B-B14F-4D97-AF65-F5344CB8AC3E}">
        <p14:creationId xmlns:p14="http://schemas.microsoft.com/office/powerpoint/2010/main" val="90207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1" grpId="0"/>
      <p:bldP spid="12" grpId="0"/>
      <p:bldP spid="111" grpId="0" animBg="1"/>
      <p:bldP spid="51" grpId="0" animBg="1"/>
      <p:bldP spid="52" grpId="0" animBg="1"/>
      <p:bldP spid="5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动态添加方法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80" y="1217876"/>
            <a:ext cx="6268720" cy="23432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文本框 5"/>
          <p:cNvSpPr txBox="1"/>
          <p:nvPr/>
        </p:nvSpPr>
        <p:spPr>
          <a:xfrm>
            <a:off x="6955846" y="4446270"/>
            <a:ext cx="4782763" cy="7086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@dynamic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是告诉编译器不用自动生成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getter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setter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的实现，等到运行时再添加方法实现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680" y="3677593"/>
            <a:ext cx="6268720" cy="30406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8247" y="2513330"/>
            <a:ext cx="4083050" cy="16332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文本框 8"/>
          <p:cNvSpPr txBox="1"/>
          <p:nvPr/>
        </p:nvSpPr>
        <p:spPr>
          <a:xfrm>
            <a:off x="7108247" y="1489710"/>
            <a:ext cx="4735294" cy="457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en-US" altLang="zh-CN" sz="16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可以理解为等价于</a:t>
            </a:r>
            <a:r>
              <a:rPr lang="en-US" altLang="zh-CN" sz="1600">
                <a:solidFill>
                  <a:srgbClr val="AA0D91"/>
                </a:solidFill>
                <a:latin typeface="Menlo-Regular" charset="0"/>
              </a:rPr>
              <a:t>struct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600">
                <a:solidFill>
                  <a:srgbClr val="3F6E74"/>
                </a:solidFill>
                <a:latin typeface="Menlo-Regular" charset="0"/>
              </a:rPr>
              <a:t>method_t</a:t>
            </a:r>
            <a:r>
              <a:rPr lang="en-US" altLang="zh-CN" sz="1600">
                <a:solidFill>
                  <a:srgbClr val="000000"/>
                </a:solidFill>
                <a:latin typeface="Menlo-Regular" charset="0"/>
              </a:rPr>
              <a:t> *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2538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objc_msgSend</a:t>
            </a:r>
            <a:r>
              <a:rPr lang="zh-CN" altLang="en-US"/>
              <a:t>的执行流程</a:t>
            </a:r>
            <a:r>
              <a:rPr lang="en-US" altLang="zh-CN"/>
              <a:t>03-</a:t>
            </a:r>
            <a:r>
              <a:rPr lang="zh-CN" altLang="en-US"/>
              <a:t>消息转发</a:t>
            </a:r>
          </a:p>
        </p:txBody>
      </p:sp>
      <p:sp>
        <p:nvSpPr>
          <p:cNvPr id="5" name="决策 4"/>
          <p:cNvSpPr/>
          <p:nvPr/>
        </p:nvSpPr>
        <p:spPr>
          <a:xfrm>
            <a:off x="198132" y="1263432"/>
            <a:ext cx="5265408" cy="1055165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</a:t>
            </a:r>
            <a:endParaRPr kumimoji="1" lang="en-US" altLang="zh-CN" sz="1600"/>
          </a:p>
          <a:p>
            <a:pPr algn="ctr"/>
            <a:r>
              <a:rPr lang="en-US" altLang="zh-CN" sz="1600"/>
              <a:t>forwardingTargetForSelector:</a:t>
            </a:r>
          </a:p>
          <a:p>
            <a:pPr algn="ctr"/>
            <a:r>
              <a:rPr lang="zh-CN" altLang="en-US" sz="1600"/>
              <a:t>方法</a:t>
            </a:r>
            <a:endParaRPr kumimoji="1"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5475115" y="1392435"/>
            <a:ext cx="151599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返回值不为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线箭头连接符 6"/>
          <p:cNvCxnSpPr>
            <a:stCxn id="5" idx="3"/>
            <a:endCxn id="10" idx="1"/>
          </p:cNvCxnSpPr>
          <p:nvPr/>
        </p:nvCxnSpPr>
        <p:spPr>
          <a:xfrm flipV="1">
            <a:off x="5463540" y="1791014"/>
            <a:ext cx="156686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进程 9"/>
          <p:cNvSpPr/>
          <p:nvPr/>
        </p:nvSpPr>
        <p:spPr>
          <a:xfrm>
            <a:off x="7030405" y="1517603"/>
            <a:ext cx="2661178" cy="546822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/>
              <a:t>objc_msgSend(</a:t>
            </a:r>
            <a:r>
              <a:rPr kumimoji="1" lang="zh-CN" altLang="en-US" sz="1600"/>
              <a:t>返回值</a:t>
            </a:r>
            <a:r>
              <a:rPr kumimoji="1" lang="en-US" altLang="zh-CN" sz="1600"/>
              <a:t>,</a:t>
            </a:r>
            <a:r>
              <a:rPr kumimoji="1" lang="zh-CN" altLang="en-US" sz="1600"/>
              <a:t> </a:t>
            </a:r>
            <a:r>
              <a:rPr kumimoji="1" lang="en-US" altLang="zh-CN" sz="1600"/>
              <a:t>SEL)</a:t>
            </a:r>
            <a:endParaRPr kumimoji="1" lang="zh-CN" altLang="en-US" sz="1600"/>
          </a:p>
        </p:txBody>
      </p:sp>
      <p:sp>
        <p:nvSpPr>
          <p:cNvPr id="13" name="文本框 12"/>
          <p:cNvSpPr txBox="1"/>
          <p:nvPr/>
        </p:nvSpPr>
        <p:spPr>
          <a:xfrm>
            <a:off x="1462200" y="2369295"/>
            <a:ext cx="1363700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决策 13"/>
          <p:cNvSpPr/>
          <p:nvPr/>
        </p:nvSpPr>
        <p:spPr>
          <a:xfrm>
            <a:off x="211924" y="2840076"/>
            <a:ext cx="5251616" cy="1055165"/>
          </a:xfrm>
          <a:prstGeom prst="flowChartDecision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</a:t>
            </a:r>
            <a:endParaRPr kumimoji="1" lang="en-US" altLang="zh-CN" sz="1600"/>
          </a:p>
          <a:p>
            <a:pPr algn="ctr"/>
            <a:r>
              <a:rPr lang="en-US" altLang="zh-CN" sz="1600"/>
              <a:t>methodSignatureForSelector:</a:t>
            </a:r>
          </a:p>
          <a:p>
            <a:pPr algn="ctr"/>
            <a:r>
              <a:rPr lang="zh-CN" altLang="en-US" sz="1600"/>
              <a:t>方法</a:t>
            </a:r>
            <a:endParaRPr kumimoji="1" lang="zh-CN" altLang="en-US" sz="1600"/>
          </a:p>
        </p:txBody>
      </p:sp>
      <p:cxnSp>
        <p:nvCxnSpPr>
          <p:cNvPr id="15" name="直线箭头连接符 14"/>
          <p:cNvCxnSpPr>
            <a:stCxn id="5" idx="2"/>
            <a:endCxn id="14" idx="0"/>
          </p:cNvCxnSpPr>
          <p:nvPr/>
        </p:nvCxnSpPr>
        <p:spPr>
          <a:xfrm>
            <a:off x="2830836" y="2318597"/>
            <a:ext cx="6896" cy="5214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1462200" y="4000262"/>
            <a:ext cx="1363700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线箭头连接符 20"/>
          <p:cNvCxnSpPr>
            <a:stCxn id="14" idx="2"/>
            <a:endCxn id="26" idx="0"/>
          </p:cNvCxnSpPr>
          <p:nvPr/>
        </p:nvCxnSpPr>
        <p:spPr>
          <a:xfrm flipH="1">
            <a:off x="2830836" y="3895241"/>
            <a:ext cx="6896" cy="5088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进程 25"/>
          <p:cNvSpPr/>
          <p:nvPr/>
        </p:nvSpPr>
        <p:spPr>
          <a:xfrm>
            <a:off x="1171764" y="4404067"/>
            <a:ext cx="3318144" cy="546822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</a:t>
            </a:r>
            <a:r>
              <a:rPr kumimoji="1" lang="en-US" altLang="zh-CN" sz="1600"/>
              <a:t>doesNotRecognizeSelector:</a:t>
            </a:r>
            <a:r>
              <a:rPr kumimoji="1" lang="zh-CN" altLang="en-US" sz="1600"/>
              <a:t>方法</a:t>
            </a:r>
          </a:p>
        </p:txBody>
      </p:sp>
      <p:sp>
        <p:nvSpPr>
          <p:cNvPr id="33" name="文本框 32"/>
          <p:cNvSpPr txBox="1"/>
          <p:nvPr/>
        </p:nvSpPr>
        <p:spPr>
          <a:xfrm>
            <a:off x="5475115" y="2967029"/>
            <a:ext cx="1515994" cy="36576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algn="ctr">
              <a:lnSpc>
                <a:spcPts val="2200"/>
              </a:lnSpc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返回值不为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nil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4" name="直线箭头连接符 33"/>
          <p:cNvCxnSpPr>
            <a:stCxn id="14" idx="3"/>
            <a:endCxn id="37" idx="1"/>
          </p:cNvCxnSpPr>
          <p:nvPr/>
        </p:nvCxnSpPr>
        <p:spPr>
          <a:xfrm flipV="1">
            <a:off x="5463540" y="3367658"/>
            <a:ext cx="1566865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进程 36"/>
          <p:cNvSpPr/>
          <p:nvPr/>
        </p:nvSpPr>
        <p:spPr>
          <a:xfrm>
            <a:off x="7030405" y="3094247"/>
            <a:ext cx="2954973" cy="546822"/>
          </a:xfrm>
          <a:prstGeom prst="flowChartProcess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sz="1600"/>
              <a:t>调用</a:t>
            </a:r>
            <a:r>
              <a:rPr lang="en-US" altLang="zh-CN" sz="1600"/>
              <a:t>forwardInvocation:</a:t>
            </a:r>
            <a:r>
              <a:rPr lang="zh-CN" altLang="en-US" sz="1600"/>
              <a:t>方法</a:t>
            </a:r>
            <a:endParaRPr kumimoji="1" lang="zh-CN" altLang="en-US" sz="1600"/>
          </a:p>
        </p:txBody>
      </p:sp>
      <p:sp>
        <p:nvSpPr>
          <p:cNvPr id="40" name="文本框 39"/>
          <p:cNvSpPr txBox="1"/>
          <p:nvPr/>
        </p:nvSpPr>
        <p:spPr>
          <a:xfrm>
            <a:off x="4351541" y="5627603"/>
            <a:ext cx="7481644" cy="859468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开发者可以在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forwardInvocation: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方法中自定义任何逻辑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以上方法都有对象方法、类方法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个版本（前面可以是加号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，也可以是减号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1983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0" grpId="0" animBg="1"/>
      <p:bldP spid="13" grpId="0"/>
      <p:bldP spid="14" grpId="0" animBg="1"/>
      <p:bldP spid="20" grpId="0"/>
      <p:bldP spid="26" grpId="0" animBg="1"/>
      <p:bldP spid="33" grpId="0"/>
      <p:bldP spid="37" grpId="0" animBg="1"/>
      <p:bldP spid="40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生成</a:t>
            </a:r>
            <a:r>
              <a:rPr lang="en-US" altLang="zh-CN"/>
              <a:t>NSMethodSignature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81972"/>
            <a:ext cx="10299700" cy="381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086297"/>
            <a:ext cx="10752055" cy="27036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83869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super</a:t>
            </a:r>
            <a:r>
              <a:rPr lang="zh-CN" altLang="en-US"/>
              <a:t>的本质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191857"/>
            <a:ext cx="11836739" cy="9726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super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调用，底层会转换为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objc_msgSendSuper2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函数的调用，接收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个参数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struct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objc_super2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35" y="2164466"/>
            <a:ext cx="3276600" cy="1168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文本框 4"/>
          <p:cNvSpPr txBox="1"/>
          <p:nvPr/>
        </p:nvSpPr>
        <p:spPr>
          <a:xfrm>
            <a:off x="160020" y="3462424"/>
            <a:ext cx="11836739" cy="7276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是消息接收者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current_class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</a:t>
            </a:r>
          </a:p>
        </p:txBody>
      </p:sp>
    </p:spTree>
    <p:extLst>
      <p:ext uri="{BB962C8B-B14F-4D97-AF65-F5344CB8AC3E}">
        <p14:creationId xmlns:p14="http://schemas.microsoft.com/office/powerpoint/2010/main" val="1808625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LLVM</a:t>
            </a:r>
            <a:r>
              <a:rPr lang="zh-CN" altLang="en-US"/>
              <a:t>的中间代码（</a:t>
            </a:r>
            <a:r>
              <a:rPr lang="en-US" altLang="zh-CN"/>
              <a:t>IR</a:t>
            </a:r>
            <a:r>
              <a:rPr lang="zh-CN" altLang="en-US"/>
              <a:t>）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191858"/>
            <a:ext cx="11836739" cy="533626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Objective-C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在变为机器代码之前，会被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LLVM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编译器转换为中间代码（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Intermediate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Representation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可以使用以下命令行指令生成中间代码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clang -emit-llvm -S main.m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语法简介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全局变量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局部变量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在当前执行的函数的堆栈帧中分配内存，当该函数返回到其调用者时，将自动释放内存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i32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- 32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位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字节的整数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align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对齐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load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读出，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store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两个整数值比较，返回布尔值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选择分支，根据条件来转向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，不根据条件跳转的话类似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goto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label - 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代码标签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call -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调用函数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p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具体可以参考官方文档：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https://llvm.org/docs/LangRef.html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3879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的应用</a:t>
            </a:r>
            <a:r>
              <a:rPr lang="en-US" altLang="zh-CN"/>
              <a:t>01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查看私有成员变量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4748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UITextField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占位文字的颜色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39" y="2006279"/>
            <a:ext cx="11341100" cy="7620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0691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的应用</a:t>
            </a:r>
            <a:r>
              <a:rPr lang="en-US" altLang="zh-CN"/>
              <a:t>02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字典转模型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12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Runtime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遍历所有的属性或者成员变量</a:t>
            </a: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设值</a:t>
            </a:r>
          </a:p>
        </p:txBody>
      </p:sp>
    </p:spTree>
    <p:extLst>
      <p:ext uri="{BB962C8B-B14F-4D97-AF65-F5344CB8AC3E}">
        <p14:creationId xmlns:p14="http://schemas.microsoft.com/office/powerpoint/2010/main" val="150949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的应用</a:t>
            </a:r>
            <a:r>
              <a:rPr lang="en-US" altLang="zh-CN"/>
              <a:t>02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替换方法实现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119252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class_replaceMethod</a:t>
            </a: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endParaRPr lang="en-US" altLang="zh-CN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ts val="2200"/>
              </a:lnSpc>
              <a:buFont typeface="Wingdings" charset="2"/>
              <a:buChar char="n"/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method_exchangeImplementations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30470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 </a:t>
            </a:r>
            <a:r>
              <a:rPr lang="en-US" altLang="zh-CN"/>
              <a:t>API01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类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12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动态创建一个类（参数：父类，类名，额外的内存空间）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objc_allocateClassPair(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superclass,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*name, </a:t>
            </a:r>
            <a:r>
              <a:rPr lang="mr-IN" altLang="zh-CN" sz="1400">
                <a:solidFill>
                  <a:srgbClr val="5C2699"/>
                </a:solidFill>
                <a:latin typeface="Menlo-Regular" charset="0"/>
              </a:rPr>
              <a:t>size_t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extraBytes)</a:t>
            </a: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注册一个类（要在类注册之前添加成员变量）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1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objc_registerClassPair(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cls)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销毁一个类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objc_disposeClassPair(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object_getClass(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isa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指向的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object_setClass(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obj, 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判断一个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OC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对象是否为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object_isClass(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obj)</a:t>
            </a: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判断一个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Class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是否为元类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class_isMetaClass(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获取父类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class_getSuperclass(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6172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 </a:t>
            </a:r>
            <a:r>
              <a:rPr lang="en-US" altLang="zh-CN"/>
              <a:t>API02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成员变量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12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获取一个实例变量信息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class_getInstanceVariable(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zh-CN" altLang="en-US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*name)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拷贝实例变量列表（最后需要调用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*class_copyIvarList(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*outCount)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设置和获取成员变量的值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1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object_setIvar(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obj,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ivar,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value)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1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object_getIvar(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obj,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ivar)</a:t>
            </a:r>
            <a:endParaRPr lang="en-US" altLang="zh-CN" sz="1400">
              <a:solidFill>
                <a:srgbClr val="0000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动态添加成员变量（已经注册的类是不能动态添加成员变量的）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1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class_addIvar(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 name,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size_t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size,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uint8_t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alignment,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 types)</a:t>
            </a:r>
            <a:endParaRPr lang="en-US" altLang="zh-CN" sz="1400">
              <a:solidFill>
                <a:srgbClr val="0000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获取成员变量的相关信息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*ivar_getName(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v)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*ivar_getTypeEncoding(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Ivar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v)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94110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 </a:t>
            </a:r>
            <a:r>
              <a:rPr lang="en-US" altLang="zh-CN"/>
              <a:t>API03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属性 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127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获取一个属性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class_getProperty(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*name)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拷贝属性列表（最后需要调用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*class_copyPropertyList(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*outCount)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动态添加属性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class_addProperty(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*name,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objc_property_attribute_t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*attributes,</a:t>
            </a:r>
            <a:endParaRPr lang="en-US" altLang="zh-CN" sz="1100">
              <a:solidFill>
                <a:prstClr val="black"/>
              </a:solidFill>
              <a:latin typeface="Helvetica" charset="0"/>
            </a:endParaRPr>
          </a:p>
          <a:p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                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attributeCount)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动态替换属性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class_replaceProperty(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*name,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objc_property_attribute_t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*attributes,</a:t>
            </a:r>
            <a:endParaRPr lang="en-US" altLang="zh-CN" sz="1100">
              <a:solidFill>
                <a:prstClr val="black"/>
              </a:solidFill>
              <a:latin typeface="Helvetica" charset="0"/>
            </a:endParaRPr>
          </a:p>
          <a:p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                    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attributeCount)</a:t>
            </a: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获取属性的一些信息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*property_getName(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property)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*property_getAttributes(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objc_property_t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property)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2094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 </a:t>
            </a:r>
            <a:r>
              <a:rPr lang="en-US" altLang="zh-CN"/>
              <a:t>API04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47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获得一个实例方法、类方法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class_getInstanceMethod(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name)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class_getClassMethod(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name)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方法实现相关操作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class_getMethodImplementation(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name) 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method_setImplementation(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void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method_exchangeImplementations(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m1, 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m2) </a:t>
            </a: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拷贝方法列表（最后需要调用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*class_copyMethodList(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*outCount)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动态添加方法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class_addMethod(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name,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imp,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*types)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动态替换方法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class_replaceMethod(</a:t>
            </a:r>
            <a:r>
              <a:rPr lang="en-US" altLang="zh-CN" sz="1400">
                <a:solidFill>
                  <a:srgbClr val="3F6E74"/>
                </a:solidFill>
                <a:latin typeface="Menlo-Regular" charset="0"/>
              </a:rPr>
              <a:t>Class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cls,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name,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imp,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mr-IN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mr-IN" altLang="zh-CN" sz="1400">
                <a:solidFill>
                  <a:srgbClr val="000000"/>
                </a:solidFill>
                <a:latin typeface="Menlo-Regular" charset="0"/>
              </a:rPr>
              <a:t> *types)</a:t>
            </a: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获取方法的相关信息（带有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copy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的需要调用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free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去释放）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method_getName(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method_getImplementation(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method_getTypeEncoding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(Method m)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method_getNumberOfArguments(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*method_copyReturnType(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*method_copyArgumentType(</a:t>
            </a:r>
            <a:r>
              <a:rPr lang="en-US" altLang="zh-CN" sz="1400">
                <a:solidFill>
                  <a:srgbClr val="5C2699"/>
                </a:solidFill>
                <a:latin typeface="Menlo-Regular" charset="0"/>
              </a:rPr>
              <a:t>Method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m,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unsigned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int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index)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4822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8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8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8">
                                            <p:txEl>
                                              <p:pRg st="22" end="2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8">
                                            <p:txEl>
                                              <p:pRg st="23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8">
                                            <p:txEl>
                                              <p:pRg st="24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5DCC7AE5-7EF9-4964-8408-F84B72D5D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Runtime</a:t>
            </a:r>
            <a:r>
              <a:rPr lang="zh-CN" altLang="en-US"/>
              <a:t> </a:t>
            </a:r>
            <a:r>
              <a:rPr lang="en-US" altLang="zh-CN"/>
              <a:t>API04</a:t>
            </a:r>
            <a:r>
              <a:rPr lang="zh-CN" altLang="en-US"/>
              <a:t> </a:t>
            </a:r>
            <a:r>
              <a:rPr lang="mr-IN" altLang="zh-CN"/>
              <a:t>–</a:t>
            </a:r>
            <a:r>
              <a:rPr lang="zh-CN" altLang="en-US"/>
              <a:t> 方法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60020" y="1203432"/>
            <a:ext cx="11836739" cy="547516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选择器相关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*sel_getName(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sel)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SEL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sel_registerName(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const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char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*str)</a:t>
            </a: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n"/>
            </a:pP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</a:t>
            </a:r>
            <a:r>
              <a:rPr lang="en-US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</a:t>
            </a:r>
            <a:r>
              <a:rPr lang="zh-CN" altLang="en-US" sz="14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作为方法实现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imp_implementationWithBlock(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block)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id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imp_getBlock(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anImp)</a:t>
            </a:r>
          </a:p>
          <a:p>
            <a:pPr marL="285750" indent="-285750">
              <a:buFont typeface="Wingdings" charset="2"/>
              <a:buChar char="p"/>
            </a:pP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BOOL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imp_removeBlock(</a:t>
            </a:r>
            <a:r>
              <a:rPr lang="en-US" altLang="zh-CN" sz="1400">
                <a:solidFill>
                  <a:srgbClr val="AA0D91"/>
                </a:solidFill>
                <a:latin typeface="Menlo-Regular" charset="0"/>
              </a:rPr>
              <a:t>IMP</a:t>
            </a:r>
            <a:r>
              <a:rPr lang="en-US" altLang="zh-CN" sz="1400">
                <a:solidFill>
                  <a:srgbClr val="000000"/>
                </a:solidFill>
                <a:latin typeface="Menlo-Regular" charset="0"/>
              </a:rPr>
              <a:t> anImp)</a:t>
            </a: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n"/>
            </a:pPr>
            <a:endParaRPr lang="en-US" altLang="zh-CN" sz="1400">
              <a:solidFill>
                <a:srgbClr val="000000"/>
              </a:solidFill>
              <a:latin typeface="Menlo-Regular" charset="0"/>
            </a:endParaRPr>
          </a:p>
          <a:p>
            <a:pPr marL="285750" indent="-285750">
              <a:buFont typeface="Wingdings" charset="2"/>
              <a:buChar char="p"/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42544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7-Seemygo.potx" id="{3322639B-F8FE-4D8E-B95A-689F35BC92D4}" vid="{7BDECA8C-96EE-4475-8611-81F66AB506B9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00-学前须知</Template>
  <TotalTime>28317</TotalTime>
  <Words>2486</Words>
  <Application>Microsoft Macintosh PowerPoint</Application>
  <PresentationFormat>宽屏</PresentationFormat>
  <Paragraphs>412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等线</vt:lpstr>
      <vt:lpstr>宋体</vt:lpstr>
      <vt:lpstr>微软雅黑</vt:lpstr>
      <vt:lpstr>Arial</vt:lpstr>
      <vt:lpstr>Calibri</vt:lpstr>
      <vt:lpstr>Calibri Light</vt:lpstr>
      <vt:lpstr>Helvetica</vt:lpstr>
      <vt:lpstr>Menlo-Regular</vt:lpstr>
      <vt:lpstr>Wingdings</vt:lpstr>
      <vt:lpstr>Office 主题</vt:lpstr>
      <vt:lpstr>Runtime</vt:lpstr>
      <vt:lpstr>面试题</vt:lpstr>
      <vt:lpstr>面试题</vt:lpstr>
      <vt:lpstr>面试题</vt:lpstr>
      <vt:lpstr>Runtime</vt:lpstr>
      <vt:lpstr>PowerPoint 演示文稿</vt:lpstr>
      <vt:lpstr>PowerPoint 演示文稿</vt:lpstr>
      <vt:lpstr>isa详解</vt:lpstr>
      <vt:lpstr>isa详解 – 位域</vt:lpstr>
      <vt:lpstr>Class的结构</vt:lpstr>
      <vt:lpstr>class_rw_t</vt:lpstr>
      <vt:lpstr>class_ro_t</vt:lpstr>
      <vt:lpstr>method_t</vt:lpstr>
      <vt:lpstr>Type Encoding</vt:lpstr>
      <vt:lpstr>方法缓存</vt:lpstr>
      <vt:lpstr>PowerPoint 演示文稿</vt:lpstr>
      <vt:lpstr>objc_msgSend执行流程</vt:lpstr>
      <vt:lpstr>objc_msgSend执行流程 – 源码跟读</vt:lpstr>
      <vt:lpstr>objc_msgSend执行流程01-消息发送</vt:lpstr>
      <vt:lpstr>objc_msgSend执行流程02-动态方法解析</vt:lpstr>
      <vt:lpstr>动态添加方法</vt:lpstr>
      <vt:lpstr>objc_msgSend的执行流程03-消息转发</vt:lpstr>
      <vt:lpstr>生成NSMethodSignature</vt:lpstr>
      <vt:lpstr>super的本质</vt:lpstr>
      <vt:lpstr>LLVM的中间代码（IR）</vt:lpstr>
      <vt:lpstr>Runtime的应用01 – 查看私有成员变量</vt:lpstr>
      <vt:lpstr>Runtime的应用02 – 字典转模型</vt:lpstr>
      <vt:lpstr>Runtime的应用02 – 替换方法实现</vt:lpstr>
      <vt:lpstr>Runtime API01 – 类 </vt:lpstr>
      <vt:lpstr>Runtime API02 – 成员变量 </vt:lpstr>
      <vt:lpstr>Runtime API03 – 属性 </vt:lpstr>
      <vt:lpstr>Runtime API04 – 方法</vt:lpstr>
      <vt:lpstr>Runtime API04 – 方法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李明杰</dc:creator>
  <cp:lastModifiedBy>翁恒丛</cp:lastModifiedBy>
  <cp:revision>1040</cp:revision>
  <dcterms:created xsi:type="dcterms:W3CDTF">2017-11-23T13:35:11Z</dcterms:created>
  <dcterms:modified xsi:type="dcterms:W3CDTF">2019-01-30T02:55:30Z</dcterms:modified>
</cp:coreProperties>
</file>