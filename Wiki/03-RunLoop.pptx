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6" r:id="rId13"/>
    <p:sldId id="309" r:id="rId14"/>
    <p:sldId id="303" r:id="rId15"/>
    <p:sldId id="304" r:id="rId16"/>
    <p:sldId id="305" r:id="rId17"/>
    <p:sldId id="308" r:id="rId18"/>
    <p:sldId id="30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35E4DC2-62B4-BF44-9EB8-E882BDCEB1CF}">
          <p14:sldIdLst>
            <p14:sldId id="292"/>
          </p14:sldIdLst>
        </p14:section>
        <p14:section name="面试题" id="{E2613D14-14A3-1F4B-B0E6-48735BD8A814}">
          <p14:sldIdLst>
            <p14:sldId id="293"/>
          </p14:sldIdLst>
        </p14:section>
        <p14:section name="简介" id="{8EE202EF-D29A-3D49-B04A-083045389AF5}">
          <p14:sldIdLst>
            <p14:sldId id="294"/>
            <p14:sldId id="295"/>
            <p14:sldId id="296"/>
          </p14:sldIdLst>
        </p14:section>
        <p14:section name="RunLoop对象" id="{A24E9000-8C64-C54C-8357-1C94C1396EFA}">
          <p14:sldIdLst>
            <p14:sldId id="297"/>
            <p14:sldId id="298"/>
            <p14:sldId id="299"/>
          </p14:sldIdLst>
        </p14:section>
        <p14:section name="Mode" id="{E7B7AA31-4356-114E-9D44-41912B6E8977}">
          <p14:sldIdLst>
            <p14:sldId id="300"/>
            <p14:sldId id="301"/>
            <p14:sldId id="302"/>
            <p14:sldId id="306"/>
            <p14:sldId id="309"/>
          </p14:sldIdLst>
        </p14:section>
        <p14:section name="RunLoop的运行逻辑" id="{4AB8F76B-8929-C044-B392-6F30103CD5BA}">
          <p14:sldIdLst>
            <p14:sldId id="303"/>
            <p14:sldId id="304"/>
            <p14:sldId id="305"/>
            <p14:sldId id="308"/>
          </p14:sldIdLst>
        </p14:section>
        <p14:section name="应用" id="{0420B00D-ACF1-FA48-BE39-BD2BB71D4F2D}">
          <p14:sldIdLst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9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822" userDrawn="1">
          <p15:clr>
            <a:srgbClr val="A4A3A4"/>
          </p15:clr>
        </p15:guide>
        <p15:guide id="6" orient="horz" pos="1480" userDrawn="1">
          <p15:clr>
            <a:srgbClr val="A4A3A4"/>
          </p15:clr>
        </p15:guide>
        <p15:guide id="7" orient="horz" pos="2863" userDrawn="1">
          <p15:clr>
            <a:srgbClr val="A4A3A4"/>
          </p15:clr>
        </p15:guide>
        <p15:guide id="8" pos="2547" userDrawn="1">
          <p15:clr>
            <a:srgbClr val="A4A3A4"/>
          </p15:clr>
        </p15:guide>
        <p15:guide id="9" pos="5110" userDrawn="1">
          <p15:clr>
            <a:srgbClr val="A4A3A4"/>
          </p15:clr>
        </p15:guide>
        <p15:guide id="10" pos="5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A707"/>
    <a:srgbClr val="FEC200"/>
    <a:srgbClr val="31CDA8"/>
    <a:srgbClr val="3498DB"/>
    <a:srgbClr val="192871"/>
    <a:srgbClr val="0037A4"/>
    <a:srgbClr val="002A7E"/>
    <a:srgbClr val="F1A069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7" autoAdjust="0"/>
    <p:restoredTop sz="94424" autoAdjust="0"/>
  </p:normalViewPr>
  <p:slideViewPr>
    <p:cSldViewPr snapToGrid="0" showGuides="1">
      <p:cViewPr varScale="1">
        <p:scale>
          <a:sx n="95" d="100"/>
          <a:sy n="95" d="100"/>
        </p:scale>
        <p:origin x="208" y="280"/>
      </p:cViewPr>
      <p:guideLst>
        <p:guide orient="horz" pos="2160"/>
        <p:guide pos="3840"/>
        <p:guide pos="1096"/>
        <p:guide orient="horz" pos="595"/>
        <p:guide orient="horz" pos="822"/>
        <p:guide orient="horz" pos="1480"/>
        <p:guide orient="horz" pos="2863"/>
        <p:guide pos="2547"/>
        <p:guide pos="5110"/>
        <p:guide pos="51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14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FCBEEA2-BF04-4625-9D90-F4291A119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1C78A-5A0F-4F2E-9C48-9BEEFCC112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634C-074B-4260-9010-E574428551B5}" type="datetimeFigureOut">
              <a:rPr lang="zh-CN" altLang="en-US" smtClean="0"/>
              <a:t>2018/12/18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D4B301-C1F1-4488-BE41-C37374152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27E0BC-A1AC-4B31-B1CD-ECA55CA19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C4FF-9C5A-4350-A3CE-CE48C6E74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1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591C1-7BBD-4BAD-9912-0ADD21A74F01}" type="datetimeFigureOut">
              <a:rPr lang="zh-CN" altLang="en-US" smtClean="0"/>
              <a:t>2018/12/18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33780-C451-4576-A162-3E5813E9C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>
            <a:extLst>
              <a:ext uri="{FF2B5EF4-FFF2-40B4-BE49-F238E27FC236}">
                <a16:creationId xmlns:a16="http://schemas.microsoft.com/office/drawing/2014/main" id="{F619AC0B-D093-4B29-BED5-E396B58FD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2" y="0"/>
            <a:ext cx="12196559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EC130C9D-3B92-4E92-AF34-4C37ACD515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6557" y="5640180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5">
            <a:extLst>
              <a:ext uri="{FF2B5EF4-FFF2-40B4-BE49-F238E27FC236}">
                <a16:creationId xmlns:a16="http://schemas.microsoft.com/office/drawing/2014/main" id="{36BA4FD9-4EAF-40CB-91E3-48F885239803}"/>
              </a:ext>
            </a:extLst>
          </p:cNvPr>
          <p:cNvSpPr/>
          <p:nvPr userDrawn="1"/>
        </p:nvSpPr>
        <p:spPr>
          <a:xfrm>
            <a:off x="4734893" y="6205486"/>
            <a:ext cx="2735236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实力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IT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教育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www.520it.com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772C4B5-AB4E-43B0-B717-25071084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114"/>
            <a:ext cx="12192000" cy="1011116"/>
          </a:xfrm>
        </p:spPr>
        <p:txBody>
          <a:bodyPr anchor="ctr">
            <a:normAutofit/>
          </a:bodyPr>
          <a:lstStyle>
            <a:lvl1pPr algn="ctr">
              <a:defRPr sz="7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401CC44-47BA-4904-A587-245165E74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234" y="3417401"/>
            <a:ext cx="6327531" cy="4336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322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F612FBBA-ABAE-4812-AAB2-77CA48D541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" y="-728"/>
            <a:ext cx="12200141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9">
            <a:extLst>
              <a:ext uri="{FF2B5EF4-FFF2-40B4-BE49-F238E27FC236}">
                <a16:creationId xmlns:a16="http://schemas.microsoft.com/office/drawing/2014/main" id="{89038A74-5A1B-45B4-AA7D-C9934D2FDABC}"/>
              </a:ext>
            </a:extLst>
          </p:cNvPr>
          <p:cNvSpPr/>
          <p:nvPr userDrawn="1"/>
        </p:nvSpPr>
        <p:spPr>
          <a:xfrm>
            <a:off x="-6349" y="1139584"/>
            <a:ext cx="12198349" cy="22225"/>
          </a:xfrm>
          <a:prstGeom prst="rect">
            <a:avLst/>
          </a:prstGeom>
          <a:solidFill>
            <a:srgbClr val="EAEAEA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en-US"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id="{DB3FFE7C-0303-4D2A-9F24-474FCCD7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839" y="399965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3C067B8-78E3-4D7C-B8BF-D555919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935" y="395532"/>
            <a:ext cx="10081824" cy="712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CN" altLang="en-US"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E8B5E84D-8FAC-4FA6-9CA7-55579F675D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193" y="1238066"/>
            <a:ext cx="11866684" cy="5444088"/>
          </a:xfrm>
        </p:spPr>
        <p:txBody>
          <a:bodyPr>
            <a:normAutofit/>
          </a:bodyPr>
          <a:lstStyle>
            <a:lvl1pPr marL="228600" indent="-228600">
              <a:lnSpc>
                <a:spcPts val="2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ts val="2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2000"/>
              </a:lnSpc>
              <a:buFont typeface="Wingdings" panose="05000000000000000000" pitchFamily="2" charset="2"/>
              <a:buChar char="ü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2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2000"/>
              </a:lnSpc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63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E73B-0927-45CC-BC19-B5A752C4C781}" type="datetimeFigureOut">
              <a:rPr lang="zh-CN" altLang="en-US" smtClean="0"/>
              <a:t>2018/12/18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1428-941F-4F39-9F0C-B1B29E09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source.apple.com/tarballs/CF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D2A8A-4D20-46E7-AB5F-6F0B875B7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RunLoop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@M</a:t>
            </a:r>
            <a:r>
              <a:rPr lang="zh-CN" altLang="en-US"/>
              <a:t>了个</a:t>
            </a:r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 txBox="1">
            <a:spLocks/>
          </p:cNvSpPr>
          <p:nvPr/>
        </p:nvSpPr>
        <p:spPr>
          <a:xfrm>
            <a:off x="2932234" y="4016115"/>
            <a:ext cx="6327531" cy="433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0"/>
              <a:t>https://github.com/CoderMJLee</a:t>
            </a:r>
          </a:p>
        </p:txBody>
      </p:sp>
    </p:spTree>
    <p:extLst>
      <p:ext uri="{BB962C8B-B14F-4D97-AF65-F5344CB8AC3E}">
        <p14:creationId xmlns:p14="http://schemas.microsoft.com/office/powerpoint/2010/main" val="45318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5090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讲讲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，项目中有用到吗？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内部实现逻辑？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和线程的关系？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程序中添加每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秒响应一次的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，当拖动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tableview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可能无法响应要怎么解决？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是怎么响应用户操作的， 具体流程是什么样的？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说说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的几种状态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作用是什么？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2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RunLoop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3593" y="1357811"/>
            <a:ext cx="3860272" cy="9674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顾名思义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运行循环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在程序运行过程中循环做一些事情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20150704063033561_easyicon_net_12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64" y="2583221"/>
            <a:ext cx="1625600" cy="1625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58096" y="1357811"/>
            <a:ext cx="4715296" cy="18627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应用范畴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PerformSelector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Async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事件响应、手势识别、界面刷新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AutoreleasePool</a:t>
            </a:r>
          </a:p>
        </p:txBody>
      </p:sp>
    </p:spTree>
    <p:extLst>
      <p:ext uri="{BB962C8B-B14F-4D97-AF65-F5344CB8AC3E}">
        <p14:creationId xmlns:p14="http://schemas.microsoft.com/office/powerpoint/2010/main" val="15829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如果</a:t>
            </a:r>
            <a:r>
              <a:rPr lang="zh-CN" altLang="en-US">
                <a:solidFill>
                  <a:srgbClr val="FF0000"/>
                </a:solidFill>
              </a:rPr>
              <a:t>没有</a:t>
            </a:r>
            <a:r>
              <a:rPr lang="en-US" altLang="zh-CN"/>
              <a:t>RunLoop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03" y="1326094"/>
            <a:ext cx="6003099" cy="1737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393803" y="3293490"/>
            <a:ext cx="4866965" cy="5541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执行完第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行代码后，会即将退出程序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8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如果</a:t>
            </a:r>
            <a:r>
              <a:rPr lang="zh-CN" altLang="en-US">
                <a:solidFill>
                  <a:srgbClr val="FF0000"/>
                </a:solidFill>
              </a:rPr>
              <a:t>有了</a:t>
            </a:r>
            <a:r>
              <a:rPr lang="en-US" altLang="zh-CN"/>
              <a:t>RunLoop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04" y="1248032"/>
            <a:ext cx="8764645" cy="15426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5690198" y="2985093"/>
            <a:ext cx="4866965" cy="4587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程序并不会马上退出，而是保持运行状态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0198" y="3638236"/>
            <a:ext cx="6173251" cy="1527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的基本作用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保持程序的持续运行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中的各种事件（比如触摸事件、定时器事件等）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资源，提高程序性能：该做事时做事，该休息时休息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4" y="2985093"/>
            <a:ext cx="5402036" cy="29465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326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对象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来访问和使用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NSRunLoop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都代表着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是基于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的一层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是开源的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https://opensource.apple.com/tarballs/CF/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62057" y="2933205"/>
            <a:ext cx="3526971" cy="245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NSRunLoop</a:t>
            </a: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493330" y="4144487"/>
            <a:ext cx="2018805" cy="8431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CFRunLoopRef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783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与线程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每条线程都有唯一的一个与之对应的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保存在一个全局的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Dictionary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里，线程作为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线程刚创建时并没有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会在第一次获取它时创建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会在线程结束时销毁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主线程的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已经自动获取（创建），子线程默认没有开启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73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</a:t>
            </a:r>
            <a:r>
              <a:rPr lang="en-US" altLang="zh-CN"/>
              <a:t>RunLoop</a:t>
            </a:r>
            <a:r>
              <a:rPr lang="zh-CN" altLang="en-US"/>
              <a:t>对象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[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NSRunLoop</a:t>
            </a:r>
            <a:r>
              <a:rPr lang="zh-CN" altLang="en-US" sz="16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currentRunLoop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]; 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获得当前线程的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zh-CN" altLang="en-US" sz="1200">
              <a:solidFill>
                <a:prstClr val="black"/>
              </a:solidFill>
              <a:latin typeface="Helvetica" charset="0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[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NSRunLoop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mainRunLoop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]; 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获得主线程的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en-US" altLang="zh-CN" sz="1600">
              <a:solidFill>
                <a:srgbClr val="0074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600">
              <a:solidFill>
                <a:srgbClr val="007400"/>
              </a:solidFill>
              <a:latin typeface="Menlo-Regular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CFRunLoopGetCurrent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(); 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获得当前线程的</a:t>
            </a:r>
            <a:r>
              <a:rPr lang="en-US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en-US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zh-CN" altLang="en-US" sz="1200">
              <a:solidFill>
                <a:prstClr val="black"/>
              </a:solidFill>
              <a:latin typeface="Helvetica" charset="0"/>
            </a:endParaRPr>
          </a:p>
          <a:p>
            <a:pPr marL="285750" indent="-285750">
              <a:buFont typeface="Wingdings" charset="2"/>
              <a:buChar char="p"/>
            </a:pPr>
            <a:r>
              <a:rPr lang="mr-IN" altLang="zh-CN" sz="1600">
                <a:solidFill>
                  <a:srgbClr val="2E0D6E"/>
                </a:solidFill>
                <a:latin typeface="Menlo-Regular" charset="0"/>
              </a:rPr>
              <a:t>CFRunLoopGetMain</a:t>
            </a:r>
            <a:r>
              <a:rPr lang="mr-IN" altLang="zh-CN" sz="1600">
                <a:solidFill>
                  <a:srgbClr val="000000"/>
                </a:solidFill>
                <a:latin typeface="Menlo-Regular" charset="0"/>
              </a:rPr>
              <a:t>(); </a:t>
            </a:r>
            <a:r>
              <a:rPr lang="mr-IN" altLang="zh-CN" sz="1600">
                <a:solidFill>
                  <a:srgbClr val="007400"/>
                </a:solidFill>
                <a:latin typeface="Menlo-Regular" charset="0"/>
              </a:rPr>
              <a:t>// </a:t>
            </a:r>
            <a:r>
              <a:rPr lang="zh-CN" altLang="mr-IN" sz="1600">
                <a:solidFill>
                  <a:srgbClr val="007400"/>
                </a:solidFill>
                <a:latin typeface="Menlo-Regular" charset="0"/>
              </a:rPr>
              <a:t>获得主线程的</a:t>
            </a:r>
            <a:r>
              <a:rPr lang="mr-IN" altLang="zh-CN" sz="1600">
                <a:solidFill>
                  <a:srgbClr val="007400"/>
                </a:solidFill>
                <a:latin typeface="Menlo-Regular" charset="0"/>
              </a:rPr>
              <a:t>RunLoop</a:t>
            </a:r>
            <a:r>
              <a:rPr lang="zh-CN" altLang="mr-IN" sz="1600">
                <a:solidFill>
                  <a:srgbClr val="007400"/>
                </a:solidFill>
                <a:latin typeface="Menlo-Regular" charset="0"/>
              </a:rPr>
              <a:t>对象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739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相关的类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5000303" cy="18485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 Foundation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中关于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CFRunLoopModeRef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CFRunLoopSourceRef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CFRunLoopTimerRef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CFRunLoopObserverRef</a:t>
            </a:r>
          </a:p>
        </p:txBody>
      </p:sp>
      <p:sp>
        <p:nvSpPr>
          <p:cNvPr id="2" name="矩形 1"/>
          <p:cNvSpPr/>
          <p:nvPr/>
        </p:nvSpPr>
        <p:spPr>
          <a:xfrm>
            <a:off x="7555389" y="3740621"/>
            <a:ext cx="4441370" cy="283820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/>
              <a:t>RunLoop</a:t>
            </a:r>
          </a:p>
          <a:p>
            <a:pPr algn="ctr"/>
            <a:endParaRPr kumimoji="1" lang="en-US" altLang="zh-CN" sz="3200"/>
          </a:p>
          <a:p>
            <a:pPr algn="ctr"/>
            <a:endParaRPr kumimoji="1" lang="en-US" altLang="zh-CN" sz="3200"/>
          </a:p>
          <a:p>
            <a:pPr algn="ctr"/>
            <a:endParaRPr kumimoji="1" lang="en-US" altLang="zh-CN" sz="3200"/>
          </a:p>
          <a:p>
            <a:pPr algn="ctr"/>
            <a:endParaRPr kumimoji="1" lang="en-US" altLang="zh-CN" sz="3200"/>
          </a:p>
          <a:p>
            <a:pPr algn="ctr"/>
            <a:endParaRPr kumimoji="1" lang="zh-CN" altLang="en-US" sz="3200"/>
          </a:p>
        </p:txBody>
      </p:sp>
      <p:sp>
        <p:nvSpPr>
          <p:cNvPr id="3" name="矩形 2"/>
          <p:cNvSpPr/>
          <p:nvPr/>
        </p:nvSpPr>
        <p:spPr>
          <a:xfrm>
            <a:off x="7751331" y="4375844"/>
            <a:ext cx="1876301" cy="207235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r>
              <a:rPr kumimoji="1" lang="en-US" altLang="zh-CN"/>
              <a:t>Mode</a:t>
            </a: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023968" y="5570591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observers</a:t>
            </a:r>
          </a:p>
        </p:txBody>
      </p:sp>
      <p:sp>
        <p:nvSpPr>
          <p:cNvPr id="8" name="矩形 7"/>
          <p:cNvSpPr/>
          <p:nvPr/>
        </p:nvSpPr>
        <p:spPr>
          <a:xfrm>
            <a:off x="8023968" y="4766878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sources0</a:t>
            </a:r>
          </a:p>
        </p:txBody>
      </p:sp>
      <p:sp>
        <p:nvSpPr>
          <p:cNvPr id="9" name="矩形 8"/>
          <p:cNvSpPr/>
          <p:nvPr/>
        </p:nvSpPr>
        <p:spPr>
          <a:xfrm>
            <a:off x="8023968" y="5170165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sources1</a:t>
            </a:r>
          </a:p>
        </p:txBody>
      </p:sp>
      <p:sp>
        <p:nvSpPr>
          <p:cNvPr id="10" name="矩形 9"/>
          <p:cNvSpPr/>
          <p:nvPr/>
        </p:nvSpPr>
        <p:spPr>
          <a:xfrm>
            <a:off x="8023968" y="5975738"/>
            <a:ext cx="1331026" cy="34069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timers</a:t>
            </a:r>
          </a:p>
        </p:txBody>
      </p:sp>
      <p:grpSp>
        <p:nvGrpSpPr>
          <p:cNvPr id="17" name="组 16"/>
          <p:cNvGrpSpPr/>
          <p:nvPr/>
        </p:nvGrpSpPr>
        <p:grpSpPr>
          <a:xfrm>
            <a:off x="9942326" y="4375844"/>
            <a:ext cx="1876301" cy="2072350"/>
            <a:chOff x="9345877" y="4007709"/>
            <a:chExt cx="1876301" cy="2072350"/>
          </a:xfrm>
        </p:grpSpPr>
        <p:sp>
          <p:nvSpPr>
            <p:cNvPr id="11" name="矩形 10"/>
            <p:cNvSpPr/>
            <p:nvPr/>
          </p:nvSpPr>
          <p:spPr>
            <a:xfrm>
              <a:off x="9345877" y="4007709"/>
              <a:ext cx="1876301" cy="207235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r>
                <a:rPr kumimoji="1" lang="en-US" altLang="zh-CN"/>
                <a:t>Mode</a:t>
              </a:r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618514" y="5202456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observers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9618514" y="4398743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sources0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9618514" y="4802030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sources1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9618514" y="5607603"/>
              <a:ext cx="1331026" cy="34069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timers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795" y="1279651"/>
            <a:ext cx="5157480" cy="21951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80" y="3664338"/>
            <a:ext cx="6324600" cy="2311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446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CFRunLoopModeRef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31718" y="1215308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CFRunLoopModeRef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的运行模式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包含若干个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又包含若干个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Source0/Source1/Timer/Observer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启动时只能选择其中一个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currentMode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如果需要切换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，只能退出当前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，再重新选择一个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不同组的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Source0/Source1/Timer/Observer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能分隔开来，互不影响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里没有任何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Source0/Source1/Timer/Observer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会立马退出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709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CFRunLoopModeRef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31718" y="1215308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kCFRunLoopDefaultMode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NSDefaultRunLoopMode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的默认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，通常主线程是在这个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下运行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UITrackingRunLoopMode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：界面跟踪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ScrollView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追踪触摸滑动，保证界面滑动时不受其他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268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CFRunLoopObserverRef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18" y="1604818"/>
            <a:ext cx="76962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22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添加</a:t>
            </a:r>
            <a:r>
              <a:rPr kumimoji="1" lang="en-US" altLang="zh-CN"/>
              <a:t>Observer</a:t>
            </a:r>
            <a:r>
              <a:rPr kumimoji="1" lang="zh-CN" altLang="en-US"/>
              <a:t>监听</a:t>
            </a:r>
            <a:r>
              <a:rPr kumimoji="1" lang="en-US" altLang="zh-CN"/>
              <a:t>RunLoop</a:t>
            </a:r>
            <a:r>
              <a:rPr kumimoji="1" lang="zh-CN" altLang="en-US"/>
              <a:t>的所有状态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552" y="1211282"/>
            <a:ext cx="9505619" cy="552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48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的运行逻辑</a:t>
            </a:r>
          </a:p>
        </p:txBody>
      </p:sp>
      <p:pic>
        <p:nvPicPr>
          <p:cNvPr id="5" name="图片 4" descr="runlo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23" y="1876995"/>
            <a:ext cx="8199286" cy="428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37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的运行逻辑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8" y="1250933"/>
            <a:ext cx="5439690" cy="50192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触摸事件处理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performSelector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: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onThread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: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Source1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的线程间通信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系统事件捕捉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performSelector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: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withObject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: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afterDelay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: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用于监听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的状态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刷新（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BeforeWaiting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BeforeWaiting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173" y="1250933"/>
            <a:ext cx="5608409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：即将处理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：即将处理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（可能会再次处理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、如果存在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，就跳转到第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：开始休眠（等待消息唤醒）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：结束休眠（被某个消息唤醒）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01&gt;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</a:p>
          <a:p>
            <a:pPr marL="800100" lvl="1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02&gt;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 Async To Main Queue</a:t>
            </a:r>
          </a:p>
          <a:p>
            <a:pPr marL="800100" lvl="1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03&gt;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Source1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、处理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、根据前面的执行结果，决定如何操作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01&gt;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回到第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02&gt;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：退出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  <a:p>
            <a:pPr marL="800100" lvl="1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C6C561-7AAB-E445-80C3-72726D7A8E04}"/>
              </a:ext>
            </a:extLst>
          </p:cNvPr>
          <p:cNvSpPr txBox="1"/>
          <p:nvPr/>
        </p:nvSpPr>
        <p:spPr>
          <a:xfrm>
            <a:off x="4092391" y="1251290"/>
            <a:ext cx="1371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当接受一个点击事件，由</a:t>
            </a:r>
            <a:r>
              <a:rPr kumimoji="1" lang="en-US" altLang="zh-CN"/>
              <a:t>source1</a:t>
            </a:r>
            <a:r>
              <a:rPr kumimoji="1" lang="zh-CN" altLang="en-US"/>
              <a:t>捕获系统事件，再包装成</a:t>
            </a:r>
            <a:r>
              <a:rPr kumimoji="1" lang="en-US" altLang="zh-CN"/>
              <a:t>Event</a:t>
            </a:r>
            <a:r>
              <a:rPr kumimoji="1" lang="zh-CN" altLang="en-US"/>
              <a:t>分发给</a:t>
            </a:r>
            <a:r>
              <a:rPr kumimoji="1" lang="en-US" altLang="zh-CN"/>
              <a:t>source0</a:t>
            </a:r>
            <a:r>
              <a:rPr kumimoji="1" lang="zh-CN" altLang="en-US"/>
              <a:t>处理</a:t>
            </a:r>
          </a:p>
        </p:txBody>
      </p:sp>
    </p:spTree>
    <p:extLst>
      <p:ext uri="{BB962C8B-B14F-4D97-AF65-F5344CB8AC3E}">
        <p14:creationId xmlns:p14="http://schemas.microsoft.com/office/powerpoint/2010/main" val="184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RunLoop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的运行逻辑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71804" y="1381923"/>
            <a:ext cx="3664035" cy="28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：进入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</p:txBody>
      </p:sp>
      <p:sp>
        <p:nvSpPr>
          <p:cNvPr id="7" name="矩形 6"/>
          <p:cNvSpPr/>
          <p:nvPr/>
        </p:nvSpPr>
        <p:spPr>
          <a:xfrm>
            <a:off x="671796" y="1712131"/>
            <a:ext cx="3664035" cy="28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：即将处理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Timers</a:t>
            </a:r>
          </a:p>
        </p:txBody>
      </p:sp>
      <p:sp>
        <p:nvSpPr>
          <p:cNvPr id="8" name="矩形 7"/>
          <p:cNvSpPr/>
          <p:nvPr/>
        </p:nvSpPr>
        <p:spPr>
          <a:xfrm>
            <a:off x="671796" y="2030463"/>
            <a:ext cx="3664035" cy="28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：即将处理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Sources</a:t>
            </a:r>
          </a:p>
        </p:txBody>
      </p:sp>
      <p:sp>
        <p:nvSpPr>
          <p:cNvPr id="9" name="矩形 8"/>
          <p:cNvSpPr/>
          <p:nvPr/>
        </p:nvSpPr>
        <p:spPr>
          <a:xfrm>
            <a:off x="671796" y="2360671"/>
            <a:ext cx="3664035" cy="288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</a:p>
        </p:txBody>
      </p:sp>
      <p:sp>
        <p:nvSpPr>
          <p:cNvPr id="10" name="矩形 9"/>
          <p:cNvSpPr/>
          <p:nvPr/>
        </p:nvSpPr>
        <p:spPr>
          <a:xfrm>
            <a:off x="671796" y="2697434"/>
            <a:ext cx="3664035" cy="288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Source0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（可能会再次处理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矩形 10"/>
          <p:cNvSpPr/>
          <p:nvPr/>
        </p:nvSpPr>
        <p:spPr>
          <a:xfrm>
            <a:off x="671796" y="3023317"/>
            <a:ext cx="3664035" cy="288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、如果存在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Source1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，就跳转到第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</a:p>
        </p:txBody>
      </p:sp>
      <p:sp>
        <p:nvSpPr>
          <p:cNvPr id="12" name="矩形 11"/>
          <p:cNvSpPr/>
          <p:nvPr/>
        </p:nvSpPr>
        <p:spPr>
          <a:xfrm>
            <a:off x="671796" y="3362661"/>
            <a:ext cx="3664033" cy="28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：开始休眠（等待消息唤醒）</a:t>
            </a:r>
          </a:p>
        </p:txBody>
      </p:sp>
      <p:sp>
        <p:nvSpPr>
          <p:cNvPr id="13" name="矩形 12"/>
          <p:cNvSpPr/>
          <p:nvPr/>
        </p:nvSpPr>
        <p:spPr>
          <a:xfrm>
            <a:off x="671796" y="3689179"/>
            <a:ext cx="3664035" cy="121484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：结束休眠（被某个消息唤醒）</a:t>
            </a:r>
          </a:p>
        </p:txBody>
      </p:sp>
      <p:sp>
        <p:nvSpPr>
          <p:cNvPr id="14" name="矩形 13"/>
          <p:cNvSpPr/>
          <p:nvPr/>
        </p:nvSpPr>
        <p:spPr>
          <a:xfrm>
            <a:off x="913008" y="3990158"/>
            <a:ext cx="3240000" cy="2376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01&gt;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</a:p>
        </p:txBody>
      </p:sp>
      <p:sp>
        <p:nvSpPr>
          <p:cNvPr id="15" name="矩形 14"/>
          <p:cNvSpPr/>
          <p:nvPr/>
        </p:nvSpPr>
        <p:spPr>
          <a:xfrm>
            <a:off x="907445" y="4303640"/>
            <a:ext cx="3240000" cy="2376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02&gt;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 Async To Main Queue</a:t>
            </a:r>
          </a:p>
        </p:txBody>
      </p:sp>
      <p:sp>
        <p:nvSpPr>
          <p:cNvPr id="16" name="矩形 15"/>
          <p:cNvSpPr/>
          <p:nvPr/>
        </p:nvSpPr>
        <p:spPr>
          <a:xfrm>
            <a:off x="907445" y="4611862"/>
            <a:ext cx="3240000" cy="2376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03&gt;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Source1</a:t>
            </a:r>
          </a:p>
        </p:txBody>
      </p:sp>
      <p:sp>
        <p:nvSpPr>
          <p:cNvPr id="17" name="矩形 16"/>
          <p:cNvSpPr/>
          <p:nvPr/>
        </p:nvSpPr>
        <p:spPr>
          <a:xfrm>
            <a:off x="671795" y="4957058"/>
            <a:ext cx="3664035" cy="288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、处理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</a:p>
        </p:txBody>
      </p:sp>
      <p:sp>
        <p:nvSpPr>
          <p:cNvPr id="18" name="矩形 17"/>
          <p:cNvSpPr/>
          <p:nvPr/>
        </p:nvSpPr>
        <p:spPr>
          <a:xfrm>
            <a:off x="671795" y="5299797"/>
            <a:ext cx="3664035" cy="93384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、根据前面的执行结果，决定如何操作</a:t>
            </a:r>
          </a:p>
        </p:txBody>
      </p:sp>
      <p:sp>
        <p:nvSpPr>
          <p:cNvPr id="19" name="矩形 18"/>
          <p:cNvSpPr/>
          <p:nvPr/>
        </p:nvSpPr>
        <p:spPr>
          <a:xfrm>
            <a:off x="907445" y="5930486"/>
            <a:ext cx="3240000" cy="237600"/>
          </a:xfrm>
          <a:prstGeom prst="rect">
            <a:avLst/>
          </a:prstGeom>
          <a:solidFill>
            <a:schemeClr val="accent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mr-I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</p:txBody>
      </p:sp>
      <p:sp>
        <p:nvSpPr>
          <p:cNvPr id="20" name="矩形 19"/>
          <p:cNvSpPr/>
          <p:nvPr/>
        </p:nvSpPr>
        <p:spPr>
          <a:xfrm>
            <a:off x="907445" y="5624565"/>
            <a:ext cx="3240000" cy="237600"/>
          </a:xfrm>
          <a:prstGeom prst="rect">
            <a:avLst/>
          </a:prstGeom>
          <a:solidFill>
            <a:schemeClr val="accent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mr-I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回到第</a:t>
            </a:r>
            <a:r>
              <a:rPr lang="mr-IN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mr-I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</a:p>
        </p:txBody>
      </p:sp>
      <p:sp>
        <p:nvSpPr>
          <p:cNvPr id="22" name="矩形 21"/>
          <p:cNvSpPr/>
          <p:nvPr/>
        </p:nvSpPr>
        <p:spPr>
          <a:xfrm>
            <a:off x="671794" y="6285739"/>
            <a:ext cx="3664035" cy="28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、通知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Observers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：退出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</p:txBody>
      </p:sp>
      <p:cxnSp>
        <p:nvCxnSpPr>
          <p:cNvPr id="23" name="肘形连接符 22"/>
          <p:cNvCxnSpPr>
            <a:stCxn id="19" idx="3"/>
            <a:endCxn id="22" idx="3"/>
          </p:cNvCxnSpPr>
          <p:nvPr/>
        </p:nvCxnSpPr>
        <p:spPr>
          <a:xfrm>
            <a:off x="4147445" y="6049286"/>
            <a:ext cx="188384" cy="380453"/>
          </a:xfrm>
          <a:prstGeom prst="bentConnector3">
            <a:avLst>
              <a:gd name="adj1" fmla="val 2213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20" idx="1"/>
            <a:endCxn id="7" idx="1"/>
          </p:cNvCxnSpPr>
          <p:nvPr/>
        </p:nvCxnSpPr>
        <p:spPr>
          <a:xfrm rot="10800000">
            <a:off x="671797" y="1856131"/>
            <a:ext cx="235649" cy="3887234"/>
          </a:xfrm>
          <a:prstGeom prst="bentConnector3">
            <a:avLst>
              <a:gd name="adj1" fmla="val 19700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11" idx="3"/>
            <a:endCxn id="16" idx="3"/>
          </p:cNvCxnSpPr>
          <p:nvPr/>
        </p:nvCxnSpPr>
        <p:spPr>
          <a:xfrm flipH="1">
            <a:off x="4147445" y="3167317"/>
            <a:ext cx="188386" cy="1563345"/>
          </a:xfrm>
          <a:prstGeom prst="bentConnector3">
            <a:avLst>
              <a:gd name="adj1" fmla="val -121347"/>
            </a:avLst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5339926" y="4310537"/>
            <a:ext cx="5844641" cy="28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__CFRUNLOOP_IS_</a:t>
            </a:r>
            <a:r>
              <a:rPr lang="en-US" altLang="zh-CN" sz="1200">
                <a:latin typeface="Menlo-Regular" charset="0"/>
              </a:rPr>
              <a:t>SERVICING_THE_MAIN_DISPATCH_QUEUE</a:t>
            </a:r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39927" y="1381923"/>
            <a:ext cx="5844641" cy="28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__CFRUNLOOP_IS_CALLING_OUT_TO_</a:t>
            </a:r>
            <a:r>
              <a:rPr lang="en-US" altLang="zh-CN" sz="1200">
                <a:latin typeface="Menlo-Regular" charset="0"/>
              </a:rPr>
              <a:t>AN_OBSERVER_CALLBACK_FUNCTION</a:t>
            </a:r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339927" y="3951541"/>
            <a:ext cx="5844641" cy="28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__CFRUNLOOP_IS_CALLING_OUT_TO_</a:t>
            </a:r>
            <a:r>
              <a:rPr lang="en-US" altLang="zh-CN" sz="1200">
                <a:latin typeface="Menlo-Regular" charset="0"/>
              </a:rPr>
              <a:t>A_TIMER_CALLBACK_FUNCTION</a:t>
            </a:r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339927" y="4778381"/>
            <a:ext cx="5844640" cy="28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__CFRUNLOOP_IS_CALLING_OUT_TO_</a:t>
            </a:r>
            <a:r>
              <a:rPr lang="en-US" altLang="zh-CN" sz="1200">
                <a:latin typeface="Menlo-Regular" charset="0"/>
              </a:rPr>
              <a:t>A_SOURCE1_PERFORM_FUNCTION</a:t>
            </a:r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339927" y="2692098"/>
            <a:ext cx="5844640" cy="28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__CFRUNLOOP_IS_CALLING_OUT_TO_</a:t>
            </a:r>
            <a:r>
              <a:rPr lang="en-US" altLang="zh-CN" sz="1200">
                <a:latin typeface="Menlo-Regular" charset="0"/>
              </a:rPr>
              <a:t>A_SOURCE0_PERFORM_FUNCTION</a:t>
            </a:r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339927" y="2360671"/>
            <a:ext cx="5844641" cy="28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__CFRUNLOOP_IS_CALLING_OUT_TO_</a:t>
            </a:r>
            <a:r>
              <a:rPr lang="en-US" altLang="zh-CN" sz="1200">
                <a:latin typeface="Menlo-Regular" charset="0"/>
              </a:rPr>
              <a:t>A_BLOCK</a:t>
            </a:r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</a:t>
            </a:r>
            <a:endParaRPr lang="zh-CN" altLang="en-US" sz="1200">
              <a:solidFill>
                <a:schemeClr val="accent2"/>
              </a:solidFill>
            </a:endParaRPr>
          </a:p>
        </p:txBody>
      </p:sp>
      <p:cxnSp>
        <p:nvCxnSpPr>
          <p:cNvPr id="48" name="直线箭头连接符 47"/>
          <p:cNvCxnSpPr>
            <a:stCxn id="6" idx="3"/>
            <a:endCxn id="42" idx="1"/>
          </p:cNvCxnSpPr>
          <p:nvPr/>
        </p:nvCxnSpPr>
        <p:spPr>
          <a:xfrm>
            <a:off x="4335839" y="1525923"/>
            <a:ext cx="1004088" cy="0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/>
          <p:cNvCxnSpPr>
            <a:stCxn id="9" idx="3"/>
            <a:endCxn id="47" idx="1"/>
          </p:cNvCxnSpPr>
          <p:nvPr/>
        </p:nvCxnSpPr>
        <p:spPr>
          <a:xfrm>
            <a:off x="4335831" y="2504671"/>
            <a:ext cx="1004096" cy="0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>
            <a:stCxn id="10" idx="3"/>
            <a:endCxn id="46" idx="1"/>
          </p:cNvCxnSpPr>
          <p:nvPr/>
        </p:nvCxnSpPr>
        <p:spPr>
          <a:xfrm flipV="1">
            <a:off x="4335831" y="2836098"/>
            <a:ext cx="1004096" cy="5336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/>
          <p:cNvCxnSpPr>
            <a:stCxn id="14" idx="3"/>
            <a:endCxn id="43" idx="1"/>
          </p:cNvCxnSpPr>
          <p:nvPr/>
        </p:nvCxnSpPr>
        <p:spPr>
          <a:xfrm flipV="1">
            <a:off x="4153008" y="4095541"/>
            <a:ext cx="1186919" cy="13417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/>
          <p:cNvCxnSpPr>
            <a:stCxn id="15" idx="3"/>
            <a:endCxn id="40" idx="1"/>
          </p:cNvCxnSpPr>
          <p:nvPr/>
        </p:nvCxnSpPr>
        <p:spPr>
          <a:xfrm>
            <a:off x="4147445" y="4422440"/>
            <a:ext cx="1192481" cy="32097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/>
          <p:cNvCxnSpPr>
            <a:stCxn id="16" idx="3"/>
            <a:endCxn id="45" idx="1"/>
          </p:cNvCxnSpPr>
          <p:nvPr/>
        </p:nvCxnSpPr>
        <p:spPr>
          <a:xfrm>
            <a:off x="4147445" y="4730662"/>
            <a:ext cx="1192482" cy="191719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>
            <a:stCxn id="17" idx="3"/>
            <a:endCxn id="37" idx="1"/>
          </p:cNvCxnSpPr>
          <p:nvPr/>
        </p:nvCxnSpPr>
        <p:spPr>
          <a:xfrm>
            <a:off x="4335830" y="5101058"/>
            <a:ext cx="1004096" cy="372518"/>
          </a:xfrm>
          <a:prstGeom prst="straightConnector1">
            <a:avLst/>
          </a:prstGeom>
          <a:ln w="19050">
            <a:solidFill>
              <a:srgbClr val="7030A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5339926" y="5329576"/>
            <a:ext cx="5844641" cy="28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__CFRUNLOOP_IS_CALLING_OUT_TO_</a:t>
            </a:r>
            <a:r>
              <a:rPr lang="en-US" altLang="zh-CN" sz="1200">
                <a:latin typeface="Menlo-Regular" charset="0"/>
              </a:rPr>
              <a:t>A_BLOCK</a:t>
            </a:r>
            <a:r>
              <a:rPr lang="en-US" altLang="zh-CN" sz="1200">
                <a:solidFill>
                  <a:schemeClr val="accent2"/>
                </a:solidFill>
                <a:latin typeface="Menlo-Regular" charset="0"/>
              </a:rPr>
              <a:t>__</a:t>
            </a:r>
            <a:endParaRPr lang="zh-CN" altLang="en-US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58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40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RunLoop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休眠的实现原理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31524" y="1686298"/>
            <a:ext cx="1093321" cy="3800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52409" y="1686298"/>
            <a:ext cx="1093321" cy="3800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线连接符 2"/>
          <p:cNvCxnSpPr/>
          <p:nvPr/>
        </p:nvCxnSpPr>
        <p:spPr>
          <a:xfrm>
            <a:off x="5130140" y="2066308"/>
            <a:ext cx="0" cy="38357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586743" y="3168734"/>
            <a:ext cx="1382882" cy="3800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mach_msg()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07628" y="3168734"/>
            <a:ext cx="1382882" cy="3800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mach_msg()</a:t>
            </a:r>
          </a:p>
        </p:txBody>
      </p:sp>
      <p:cxnSp>
        <p:nvCxnSpPr>
          <p:cNvPr id="11" name="直线箭头连接符 10"/>
          <p:cNvCxnSpPr>
            <a:stCxn id="9" idx="3"/>
            <a:endCxn id="10" idx="1"/>
          </p:cNvCxnSpPr>
          <p:nvPr/>
        </p:nvCxnSpPr>
        <p:spPr>
          <a:xfrm>
            <a:off x="3969625" y="3358739"/>
            <a:ext cx="24380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176557" y="2847111"/>
            <a:ext cx="2772493" cy="102325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等待消息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没有消息就让线程休眠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有消息就唤醒线程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线箭头连接符 13"/>
          <p:cNvCxnSpPr>
            <a:stCxn id="10" idx="2"/>
            <a:endCxn id="17" idx="3"/>
          </p:cNvCxnSpPr>
          <p:nvPr/>
        </p:nvCxnSpPr>
        <p:spPr>
          <a:xfrm flipH="1">
            <a:off x="3834296" y="3548744"/>
            <a:ext cx="3264773" cy="8332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710495" y="4191991"/>
            <a:ext cx="1123801" cy="38001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处理消息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478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3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RunLoop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在实际开中的应用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31718" y="1215308"/>
            <a:ext cx="11484230" cy="5232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控制线程生命周期（线程保活）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在滑动时停止工作的问题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监控应用卡顿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性能优化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811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-Seemygo.potx" id="{3322639B-F8FE-4D8E-B95A-689F35BC92D4}" vid="{7BDECA8C-96EE-4475-8611-81F66AB506B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00-学前须知</Template>
  <TotalTime>12988</TotalTime>
  <Words>1063</Words>
  <Application>Microsoft Macintosh PowerPoint</Application>
  <PresentationFormat>宽屏</PresentationFormat>
  <Paragraphs>209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等线</vt:lpstr>
      <vt:lpstr>宋体</vt:lpstr>
      <vt:lpstr>微软雅黑</vt:lpstr>
      <vt:lpstr>Arial</vt:lpstr>
      <vt:lpstr>Calibri</vt:lpstr>
      <vt:lpstr>Calibri Light</vt:lpstr>
      <vt:lpstr>Helvetica</vt:lpstr>
      <vt:lpstr>Menlo-Regular</vt:lpstr>
      <vt:lpstr>Wingdings</vt:lpstr>
      <vt:lpstr>Office 主题</vt:lpstr>
      <vt:lpstr>RunLoop</vt:lpstr>
      <vt:lpstr>面试题</vt:lpstr>
      <vt:lpstr>什么是RunLoop</vt:lpstr>
      <vt:lpstr>如果没有RunLoop</vt:lpstr>
      <vt:lpstr>如果有了RunLoop</vt:lpstr>
      <vt:lpstr>RunLoop对象</vt:lpstr>
      <vt:lpstr>RunLoop与线程</vt:lpstr>
      <vt:lpstr>获取RunLoop对象</vt:lpstr>
      <vt:lpstr>RunLoop相关的类</vt:lpstr>
      <vt:lpstr>CFRunLoopModeRef</vt:lpstr>
      <vt:lpstr>CFRunLoopModeRef</vt:lpstr>
      <vt:lpstr>CFRunLoopObserverRef</vt:lpstr>
      <vt:lpstr>添加Observer监听RunLoop的所有状态</vt:lpstr>
      <vt:lpstr>RunLoop的运行逻辑</vt:lpstr>
      <vt:lpstr>RunLoop的运行逻辑</vt:lpstr>
      <vt:lpstr>RunLoop的运行逻辑</vt:lpstr>
      <vt:lpstr>RunLoop休眠的实现原理</vt:lpstr>
      <vt:lpstr>RunLoop在实际开中的应用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李明杰</dc:creator>
  <cp:lastModifiedBy>翁恒丛</cp:lastModifiedBy>
  <cp:revision>705</cp:revision>
  <dcterms:created xsi:type="dcterms:W3CDTF">2017-11-23T13:35:11Z</dcterms:created>
  <dcterms:modified xsi:type="dcterms:W3CDTF">2018-12-18T22:50:02Z</dcterms:modified>
</cp:coreProperties>
</file>