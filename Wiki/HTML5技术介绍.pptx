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58"/>
  </p:notesMasterIdLst>
  <p:sldIdLst>
    <p:sldId id="328" r:id="rId2"/>
    <p:sldId id="402" r:id="rId3"/>
    <p:sldId id="403" r:id="rId4"/>
    <p:sldId id="404" r:id="rId5"/>
    <p:sldId id="396" r:id="rId6"/>
    <p:sldId id="405" r:id="rId7"/>
    <p:sldId id="352" r:id="rId8"/>
    <p:sldId id="353" r:id="rId9"/>
    <p:sldId id="354" r:id="rId10"/>
    <p:sldId id="397" r:id="rId11"/>
    <p:sldId id="398" r:id="rId12"/>
    <p:sldId id="400" r:id="rId13"/>
    <p:sldId id="401" r:id="rId14"/>
    <p:sldId id="355" r:id="rId15"/>
    <p:sldId id="356" r:id="rId16"/>
    <p:sldId id="423" r:id="rId17"/>
    <p:sldId id="357" r:id="rId18"/>
    <p:sldId id="359" r:id="rId19"/>
    <p:sldId id="361" r:id="rId20"/>
    <p:sldId id="362" r:id="rId21"/>
    <p:sldId id="363" r:id="rId22"/>
    <p:sldId id="364" r:id="rId23"/>
    <p:sldId id="365" r:id="rId24"/>
    <p:sldId id="366" r:id="rId25"/>
    <p:sldId id="367" r:id="rId26"/>
    <p:sldId id="368" r:id="rId27"/>
    <p:sldId id="369" r:id="rId28"/>
    <p:sldId id="370" r:id="rId29"/>
    <p:sldId id="371" r:id="rId30"/>
    <p:sldId id="390" r:id="rId31"/>
    <p:sldId id="391" r:id="rId32"/>
    <p:sldId id="374" r:id="rId33"/>
    <p:sldId id="375" r:id="rId34"/>
    <p:sldId id="407" r:id="rId35"/>
    <p:sldId id="408" r:id="rId36"/>
    <p:sldId id="409" r:id="rId37"/>
    <p:sldId id="410" r:id="rId38"/>
    <p:sldId id="411" r:id="rId39"/>
    <p:sldId id="412" r:id="rId40"/>
    <p:sldId id="413" r:id="rId41"/>
    <p:sldId id="414" r:id="rId42"/>
    <p:sldId id="415" r:id="rId43"/>
    <p:sldId id="416" r:id="rId44"/>
    <p:sldId id="417" r:id="rId45"/>
    <p:sldId id="418" r:id="rId46"/>
    <p:sldId id="422" r:id="rId47"/>
    <p:sldId id="419" r:id="rId48"/>
    <p:sldId id="420" r:id="rId49"/>
    <p:sldId id="421" r:id="rId50"/>
    <p:sldId id="394" r:id="rId51"/>
    <p:sldId id="424" r:id="rId52"/>
    <p:sldId id="395" r:id="rId53"/>
    <p:sldId id="425" r:id="rId54"/>
    <p:sldId id="426" r:id="rId55"/>
    <p:sldId id="427" r:id="rId56"/>
    <p:sldId id="428" r:id="rId57"/>
  </p:sldIdLst>
  <p:sldSz cx="9144000" cy="6858000" type="screen4x3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简介" id="{9B0E8B7A-DD00-854A-93F1-166674D8743F}">
          <p14:sldIdLst>
            <p14:sldId id="328"/>
            <p14:sldId id="402"/>
            <p14:sldId id="403"/>
            <p14:sldId id="404"/>
            <p14:sldId id="396"/>
            <p14:sldId id="405"/>
          </p14:sldIdLst>
        </p14:section>
        <p14:section name="HTML" id="{2A0DDF69-99D8-ED41-8F76-7503BF19C544}">
          <p14:sldIdLst>
            <p14:sldId id="352"/>
            <p14:sldId id="353"/>
            <p14:sldId id="354"/>
            <p14:sldId id="397"/>
            <p14:sldId id="398"/>
            <p14:sldId id="400"/>
            <p14:sldId id="401"/>
          </p14:sldIdLst>
        </p14:section>
        <p14:section name="CSS" id="{D2B06BA2-18C2-B044-9D9E-361465CCC19A}">
          <p14:sldIdLst>
            <p14:sldId id="355"/>
            <p14:sldId id="356"/>
          </p14:sldIdLst>
        </p14:section>
        <p14:section name="CSS选择器" id="{43F2604F-D831-2F40-89CB-ADABF5F3D101}">
          <p14:sldIdLst>
            <p14:sldId id="423"/>
            <p14:sldId id="357"/>
            <p14:sldId id="359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90"/>
            <p14:sldId id="391"/>
          </p14:sldIdLst>
        </p14:section>
        <p14:section name="HTML标签类型" id="{8AD488D8-26ED-E641-B48D-26A1649FB372}">
          <p14:sldIdLst>
            <p14:sldId id="374"/>
            <p14:sldId id="375"/>
          </p14:sldIdLst>
        </p14:section>
        <p14:section name="CSS属性" id="{B2FA7658-7355-6341-9E44-93B8D0298564}">
          <p14:sldIdLst>
            <p14:sldId id="407"/>
            <p14:sldId id="408"/>
            <p14:sldId id="409"/>
          </p14:sldIdLst>
        </p14:section>
        <p14:section name="盒子模型" id="{3AFEE187-933E-1641-8BD5-86602637657F}">
          <p14:sldIdLst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22"/>
          </p14:sldIdLst>
        </p14:section>
        <p14:section name="CSS的布局" id="{3DB56A97-FF4A-3845-8F95-50B4EB3CF17B}">
          <p14:sldIdLst>
            <p14:sldId id="419"/>
            <p14:sldId id="420"/>
            <p14:sldId id="421"/>
          </p14:sldIdLst>
        </p14:section>
        <p14:section name="JavaScript" id="{AA5DC0A7-8D43-A849-BBBD-122669D38AAA}">
          <p14:sldIdLst>
            <p14:sldId id="394"/>
            <p14:sldId id="424"/>
            <p14:sldId id="395"/>
          </p14:sldIdLst>
        </p14:section>
        <p14:section name="Canvas" id="{43863506-C63F-3E49-95F9-DB782EA2D979}">
          <p14:sldIdLst>
            <p14:sldId id="425"/>
            <p14:sldId id="426"/>
            <p14:sldId id="427"/>
            <p14:sldId id="4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6" autoAdjust="0"/>
    <p:restoredTop sz="95268" autoAdjust="0"/>
  </p:normalViewPr>
  <p:slideViewPr>
    <p:cSldViewPr snapToGrid="0" snapToObjects="1">
      <p:cViewPr>
        <p:scale>
          <a:sx n="130" d="100"/>
          <a:sy n="130" d="100"/>
        </p:scale>
        <p:origin x="119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B3C532-1D52-084F-ADDA-E5588BE0641E}" type="datetimeFigureOut">
              <a:rPr kumimoji="1" lang="zh-CN" altLang="en-US" smtClean="0"/>
              <a:t>2019/1/9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50903-560B-5A4D-8B49-0FB38A3D28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1528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2B09D5-7563-794D-93EF-CDF1A032DCA7}" type="slidenum">
              <a:rPr kumimoji="1" lang="zh-CN" altLang="en-US" smtClean="0"/>
              <a:t>55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0011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-4763" y="2501267"/>
            <a:ext cx="9148763" cy="1386840"/>
          </a:xfrm>
          <a:prstGeom prst="rect">
            <a:avLst/>
          </a:prstGeom>
          <a:gradFill rotWithShape="1">
            <a:gsLst>
              <a:gs pos="0">
                <a:srgbClr val="F7F7F7"/>
              </a:gs>
              <a:gs pos="31000">
                <a:srgbClr val="F7F7F7"/>
              </a:gs>
              <a:gs pos="75000">
                <a:srgbClr val="F7F7F7"/>
              </a:gs>
              <a:gs pos="100000">
                <a:srgbClr val="EFEFEF"/>
              </a:gs>
            </a:gsLst>
            <a:path path="rect">
              <a:fillToRect l="50000" t="129999" r="50000" b="129999"/>
            </a:path>
          </a:gra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AF5C06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宋体" charset="0"/>
              <a:sym typeface="宋体" charset="0"/>
            </a:endParaRPr>
          </a:p>
        </p:txBody>
      </p:sp>
      <p:sp>
        <p:nvSpPr>
          <p:cNvPr id="17" name="矩形 25"/>
          <p:cNvSpPr>
            <a:spLocks noChangeArrowheads="1"/>
          </p:cNvSpPr>
          <p:nvPr/>
        </p:nvSpPr>
        <p:spPr bwMode="auto">
          <a:xfrm>
            <a:off x="3312685" y="6141720"/>
            <a:ext cx="251863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300" b="1" dirty="0">
                <a:latin typeface="黑体" charset="0"/>
                <a:ea typeface="黑体" charset="0"/>
                <a:cs typeface="黑体" charset="0"/>
                <a:sym typeface="黑体" charset="0"/>
              </a:rPr>
              <a:t>实力</a:t>
            </a:r>
            <a:r>
              <a:rPr lang="en-US" altLang="zh-CN" sz="1300" b="1" dirty="0">
                <a:latin typeface="黑体" charset="0"/>
                <a:ea typeface="黑体" charset="0"/>
                <a:cs typeface="黑体" charset="0"/>
                <a:sym typeface="黑体" charset="0"/>
              </a:rPr>
              <a:t>IT</a:t>
            </a:r>
            <a:r>
              <a:rPr lang="zh-CN" altLang="en-US" sz="1300" b="1" dirty="0">
                <a:latin typeface="黑体" charset="0"/>
                <a:ea typeface="黑体" charset="0"/>
                <a:cs typeface="黑体" charset="0"/>
                <a:sym typeface="黑体" charset="0"/>
              </a:rPr>
              <a:t>教育培训 </a:t>
            </a:r>
            <a:r>
              <a:rPr lang="en-US" altLang="zh-CN" sz="1300" b="1" dirty="0">
                <a:latin typeface="黑体" charset="0"/>
                <a:ea typeface="黑体" charset="0"/>
                <a:cs typeface="黑体" charset="0"/>
                <a:sym typeface="黑体" charset="0"/>
              </a:rPr>
              <a:t>www.520it.com</a:t>
            </a:r>
            <a:endParaRPr lang="zh-CN" altLang="en-US" sz="1300" b="1" dirty="0">
              <a:latin typeface="黑体" charset="0"/>
              <a:ea typeface="黑体" charset="0"/>
              <a:cs typeface="黑体" charset="0"/>
              <a:sym typeface="黑体" charset="0"/>
            </a:endParaRPr>
          </a:p>
        </p:txBody>
      </p:sp>
      <p:pic>
        <p:nvPicPr>
          <p:cNvPr id="18" name="图片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" y="659130"/>
            <a:ext cx="7620000" cy="428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19"/>
          <p:cNvSpPr>
            <a:spLocks noChangeArrowheads="1"/>
          </p:cNvSpPr>
          <p:nvPr/>
        </p:nvSpPr>
        <p:spPr bwMode="auto">
          <a:xfrm>
            <a:off x="-4763" y="1"/>
            <a:ext cx="9148763" cy="240031"/>
          </a:xfrm>
          <a:prstGeom prst="rect">
            <a:avLst/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AF5C06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宋体" charset="0"/>
              <a:sym typeface="宋体" charset="0"/>
            </a:endParaRPr>
          </a:p>
        </p:txBody>
      </p:sp>
      <p:pic>
        <p:nvPicPr>
          <p:cNvPr id="22" name="Picture 9" descr="上色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850" y="5644517"/>
            <a:ext cx="1055688" cy="468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746" y="2733323"/>
            <a:ext cx="8498454" cy="9334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746" y="3929785"/>
            <a:ext cx="8498454" cy="7485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1159" y="473831"/>
            <a:ext cx="8128599" cy="82747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Eurostile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9" y="1450976"/>
            <a:ext cx="8128599" cy="4675188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>
              <a:buClrTx/>
              <a:buFont typeface="Wingdings" charset="2"/>
              <a:buChar char="l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Eurostile"/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Eurostile"/>
                <a:cs typeface="Eurostile"/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Eurostile"/>
                <a:cs typeface="Eurostile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Eurostile"/>
                <a:cs typeface="Eurostile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Eurostile"/>
                <a:cs typeface="Eurostile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065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179390" y="188913"/>
            <a:ext cx="8823325" cy="5449888"/>
          </a:xfrm>
          <a:prstGeom prst="roundRect">
            <a:avLst>
              <a:gd name="adj" fmla="val 12843"/>
            </a:avLst>
          </a:prstGeom>
          <a:noFill/>
          <a:ln w="57150" cmpd="thickThin">
            <a:solidFill>
              <a:srgbClr val="33666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Times New Roman" charset="0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1439863" y="4059151"/>
            <a:ext cx="6400800" cy="18415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0800">
            <a:solidFill>
              <a:srgbClr val="CC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019176"/>
            <a:ext cx="7772400" cy="3039976"/>
          </a:xfrm>
          <a:prstGeom prst="rect">
            <a:avLst/>
          </a:prstGeom>
        </p:spPr>
        <p:txBody>
          <a:bodyPr anchor="ctr"/>
          <a:lstStyle>
            <a:lvl1pPr algn="ctr">
              <a:defRPr sz="4800">
                <a:latin typeface="Helvetica"/>
                <a:cs typeface="Helvetica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08521" y="4150809"/>
            <a:ext cx="6400800" cy="163675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rgbClr val="333333"/>
                </a:solidFill>
                <a:latin typeface="Helvetica"/>
                <a:ea typeface="微软雅黑"/>
                <a:cs typeface="Helvetic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 dirty="0"/>
          </a:p>
        </p:txBody>
      </p:sp>
      <p:pic>
        <p:nvPicPr>
          <p:cNvPr id="1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7215" y="345383"/>
            <a:ext cx="1582737" cy="609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5"/>
          <p:cNvSpPr txBox="1">
            <a:spLocks noChangeArrowheads="1"/>
          </p:cNvSpPr>
          <p:nvPr/>
        </p:nvSpPr>
        <p:spPr bwMode="auto">
          <a:xfrm>
            <a:off x="3073400" y="6400800"/>
            <a:ext cx="29972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457200" rtl="0" eaLnBrk="1" latinLnBrk="0" hangingPunct="1">
              <a:defRPr sz="1400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dirty="0"/>
              <a:t>北京传智播客教育 </a:t>
            </a:r>
            <a:r>
              <a:rPr lang="en-US" dirty="0">
                <a:latin typeface="Consolas"/>
                <a:cs typeface="Consolas"/>
              </a:rPr>
              <a:t>www.itcast.cn</a:t>
            </a: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2136775" y="333376"/>
            <a:ext cx="57610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/>
            <a:r>
              <a:rPr lang="en-US" altLang="zh-CN" sz="2400" b="1" dirty="0">
                <a:solidFill>
                  <a:srgbClr val="DF3333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lang="zh-CN" altLang="en-US" sz="2400" b="1" dirty="0">
                <a:solidFill>
                  <a:srgbClr val="DF3333"/>
                </a:solidFill>
                <a:latin typeface="微软雅黑"/>
                <a:ea typeface="微软雅黑"/>
                <a:cs typeface="微软雅黑"/>
              </a:rPr>
              <a:t>高级软件人才实作培训专家</a:t>
            </a:r>
            <a:r>
              <a:rPr lang="en-US" altLang="zh-CN" sz="2400" b="1" dirty="0">
                <a:solidFill>
                  <a:srgbClr val="DF3333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>
            <a:off x="457200" y="1019176"/>
            <a:ext cx="8229600" cy="0"/>
          </a:xfrm>
          <a:prstGeom prst="line">
            <a:avLst/>
          </a:prstGeom>
          <a:noFill/>
          <a:ln w="38100">
            <a:solidFill>
              <a:srgbClr val="33666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日期占位符 19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ACDB0C32-7029-2949-BCD8-6FCD87A2D7B2}" type="datetimeFigureOut">
              <a:rPr kumimoji="1" lang="zh-CN" altLang="en-US" smtClean="0"/>
              <a:t>2019/1/9</a:t>
            </a:fld>
            <a:endParaRPr kumimoji="1"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22" name="幻灯片编号占位符 21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93A1E051-C4FA-934E-9C28-5B7C8506EA5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846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-9524"/>
            <a:ext cx="9167813" cy="6869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12" r="786" b="49559"/>
          <a:stretch>
            <a:fillRect/>
          </a:stretch>
        </p:blipFill>
        <p:spPr bwMode="auto">
          <a:xfrm>
            <a:off x="419104" y="4509137"/>
            <a:ext cx="7559675" cy="159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9"/>
          <p:cNvSpPr>
            <a:spLocks noChangeArrowheads="1"/>
          </p:cNvSpPr>
          <p:nvPr/>
        </p:nvSpPr>
        <p:spPr bwMode="auto">
          <a:xfrm>
            <a:off x="-4763" y="1289686"/>
            <a:ext cx="9148763" cy="20954"/>
          </a:xfrm>
          <a:prstGeom prst="rect">
            <a:avLst/>
          </a:prstGeom>
          <a:solidFill>
            <a:srgbClr val="EAEAEA">
              <a:alpha val="32156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AF5C06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宋体" charset="0"/>
              <a:sym typeface="宋体" charset="0"/>
            </a:endParaRPr>
          </a:p>
        </p:txBody>
      </p:sp>
      <p:pic>
        <p:nvPicPr>
          <p:cNvPr id="24" name="Picture 8" descr="上色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4" y="6109337"/>
            <a:ext cx="1057275" cy="468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5" name="矩形 25"/>
          <p:cNvSpPr>
            <a:spLocks noChangeArrowheads="1"/>
          </p:cNvSpPr>
          <p:nvPr/>
        </p:nvSpPr>
        <p:spPr bwMode="auto">
          <a:xfrm>
            <a:off x="3960385" y="6278880"/>
            <a:ext cx="251863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300" b="1" dirty="0">
                <a:latin typeface="黑体" charset="0"/>
                <a:ea typeface="黑体" charset="0"/>
                <a:cs typeface="黑体" charset="0"/>
                <a:sym typeface="黑体" charset="0"/>
              </a:rPr>
              <a:t>实力</a:t>
            </a:r>
            <a:r>
              <a:rPr lang="en-US" altLang="zh-CN" sz="1300" b="1" dirty="0">
                <a:latin typeface="黑体" charset="0"/>
                <a:ea typeface="黑体" charset="0"/>
                <a:cs typeface="黑体" charset="0"/>
                <a:sym typeface="黑体" charset="0"/>
              </a:rPr>
              <a:t>IT</a:t>
            </a:r>
            <a:r>
              <a:rPr lang="zh-CN" altLang="en-US" sz="1300" b="1" dirty="0">
                <a:latin typeface="黑体" charset="0"/>
                <a:ea typeface="黑体" charset="0"/>
                <a:cs typeface="黑体" charset="0"/>
                <a:sym typeface="黑体" charset="0"/>
              </a:rPr>
              <a:t>教育培训 </a:t>
            </a:r>
            <a:r>
              <a:rPr lang="en-US" altLang="zh-CN" sz="1300" b="1" dirty="0">
                <a:latin typeface="黑体" charset="0"/>
                <a:ea typeface="黑体" charset="0"/>
                <a:cs typeface="黑体" charset="0"/>
                <a:sym typeface="黑体" charset="0"/>
              </a:rPr>
              <a:t>www.520it.com</a:t>
            </a:r>
            <a:endParaRPr lang="zh-CN" altLang="en-US" sz="1300" b="1" dirty="0">
              <a:latin typeface="黑体" charset="0"/>
              <a:ea typeface="黑体" charset="0"/>
              <a:cs typeface="黑体" charset="0"/>
              <a:sym typeface="黑体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3200" b="0" kern="1200">
          <a:solidFill>
            <a:schemeClr val="accent1"/>
          </a:solidFill>
          <a:latin typeface="Eurostile"/>
          <a:ea typeface="微软雅黑"/>
          <a:cs typeface="Eurostile"/>
        </a:defRPr>
      </a:lvl1pPr>
    </p:titleStyle>
    <p:bodyStyle>
      <a:lvl1pPr marL="228600" indent="-228600" algn="l" defTabSz="914400" rtl="0" eaLnBrk="1" latinLnBrk="0" hangingPunct="1">
        <a:spcBef>
          <a:spcPts val="8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Eurostile"/>
          <a:ea typeface="华文细黑"/>
          <a:cs typeface="Eurostile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Eurostile"/>
          <a:ea typeface="华文细黑"/>
          <a:cs typeface="Eurostile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Eurostile"/>
          <a:ea typeface="华文细黑"/>
          <a:cs typeface="Eurostile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Eurostile"/>
          <a:ea typeface="华文细黑"/>
          <a:cs typeface="Eurostile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Eurostile"/>
          <a:ea typeface="华文细黑"/>
          <a:cs typeface="Eurostile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Eurostile"/>
          <a:ea typeface="微软雅黑"/>
          <a:cs typeface="Eurostile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Eurostile"/>
          <a:ea typeface="微软雅黑"/>
          <a:cs typeface="Eurostile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Eurostile"/>
          <a:ea typeface="微软雅黑"/>
          <a:cs typeface="Eurostile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>
          <a:solidFill>
            <a:schemeClr val="tx1">
              <a:lumMod val="65000"/>
              <a:lumOff val="35000"/>
            </a:schemeClr>
          </a:solidFill>
          <a:latin typeface="Eurostile"/>
          <a:ea typeface="微软雅黑"/>
          <a:cs typeface="Eurostile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html5test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.com.cn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HTML5</a:t>
            </a:r>
            <a:r>
              <a:rPr kumimoji="1" lang="zh-CN" altLang="en-US" dirty="0"/>
              <a:t>+</a:t>
            </a:r>
            <a:r>
              <a:rPr kumimoji="1" lang="en-US" altLang="zh-CN" dirty="0"/>
              <a:t>CSS3</a:t>
            </a:r>
            <a:endParaRPr kumimoji="1"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iOS</a:t>
            </a:r>
            <a:r>
              <a:rPr kumimoji="1" lang="zh-CN" altLang="en-US" dirty="0"/>
              <a:t>学院</a:t>
            </a:r>
            <a:r>
              <a:rPr kumimoji="1" lang="en-US" altLang="zh-CN" dirty="0"/>
              <a:t>  </a:t>
            </a:r>
            <a:r>
              <a:rPr kumimoji="1" lang="zh-CN" altLang="en-US" dirty="0"/>
              <a:t>叶建华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0249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78346" y="454161"/>
            <a:ext cx="8128599" cy="827471"/>
          </a:xfrm>
        </p:spPr>
        <p:txBody>
          <a:bodyPr/>
          <a:lstStyle/>
          <a:p>
            <a:r>
              <a:rPr kumimoji="1" lang="en-US" altLang="zh-CN" dirty="0"/>
              <a:t>HTML5</a:t>
            </a:r>
            <a:r>
              <a:rPr kumimoji="1" lang="zh-CN" altLang="en-US" dirty="0"/>
              <a:t>前言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299688" y="1360907"/>
            <a:ext cx="8633819" cy="5003032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p"/>
            </a:pPr>
            <a:r>
              <a:rPr kumimoji="1" lang="zh-CN" altLang="en-US" sz="1900" b="1" dirty="0">
                <a:solidFill>
                  <a:srgbClr val="0000FF"/>
                </a:solidFill>
              </a:rPr>
              <a:t>什么是</a:t>
            </a:r>
            <a:r>
              <a:rPr kumimoji="1" lang="en-US" altLang="zh-CN" sz="1900" b="1" dirty="0">
                <a:solidFill>
                  <a:srgbClr val="0000FF"/>
                </a:solidFill>
              </a:rPr>
              <a:t>HTML5</a:t>
            </a:r>
          </a:p>
          <a:p>
            <a:pPr marL="0" indent="0">
              <a:buNone/>
            </a:pPr>
            <a:r>
              <a:rPr kumimoji="1" lang="en-US" altLang="zh-CN" sz="1900" dirty="0"/>
              <a:t>1&gt; 2014</a:t>
            </a:r>
            <a:r>
              <a:rPr kumimoji="1" lang="zh-CN" altLang="en-US" sz="1900" dirty="0"/>
              <a:t>年才定制完</a:t>
            </a:r>
            <a:r>
              <a:rPr kumimoji="1" lang="en-US" altLang="zh-CN" sz="1900" dirty="0"/>
              <a:t>HTML5</a:t>
            </a:r>
            <a:r>
              <a:rPr kumimoji="1" lang="zh-CN" altLang="en-US" sz="1900" dirty="0"/>
              <a:t>的标准，历时</a:t>
            </a:r>
            <a:r>
              <a:rPr kumimoji="1" lang="en-US" altLang="zh-CN" sz="1900" dirty="0"/>
              <a:t>8</a:t>
            </a:r>
            <a:r>
              <a:rPr kumimoji="1" lang="zh-CN" altLang="en-US" sz="1900" dirty="0"/>
              <a:t>年</a:t>
            </a:r>
          </a:p>
          <a:p>
            <a:pPr marL="0" indent="0">
              <a:buNone/>
            </a:pPr>
            <a:r>
              <a:rPr kumimoji="1" lang="en-US" altLang="zh-CN" sz="1900" dirty="0"/>
              <a:t>2&gt; </a:t>
            </a:r>
            <a:r>
              <a:rPr kumimoji="1" lang="zh-CN" altLang="en-US" sz="1900" dirty="0"/>
              <a:t>移动先行</a:t>
            </a:r>
            <a:endParaRPr kumimoji="1" lang="en-US" altLang="zh-CN" sz="1900" dirty="0"/>
          </a:p>
          <a:p>
            <a:pPr marL="0" indent="0">
              <a:buNone/>
            </a:pPr>
            <a:endParaRPr kumimoji="1" lang="en-US" altLang="en-US" sz="1800" dirty="0"/>
          </a:p>
          <a:p>
            <a:pPr>
              <a:buFont typeface="Wingdings" charset="2"/>
              <a:buChar char="p"/>
            </a:pPr>
            <a:r>
              <a:rPr kumimoji="1" lang="zh-CN" altLang="en-US" sz="1900" b="1" dirty="0">
                <a:solidFill>
                  <a:srgbClr val="0000FF"/>
                </a:solidFill>
              </a:rPr>
              <a:t>为什么要用</a:t>
            </a:r>
            <a:r>
              <a:rPr kumimoji="1" lang="en-US" altLang="zh-CN" sz="1900" b="1" dirty="0">
                <a:solidFill>
                  <a:srgbClr val="0000FF"/>
                </a:solidFill>
              </a:rPr>
              <a:t>HTML5</a:t>
            </a:r>
          </a:p>
          <a:p>
            <a:pPr marL="0" indent="0">
              <a:buNone/>
            </a:pPr>
            <a:r>
              <a:rPr kumimoji="1" lang="en-US" altLang="zh-CN" sz="1900" dirty="0"/>
              <a:t>1&gt; </a:t>
            </a:r>
            <a:r>
              <a:rPr kumimoji="1" lang="zh-CN" altLang="en-US" sz="1900" dirty="0"/>
              <a:t>跨平台</a:t>
            </a:r>
            <a:endParaRPr kumimoji="1" lang="en-US" altLang="zh-CN" sz="1900" dirty="0"/>
          </a:p>
          <a:p>
            <a:pPr marL="0" indent="0">
              <a:buNone/>
            </a:pPr>
            <a:r>
              <a:rPr kumimoji="1" lang="zh-CN" altLang="zh-CN" sz="1900" dirty="0"/>
              <a:t> </a:t>
            </a:r>
            <a:r>
              <a:rPr kumimoji="1" lang="zh-CN" altLang="en-US" sz="1900" dirty="0"/>
              <a:t>   利用</a:t>
            </a:r>
            <a:r>
              <a:rPr kumimoji="1" lang="en-US" altLang="zh-CN" sz="1900" dirty="0"/>
              <a:t>HTML5</a:t>
            </a:r>
            <a:r>
              <a:rPr kumimoji="1" lang="zh-CN" altLang="en-US" sz="1900" dirty="0"/>
              <a:t>编写的</a:t>
            </a:r>
            <a:r>
              <a:rPr kumimoji="1" lang="en-US" altLang="zh-CN" sz="1900" dirty="0"/>
              <a:t>UI</a:t>
            </a:r>
            <a:r>
              <a:rPr kumimoji="1" lang="zh-CN" altLang="en-US" sz="1900" dirty="0"/>
              <a:t>界面能运行在所有拥有浏览器的平台</a:t>
            </a:r>
          </a:p>
          <a:p>
            <a:pPr marL="0" indent="0">
              <a:buNone/>
            </a:pPr>
            <a:r>
              <a:rPr kumimoji="1" lang="zh-CN" altLang="en-US" sz="1900" dirty="0"/>
              <a:t> </a:t>
            </a:r>
            <a:r>
              <a:rPr kumimoji="1" lang="en-US" altLang="zh-CN" sz="1900" dirty="0"/>
              <a:t>2&gt; HTML5</a:t>
            </a:r>
            <a:r>
              <a:rPr kumimoji="1" lang="zh-CN" altLang="en-US" sz="1900" dirty="0"/>
              <a:t>的运行平台：浏览器</a:t>
            </a:r>
          </a:p>
          <a:p>
            <a:pPr marL="0" indent="0">
              <a:buNone/>
            </a:pPr>
            <a:r>
              <a:rPr kumimoji="1" lang="zh-CN" altLang="en-US" sz="1900" dirty="0"/>
              <a:t> </a:t>
            </a:r>
            <a:r>
              <a:rPr kumimoji="1" lang="en-US" altLang="zh-CN" sz="1900" dirty="0"/>
              <a:t>3&gt; </a:t>
            </a:r>
            <a:r>
              <a:rPr kumimoji="1" lang="zh-CN" altLang="en-US" sz="1900" dirty="0"/>
              <a:t>但是</a:t>
            </a:r>
            <a:r>
              <a:rPr kumimoji="1" lang="en-US" altLang="zh-CN" sz="1900" dirty="0"/>
              <a:t>HTML5</a:t>
            </a:r>
            <a:r>
              <a:rPr kumimoji="1" lang="zh-CN" altLang="en-US" sz="1900" dirty="0"/>
              <a:t>不能完成一些特定的功能，比如：拍照</a:t>
            </a:r>
            <a:r>
              <a:rPr kumimoji="1" lang="en-US" altLang="zh-CN" sz="1900" dirty="0"/>
              <a:t>(ImagePickerController)</a:t>
            </a:r>
            <a:r>
              <a:rPr kumimoji="1" lang="zh-CN" altLang="en-US" sz="1900" dirty="0"/>
              <a:t>、访问相册</a:t>
            </a:r>
            <a:r>
              <a:rPr kumimoji="1" lang="en-US" altLang="zh-CN" sz="1900" dirty="0"/>
              <a:t>....</a:t>
            </a:r>
          </a:p>
        </p:txBody>
      </p:sp>
    </p:spTree>
    <p:extLst>
      <p:ext uri="{BB962C8B-B14F-4D97-AF65-F5344CB8AC3E}">
        <p14:creationId xmlns:p14="http://schemas.microsoft.com/office/powerpoint/2010/main" val="122004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78346" y="454161"/>
            <a:ext cx="8128599" cy="827471"/>
          </a:xfrm>
        </p:spPr>
        <p:txBody>
          <a:bodyPr/>
          <a:lstStyle/>
          <a:p>
            <a:r>
              <a:rPr kumimoji="1" lang="en-US" altLang="zh-CN" dirty="0"/>
              <a:t>HTML5</a:t>
            </a:r>
            <a:r>
              <a:rPr kumimoji="1" lang="zh-CN" altLang="en-US" dirty="0"/>
              <a:t>前言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299688" y="1360907"/>
            <a:ext cx="8633819" cy="5003032"/>
          </a:xfrm>
        </p:spPr>
        <p:txBody>
          <a:bodyPr>
            <a:normAutofit lnSpcReduction="10000"/>
          </a:bodyPr>
          <a:lstStyle/>
          <a:p>
            <a:pPr>
              <a:buFont typeface="Wingdings" charset="2"/>
              <a:buChar char="p"/>
            </a:pPr>
            <a:r>
              <a:rPr kumimoji="1" lang="zh-CN" altLang="en-US" b="1" dirty="0">
                <a:solidFill>
                  <a:srgbClr val="0000FF"/>
                </a:solidFill>
              </a:rPr>
              <a:t>如何使用</a:t>
            </a:r>
            <a:r>
              <a:rPr kumimoji="1" lang="en-US" altLang="zh-CN" b="1" dirty="0">
                <a:solidFill>
                  <a:srgbClr val="0000FF"/>
                </a:solidFill>
              </a:rPr>
              <a:t>HTML5</a:t>
            </a:r>
          </a:p>
          <a:p>
            <a:pPr marL="0" indent="0">
              <a:buNone/>
            </a:pPr>
            <a:r>
              <a:rPr kumimoji="1" lang="en-US" altLang="zh-CN" dirty="0"/>
              <a:t>1&gt; </a:t>
            </a:r>
            <a:r>
              <a:rPr kumimoji="1" lang="zh-CN" altLang="en-US" dirty="0"/>
              <a:t>自己编写大量的</a:t>
            </a:r>
            <a:r>
              <a:rPr kumimoji="1" lang="en-US" altLang="zh-CN" dirty="0"/>
              <a:t>HTML5</a:t>
            </a:r>
            <a:r>
              <a:rPr kumimoji="1" lang="zh-CN" altLang="en-US" dirty="0"/>
              <a:t>代码</a:t>
            </a:r>
          </a:p>
          <a:p>
            <a:pPr marL="0" indent="0">
              <a:buNone/>
            </a:pPr>
            <a:r>
              <a:rPr kumimoji="1" lang="en-US" altLang="zh-CN" dirty="0"/>
              <a:t>2&gt; </a:t>
            </a:r>
            <a:r>
              <a:rPr kumimoji="1" lang="zh-CN" altLang="en-US" dirty="0"/>
              <a:t>使用现成的</a:t>
            </a:r>
            <a:r>
              <a:rPr kumimoji="1" lang="en-US" altLang="zh-CN" dirty="0"/>
              <a:t>HTML5</a:t>
            </a:r>
            <a:r>
              <a:rPr kumimoji="1" lang="zh-CN" altLang="en-US" dirty="0"/>
              <a:t>框架</a:t>
            </a:r>
            <a:endParaRPr kumimoji="1" lang="en-US" altLang="zh-CN" dirty="0"/>
          </a:p>
          <a:p>
            <a:pPr lvl="2"/>
            <a:r>
              <a:rPr kumimoji="1" lang="en-US" altLang="zh-CN" sz="2000" dirty="0">
                <a:solidFill>
                  <a:srgbClr val="FF0000"/>
                </a:solidFill>
              </a:rPr>
              <a:t>sencha-touch</a:t>
            </a:r>
          </a:p>
          <a:p>
            <a:pPr lvl="2"/>
            <a:r>
              <a:rPr kumimoji="1" lang="en-US" altLang="zh-CN" sz="2000" dirty="0">
                <a:solidFill>
                  <a:srgbClr val="FF0000"/>
                </a:solidFill>
              </a:rPr>
              <a:t>phoneGap</a:t>
            </a:r>
          </a:p>
          <a:p>
            <a:pPr lvl="2"/>
            <a:r>
              <a:rPr kumimoji="1" lang="en-US" altLang="en-US" sz="2000" dirty="0">
                <a:solidFill>
                  <a:srgbClr val="FF0000"/>
                </a:solidFill>
              </a:rPr>
              <a:t>jQuery</a:t>
            </a:r>
            <a:r>
              <a:rPr kumimoji="1" lang="zh-CN" altLang="zh-CN" sz="2000" dirty="0">
                <a:solidFill>
                  <a:srgbClr val="FF0000"/>
                </a:solidFill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</a:rPr>
              <a:t>mobile</a:t>
            </a:r>
          </a:p>
          <a:p>
            <a:pPr lvl="2"/>
            <a:r>
              <a:rPr kumimoji="1" lang="en-US" altLang="en-US" sz="2000" dirty="0">
                <a:solidFill>
                  <a:srgbClr val="FF0000"/>
                </a:solidFill>
              </a:rPr>
              <a:t>Bootstrap</a:t>
            </a:r>
          </a:p>
          <a:p>
            <a:pPr marL="0" indent="0">
              <a:buNone/>
            </a:pPr>
            <a:endParaRPr kumimoji="1" lang="en-US" altLang="en-US" dirty="0"/>
          </a:p>
          <a:p>
            <a:pPr>
              <a:buFont typeface="Wingdings" charset="2"/>
              <a:buChar char="p"/>
            </a:pPr>
            <a:r>
              <a:rPr kumimoji="1" lang="en-US" altLang="en-US" b="1" dirty="0">
                <a:solidFill>
                  <a:srgbClr val="0000FF"/>
                </a:solidFill>
              </a:rPr>
              <a:t>手机APP的开发模式</a:t>
            </a:r>
            <a:endParaRPr kumimoji="1" lang="en-US" altLang="zh-CN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kumimoji="1" lang="en-US" altLang="zh-CN" dirty="0"/>
              <a:t>1&gt; </a:t>
            </a:r>
            <a:r>
              <a:rPr kumimoji="1" lang="zh-CN" altLang="en-US" dirty="0"/>
              <a:t>原生（纯</a:t>
            </a:r>
            <a:r>
              <a:rPr kumimoji="1" lang="en-US" altLang="zh-CN" dirty="0"/>
              <a:t>OC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2&gt; </a:t>
            </a:r>
            <a:r>
              <a:rPr kumimoji="1" lang="zh-CN" altLang="en-US" dirty="0"/>
              <a:t>纯</a:t>
            </a:r>
            <a:r>
              <a:rPr kumimoji="1" lang="en-US" altLang="zh-CN" dirty="0"/>
              <a:t>HTML5</a:t>
            </a:r>
            <a:endParaRPr kumimoji="1" lang="zh-CN" altLang="en-US" dirty="0"/>
          </a:p>
          <a:p>
            <a:pPr marL="0" indent="0">
              <a:buNone/>
            </a:pPr>
            <a:r>
              <a:rPr kumimoji="1" lang="en-US" altLang="zh-CN" dirty="0"/>
              <a:t>3&gt;</a:t>
            </a:r>
            <a:r>
              <a:rPr kumimoji="1" lang="zh-CN" altLang="en-US" dirty="0"/>
              <a:t> 原生</a:t>
            </a:r>
            <a:r>
              <a:rPr kumimoji="1" lang="en-US" altLang="zh-CN" dirty="0"/>
              <a:t>+HTML5</a:t>
            </a:r>
          </a:p>
          <a:p>
            <a:pPr marL="0" indent="0">
              <a:buNone/>
            </a:pPr>
            <a:r>
              <a:rPr kumimoji="1" lang="zh-CN" altLang="zh-CN" dirty="0"/>
              <a:t>4</a:t>
            </a:r>
            <a:r>
              <a:rPr kumimoji="1" lang="en-US" altLang="zh-CN" dirty="0"/>
              <a:t>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Native</a:t>
            </a:r>
          </a:p>
        </p:txBody>
      </p:sp>
    </p:spTree>
    <p:extLst>
      <p:ext uri="{BB962C8B-B14F-4D97-AF65-F5344CB8AC3E}">
        <p14:creationId xmlns:p14="http://schemas.microsoft.com/office/powerpoint/2010/main" val="317375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78346" y="454161"/>
            <a:ext cx="8128599" cy="827471"/>
          </a:xfrm>
        </p:spPr>
        <p:txBody>
          <a:bodyPr/>
          <a:lstStyle/>
          <a:p>
            <a:r>
              <a:rPr kumimoji="1" lang="en-US" altLang="zh-CN" dirty="0"/>
              <a:t>HTML5</a:t>
            </a:r>
            <a:r>
              <a:rPr kumimoji="1" lang="zh-CN" altLang="en-US" dirty="0"/>
              <a:t>前言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299688" y="1360907"/>
            <a:ext cx="8633819" cy="5003032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p"/>
            </a:pPr>
            <a:r>
              <a:rPr kumimoji="1" lang="zh-CN" altLang="en-US" b="1" dirty="0">
                <a:solidFill>
                  <a:srgbClr val="0000FF"/>
                </a:solidFill>
              </a:rPr>
              <a:t>为什么要学习</a:t>
            </a:r>
            <a:r>
              <a:rPr kumimoji="1" lang="en-US" altLang="zh-CN" b="1" dirty="0">
                <a:solidFill>
                  <a:srgbClr val="0000FF"/>
                </a:solidFill>
              </a:rPr>
              <a:t>HTML5</a:t>
            </a:r>
          </a:p>
          <a:p>
            <a:pPr marL="0" indent="0">
              <a:buNone/>
            </a:pPr>
            <a:r>
              <a:rPr kumimoji="1" lang="en-US" altLang="zh-CN" dirty="0"/>
              <a:t>1&gt; </a:t>
            </a:r>
            <a:r>
              <a:rPr kumimoji="1" lang="zh-CN" altLang="en-US" dirty="0"/>
              <a:t>目前的一种趋势：大前端时代</a:t>
            </a:r>
          </a:p>
          <a:p>
            <a:pPr marL="0" indent="0">
              <a:buNone/>
            </a:pPr>
            <a:r>
              <a:rPr kumimoji="1" lang="en-US" altLang="zh-CN" dirty="0"/>
              <a:t>2&gt; </a:t>
            </a:r>
            <a:r>
              <a:rPr kumimoji="1" lang="zh-CN" altLang="en-US" dirty="0"/>
              <a:t>增加面试、开发竞争力</a:t>
            </a:r>
            <a:endParaRPr kumimoji="1" lang="en-US" altLang="zh-CN" dirty="0"/>
          </a:p>
          <a:p>
            <a:r>
              <a:rPr kumimoji="1" lang="en-US" altLang="zh-CN" dirty="0"/>
              <a:t>Android</a:t>
            </a:r>
            <a:r>
              <a:rPr kumimoji="1" lang="zh-CN" altLang="en-US" dirty="0"/>
              <a:t>程序员  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、服务器、</a:t>
            </a:r>
            <a:r>
              <a:rPr kumimoji="1" lang="en-US" altLang="zh-CN" dirty="0"/>
              <a:t>HTML5</a:t>
            </a:r>
          </a:p>
          <a:p>
            <a:pPr marL="0" indent="0">
              <a:buNone/>
            </a:pPr>
            <a:endParaRPr kumimoji="1" lang="en-US" altLang="en-US" dirty="0"/>
          </a:p>
          <a:p>
            <a:pPr>
              <a:buFont typeface="Wingdings" charset="2"/>
              <a:buChar char="p"/>
            </a:pPr>
            <a:r>
              <a:rPr kumimoji="1" lang="en-US" altLang="en-US" b="1" dirty="0">
                <a:solidFill>
                  <a:srgbClr val="0000FF"/>
                </a:solidFill>
              </a:rPr>
              <a:t>公司职位的划分</a:t>
            </a:r>
            <a:endParaRPr kumimoji="1" lang="en-US" altLang="zh-CN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kumimoji="1" lang="en-US" altLang="zh-CN" dirty="0"/>
              <a:t>1&gt; </a:t>
            </a:r>
            <a:r>
              <a:rPr kumimoji="1" lang="zh-CN" altLang="en-US" dirty="0"/>
              <a:t>平面设计师  </a:t>
            </a:r>
            <a:r>
              <a:rPr kumimoji="1" lang="zh-CN" altLang="en-US" dirty="0">
                <a:solidFill>
                  <a:srgbClr val="FF0000"/>
                </a:solidFill>
              </a:rPr>
              <a:t>作图、切图、</a:t>
            </a:r>
            <a:r>
              <a:rPr kumimoji="1" lang="en-US" altLang="zh-CN" dirty="0">
                <a:solidFill>
                  <a:srgbClr val="FF0000"/>
                </a:solidFill>
              </a:rPr>
              <a:t>HTML</a:t>
            </a:r>
            <a:r>
              <a:rPr kumimoji="1" lang="zh-CN" altLang="en-US" dirty="0">
                <a:solidFill>
                  <a:srgbClr val="FF0000"/>
                </a:solidFill>
              </a:rPr>
              <a:t>、</a:t>
            </a:r>
            <a:r>
              <a:rPr kumimoji="1" lang="en-US" altLang="zh-CN" dirty="0">
                <a:solidFill>
                  <a:srgbClr val="FF0000"/>
                </a:solidFill>
              </a:rPr>
              <a:t>CSS</a:t>
            </a:r>
          </a:p>
          <a:p>
            <a:pPr marL="0" indent="0">
              <a:buNone/>
            </a:pPr>
            <a:r>
              <a:rPr kumimoji="1" lang="en-US" altLang="zh-CN" dirty="0"/>
              <a:t>2&gt; </a:t>
            </a:r>
            <a:r>
              <a:rPr kumimoji="1" lang="zh-CN" altLang="en-US" dirty="0"/>
              <a:t>前端工程师  </a:t>
            </a:r>
            <a:r>
              <a:rPr kumimoji="1" lang="en-US" altLang="zh-CN" dirty="0">
                <a:solidFill>
                  <a:srgbClr val="FF0000"/>
                </a:solidFill>
              </a:rPr>
              <a:t>HTML</a:t>
            </a:r>
            <a:r>
              <a:rPr kumimoji="1" lang="zh-CN" altLang="en-US" dirty="0">
                <a:solidFill>
                  <a:srgbClr val="FF0000"/>
                </a:solidFill>
              </a:rPr>
              <a:t>、</a:t>
            </a:r>
            <a:r>
              <a:rPr kumimoji="1" lang="en-US" altLang="zh-CN" dirty="0">
                <a:solidFill>
                  <a:srgbClr val="FF0000"/>
                </a:solidFill>
              </a:rPr>
              <a:t>CSS</a:t>
            </a:r>
            <a:r>
              <a:rPr kumimoji="1" lang="zh-CN" altLang="en-US" dirty="0">
                <a:solidFill>
                  <a:srgbClr val="FF0000"/>
                </a:solidFill>
              </a:rPr>
              <a:t>、</a:t>
            </a:r>
            <a:r>
              <a:rPr kumimoji="1" lang="en-US" altLang="zh-CN" dirty="0">
                <a:solidFill>
                  <a:srgbClr val="FF0000"/>
                </a:solidFill>
              </a:rPr>
              <a:t>Javascript</a:t>
            </a:r>
            <a:r>
              <a:rPr kumimoji="1" lang="zh-CN" altLang="en-US" dirty="0">
                <a:solidFill>
                  <a:srgbClr val="FF0000"/>
                </a:solidFill>
              </a:rPr>
              <a:t>、模板技术</a:t>
            </a:r>
          </a:p>
          <a:p>
            <a:pPr marL="0" indent="0">
              <a:buNone/>
            </a:pPr>
            <a:r>
              <a:rPr kumimoji="1" lang="en-US" altLang="zh-CN" dirty="0"/>
              <a:t>3&gt;</a:t>
            </a:r>
            <a:r>
              <a:rPr kumimoji="1" lang="zh-CN" altLang="en-US" dirty="0"/>
              <a:t> 后台工程师  </a:t>
            </a:r>
            <a:r>
              <a:rPr kumimoji="1" lang="zh-CN" altLang="en-US" dirty="0">
                <a:solidFill>
                  <a:srgbClr val="FF0000"/>
                </a:solidFill>
              </a:rPr>
              <a:t>服务器（</a:t>
            </a:r>
            <a:r>
              <a:rPr kumimoji="1" lang="en-US" altLang="zh-CN" dirty="0">
                <a:solidFill>
                  <a:srgbClr val="FF0000"/>
                </a:solidFill>
              </a:rPr>
              <a:t>Java</a:t>
            </a:r>
            <a:r>
              <a:rPr kumimoji="1" lang="zh-CN" altLang="en-US" dirty="0">
                <a:solidFill>
                  <a:srgbClr val="FF0000"/>
                </a:solidFill>
              </a:rPr>
              <a:t>、</a:t>
            </a:r>
            <a:r>
              <a:rPr kumimoji="1" lang="en-US" altLang="zh-CN" dirty="0">
                <a:solidFill>
                  <a:srgbClr val="FF0000"/>
                </a:solidFill>
              </a:rPr>
              <a:t>.Net</a:t>
            </a:r>
            <a:r>
              <a:rPr kumimoji="1" lang="zh-CN" altLang="en-US" dirty="0">
                <a:solidFill>
                  <a:srgbClr val="FF0000"/>
                </a:solidFill>
              </a:rPr>
              <a:t>、</a:t>
            </a:r>
            <a:r>
              <a:rPr kumimoji="1" lang="en-US" altLang="zh-CN" dirty="0">
                <a:solidFill>
                  <a:srgbClr val="FF0000"/>
                </a:solidFill>
              </a:rPr>
              <a:t>PHP</a:t>
            </a:r>
            <a:r>
              <a:rPr kumimoji="1" lang="zh-CN" altLang="en-US" dirty="0">
                <a:solidFill>
                  <a:srgbClr val="FF0000"/>
                </a:solidFill>
              </a:rPr>
              <a:t>）、数据库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zh-CN" altLang="zh-CN" dirty="0"/>
              <a:t>4&gt;</a:t>
            </a:r>
            <a:r>
              <a:rPr kumimoji="1" lang="zh-CN" altLang="en-US" dirty="0"/>
              <a:t> 移动工程师（</a:t>
            </a:r>
            <a:r>
              <a:rPr kumimoji="1" lang="en-US" altLang="zh-CN" dirty="0"/>
              <a:t>iOS</a:t>
            </a:r>
            <a:r>
              <a:rPr kumimoji="1" lang="zh-CN" altLang="zh-CN" dirty="0"/>
              <a:t>/</a:t>
            </a:r>
            <a:r>
              <a:rPr kumimoji="1" lang="en-US" altLang="zh-CN" dirty="0"/>
              <a:t>android</a:t>
            </a:r>
            <a:r>
              <a:rPr kumimoji="1" lang="zh-CN" altLang="en-US" dirty="0"/>
              <a:t>）</a:t>
            </a:r>
            <a:r>
              <a:rPr kumimoji="1" lang="zh-CN" altLang="en-US" dirty="0">
                <a:solidFill>
                  <a:srgbClr val="FF0000"/>
                </a:solidFill>
              </a:rPr>
              <a:t>手机</a:t>
            </a:r>
            <a:r>
              <a:rPr kumimoji="1" lang="en-US" altLang="zh-CN" dirty="0">
                <a:solidFill>
                  <a:srgbClr val="FF0000"/>
                </a:solidFill>
              </a:rPr>
              <a:t>UI</a:t>
            </a:r>
            <a:r>
              <a:rPr kumimoji="1" lang="zh-CN" altLang="en-US" dirty="0">
                <a:solidFill>
                  <a:srgbClr val="FF0000"/>
                </a:solidFill>
              </a:rPr>
              <a:t>界面（</a:t>
            </a:r>
            <a:r>
              <a:rPr kumimoji="1" lang="en-US" altLang="zh-CN" dirty="0">
                <a:solidFill>
                  <a:srgbClr val="FF0000"/>
                </a:solidFill>
              </a:rPr>
              <a:t>OC</a:t>
            </a:r>
            <a:r>
              <a:rPr kumimoji="1" lang="zh-CN" altLang="en-US" dirty="0">
                <a:solidFill>
                  <a:srgbClr val="FF0000"/>
                </a:solidFill>
              </a:rPr>
              <a:t>、</a:t>
            </a:r>
            <a:r>
              <a:rPr kumimoji="1" lang="en-US" altLang="zh-CN" dirty="0">
                <a:solidFill>
                  <a:srgbClr val="FF0000"/>
                </a:solidFill>
              </a:rPr>
              <a:t>HTML5</a:t>
            </a:r>
            <a:r>
              <a:rPr kumimoji="1" lang="zh-CN" altLang="en-US" dirty="0">
                <a:solidFill>
                  <a:srgbClr val="FF0000"/>
                </a:solidFill>
              </a:rPr>
              <a:t>）、跟服务器交互  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kumimoji="1" lang="en-US" altLang="zh-CN" sz="1900" dirty="0"/>
          </a:p>
        </p:txBody>
      </p:sp>
    </p:spTree>
    <p:extLst>
      <p:ext uri="{BB962C8B-B14F-4D97-AF65-F5344CB8AC3E}">
        <p14:creationId xmlns:p14="http://schemas.microsoft.com/office/powerpoint/2010/main" val="157246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HTML5</a:t>
            </a:r>
            <a:r>
              <a:rPr kumimoji="1" lang="zh-CN" altLang="en-US" dirty="0"/>
              <a:t>前言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299688" y="1360907"/>
            <a:ext cx="8633819" cy="5003032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p"/>
            </a:pPr>
            <a:r>
              <a:rPr kumimoji="1" lang="zh-CN" altLang="en-US" b="1" dirty="0">
                <a:solidFill>
                  <a:srgbClr val="0000FF"/>
                </a:solidFill>
              </a:rPr>
              <a:t>开发工具</a:t>
            </a:r>
            <a:endParaRPr kumimoji="1" lang="en-US" altLang="zh-CN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kumimoji="1" lang="en-US" altLang="zh-CN" dirty="0"/>
              <a:t>1&gt; Android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 </a:t>
            </a:r>
            <a:r>
              <a:rPr kumimoji="1" lang="zh-CN" altLang="zh-CN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eclipse </a:t>
            </a:r>
            <a:r>
              <a:rPr lang="zh-CN" altLang="fr-FR" dirty="0">
                <a:solidFill>
                  <a:srgbClr val="FF0000"/>
                </a:solidFill>
              </a:rPr>
              <a:t>、</a:t>
            </a:r>
            <a:r>
              <a:rPr lang="fr-FR" altLang="zh-CN" dirty="0">
                <a:solidFill>
                  <a:srgbClr val="FF0000"/>
                </a:solidFill>
              </a:rPr>
              <a:t>MyEclipse</a:t>
            </a:r>
            <a:r>
              <a:rPr lang="zh-CN" altLang="fr-FR" dirty="0">
                <a:solidFill>
                  <a:srgbClr val="FF0000"/>
                </a:solidFill>
              </a:rPr>
              <a:t>、</a:t>
            </a:r>
            <a:r>
              <a:rPr lang="fr-FR" altLang="zh-CN" dirty="0">
                <a:solidFill>
                  <a:srgbClr val="FF0000"/>
                </a:solidFill>
              </a:rPr>
              <a:t>android studio </a:t>
            </a:r>
            <a:endParaRPr kumimoji="1" lang="zh-CN" alt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en-US" altLang="zh-CN" dirty="0"/>
              <a:t>2&gt; </a:t>
            </a:r>
            <a:r>
              <a:rPr lang="en-US" altLang="zh-CN" dirty="0"/>
              <a:t>iOS</a:t>
            </a:r>
          </a:p>
          <a:p>
            <a:pPr marL="0" indent="0">
              <a:buNone/>
            </a:pPr>
            <a:r>
              <a:rPr kumimoji="1" lang="zh-CN" altLang="en-US" dirty="0"/>
              <a:t>  </a:t>
            </a:r>
            <a:r>
              <a:rPr lang="en-US" altLang="zh-CN" dirty="0">
                <a:solidFill>
                  <a:srgbClr val="FF0000"/>
                </a:solidFill>
              </a:rPr>
              <a:t>Xcode</a:t>
            </a:r>
          </a:p>
          <a:p>
            <a:pPr marL="0" indent="0">
              <a:buNone/>
            </a:pPr>
            <a:r>
              <a:rPr kumimoji="1" lang="zh-CN" altLang="en-US" dirty="0"/>
              <a:t> </a:t>
            </a:r>
            <a:r>
              <a:rPr kumimoji="1" lang="en-US" altLang="zh-CN" dirty="0"/>
              <a:t>3&gt;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HTML5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eclipse</a:t>
            </a:r>
            <a:r>
              <a:rPr lang="zh-TW" altLang="en-US" dirty="0">
                <a:solidFill>
                  <a:srgbClr val="FF0000"/>
                </a:solidFill>
              </a:rPr>
              <a:t>、</a:t>
            </a:r>
            <a:r>
              <a:rPr lang="en-US" altLang="zh-TW" dirty="0">
                <a:solidFill>
                  <a:srgbClr val="FF0000"/>
                </a:solidFill>
              </a:rPr>
              <a:t>MyEclipse</a:t>
            </a:r>
          </a:p>
          <a:p>
            <a:pPr marL="0" indent="0">
              <a:buNone/>
            </a:pPr>
            <a:r>
              <a:rPr lang="zh-CN" altLang="zh-TW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sz="1800" dirty="0"/>
              <a:t>后端喜爱</a:t>
            </a:r>
            <a:endParaRPr lang="en-US" altLang="zh-TW" sz="1800" dirty="0"/>
          </a:p>
          <a:p>
            <a:pPr marL="0" indent="0">
              <a:buNone/>
            </a:pPr>
            <a:r>
              <a:rPr lang="zh-TW" altLang="en-US" dirty="0"/>
              <a:t>    </a:t>
            </a:r>
            <a:r>
              <a:rPr lang="en-US" altLang="zh-TW" dirty="0">
                <a:solidFill>
                  <a:srgbClr val="FF0000"/>
                </a:solidFill>
              </a:rPr>
              <a:t>Dreamwaver</a:t>
            </a:r>
          </a:p>
          <a:p>
            <a:pPr marL="0" indent="0">
              <a:buNone/>
            </a:pPr>
            <a:r>
              <a:rPr lang="zh-CN" altLang="en-US" dirty="0"/>
              <a:t>  </a:t>
            </a:r>
            <a:r>
              <a:rPr lang="zh-CN" altLang="en-US" sz="1800" dirty="0"/>
              <a:t>网页</a:t>
            </a:r>
            <a:r>
              <a:rPr lang="zh-TW" altLang="en-US" sz="1800" dirty="0"/>
              <a:t>三剑客</a:t>
            </a:r>
            <a:r>
              <a:rPr lang="zh-CN" altLang="zh-TW" sz="1800" dirty="0"/>
              <a:t> </a:t>
            </a:r>
            <a:r>
              <a:rPr lang="zh-CN" altLang="en-US" sz="1800" dirty="0"/>
              <a:t> </a:t>
            </a:r>
            <a:r>
              <a:rPr lang="en-US" altLang="zh-TW" sz="1800" dirty="0"/>
              <a:t>Dreamwaver</a:t>
            </a:r>
            <a:r>
              <a:rPr lang="zh-TW" altLang="en-US" sz="1800" dirty="0"/>
              <a:t>、</a:t>
            </a:r>
            <a:r>
              <a:rPr lang="en-US" altLang="zh-TW" sz="1800" dirty="0"/>
              <a:t>Flash</a:t>
            </a:r>
            <a:r>
              <a:rPr lang="zh-TW" altLang="en-US" sz="1800" dirty="0"/>
              <a:t>、</a:t>
            </a:r>
            <a:r>
              <a:rPr lang="en-US" altLang="zh-TW" sz="1800" dirty="0"/>
              <a:t>Fireworks -&gt; Adobe</a:t>
            </a:r>
            <a:endParaRPr lang="zh-TW" altLang="en-US" sz="1800" dirty="0"/>
          </a:p>
          <a:p>
            <a:pPr marL="0" indent="0">
              <a:buNone/>
            </a:pPr>
            <a:r>
              <a:rPr lang="zh-TW" altLang="en-US" dirty="0"/>
              <a:t>    </a:t>
            </a:r>
            <a:r>
              <a:rPr lang="en-US" altLang="zh-TW" dirty="0" err="1">
                <a:solidFill>
                  <a:srgbClr val="FF0000"/>
                </a:solidFill>
              </a:rPr>
              <a:t>WebSt</a:t>
            </a:r>
            <a:r>
              <a:rPr lang="en-US" altLang="zh-CN" dirty="0" err="1">
                <a:solidFill>
                  <a:srgbClr val="FF0000"/>
                </a:solidFill>
              </a:rPr>
              <a:t>or</a:t>
            </a:r>
            <a:r>
              <a:rPr lang="en-US" altLang="zh-TW" dirty="0" err="1">
                <a:solidFill>
                  <a:srgbClr val="FF0000"/>
                </a:solidFill>
              </a:rPr>
              <a:t>m</a:t>
            </a: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zh-TW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TW" altLang="en-US" sz="1800" dirty="0"/>
              <a:t>前端喜爱</a:t>
            </a:r>
            <a:r>
              <a:rPr lang="en-US" altLang="zh-TW" sz="1800" dirty="0"/>
              <a:t>,⼤</a:t>
            </a:r>
            <a:r>
              <a:rPr lang="zh-TW" altLang="en-US" sz="1800" dirty="0"/>
              <a:t>神编辑器</a:t>
            </a:r>
            <a:r>
              <a:rPr lang="en-US" altLang="zh-TW" sz="1800" dirty="0"/>
              <a:t>,</a:t>
            </a:r>
            <a:r>
              <a:rPr lang="zh-CN" altLang="en-US" sz="1800" dirty="0"/>
              <a:t>默认集成</a:t>
            </a:r>
            <a:r>
              <a:rPr lang="zh-TW" altLang="en-US" sz="1800" dirty="0"/>
              <a:t>各种各样的插件</a:t>
            </a:r>
            <a:r>
              <a:rPr lang="en-US" altLang="zh-TW" sz="1800" dirty="0"/>
              <a:t>,</a:t>
            </a:r>
            <a:r>
              <a:rPr lang="zh-TW" altLang="en-US" sz="1800" dirty="0"/>
              <a:t>配⾊完美</a:t>
            </a:r>
            <a:r>
              <a:rPr lang="en-US" altLang="zh-TW" sz="1800" dirty="0"/>
              <a:t> </a:t>
            </a:r>
            <a:endParaRPr lang="zh-TW" altLang="en-US" sz="1800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en-US" sz="1800" dirty="0"/>
          </a:p>
          <a:p>
            <a:pPr marL="0" indent="0">
              <a:buNone/>
            </a:pPr>
            <a:endParaRPr kumimoji="1" lang="en-US" altLang="zh-CN" sz="1900" dirty="0"/>
          </a:p>
        </p:txBody>
      </p:sp>
    </p:spTree>
    <p:extLst>
      <p:ext uri="{BB962C8B-B14F-4D97-AF65-F5344CB8AC3E}">
        <p14:creationId xmlns:p14="http://schemas.microsoft.com/office/powerpoint/2010/main" val="2085726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Web</a:t>
            </a:r>
            <a:r>
              <a:rPr kumimoji="1" lang="zh-CN" altLang="en-US" dirty="0"/>
              <a:t>开发新时代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99687" y="1360907"/>
            <a:ext cx="8519654" cy="5003032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p"/>
            </a:pPr>
            <a:r>
              <a:rPr kumimoji="1" lang="en-US" altLang="zh-CN" sz="1800" b="1" dirty="0">
                <a:solidFill>
                  <a:srgbClr val="0000FF"/>
                </a:solidFill>
              </a:rPr>
              <a:t>Web</a:t>
            </a:r>
            <a:r>
              <a:rPr kumimoji="1" lang="zh-CN" altLang="zh-CN" sz="1800" b="1" dirty="0">
                <a:solidFill>
                  <a:srgbClr val="0000FF"/>
                </a:solidFill>
              </a:rPr>
              <a:t>1</a:t>
            </a:r>
            <a:r>
              <a:rPr kumimoji="1" lang="en-US" altLang="zh-CN" sz="1800" b="1" dirty="0">
                <a:solidFill>
                  <a:srgbClr val="0000FF"/>
                </a:solidFill>
              </a:rPr>
              <a:t>.0</a:t>
            </a:r>
          </a:p>
          <a:p>
            <a:pPr>
              <a:buFont typeface="Wingdings" charset="2"/>
              <a:buChar char="ü"/>
            </a:pPr>
            <a:r>
              <a:rPr kumimoji="1" lang="zh-CN" altLang="en-US" sz="1800" dirty="0"/>
              <a:t>主流技术</a:t>
            </a:r>
            <a:r>
              <a:rPr kumimoji="1" lang="en-US" altLang="zh-CN" sz="1800" dirty="0"/>
              <a:t>:HTML+CSS</a:t>
            </a:r>
            <a:endParaRPr kumimoji="1" lang="en-US" altLang="en-US" sz="1800" dirty="0"/>
          </a:p>
          <a:p>
            <a:pPr>
              <a:buFont typeface="Wingdings" charset="2"/>
              <a:buChar char="p"/>
            </a:pPr>
            <a:endParaRPr kumimoji="1" lang="en-US" altLang="en-US" sz="1800" dirty="0"/>
          </a:p>
          <a:p>
            <a:pPr>
              <a:buFont typeface="Wingdings" charset="2"/>
              <a:buChar char="p"/>
            </a:pPr>
            <a:r>
              <a:rPr kumimoji="1" lang="en-US" altLang="zh-CN" sz="1800" b="1" dirty="0">
                <a:solidFill>
                  <a:srgbClr val="0000FF"/>
                </a:solidFill>
              </a:rPr>
              <a:t>Web2.0</a:t>
            </a:r>
          </a:p>
          <a:p>
            <a:pPr>
              <a:buFont typeface="Wingdings" charset="2"/>
              <a:buChar char="ü"/>
            </a:pPr>
            <a:r>
              <a:rPr kumimoji="1" lang="zh-CN" altLang="en-US" sz="1800" dirty="0"/>
              <a:t>主流技术</a:t>
            </a:r>
            <a:r>
              <a:rPr kumimoji="1" lang="en-US" altLang="zh-CN" sz="1800" dirty="0"/>
              <a:t>:Ajax(JavaScript/DOM/</a:t>
            </a:r>
            <a:r>
              <a:rPr kumimoji="1" lang="zh-CN" altLang="en-US" sz="1800" dirty="0"/>
              <a:t>异步数据请求</a:t>
            </a:r>
            <a:r>
              <a:rPr kumimoji="1" lang="en-US" altLang="zh-CN" sz="1800" dirty="0"/>
              <a:t>)</a:t>
            </a:r>
          </a:p>
          <a:p>
            <a:pPr>
              <a:buFont typeface="Wingdings" charset="2"/>
              <a:buChar char="p"/>
            </a:pPr>
            <a:endParaRPr kumimoji="1" lang="en-US" altLang="zh-CN" sz="1800" dirty="0"/>
          </a:p>
          <a:p>
            <a:pPr>
              <a:buFont typeface="Wingdings" charset="2"/>
              <a:buChar char="p"/>
            </a:pPr>
            <a:r>
              <a:rPr kumimoji="1" lang="en-US" altLang="zh-CN" sz="1800" b="1" dirty="0">
                <a:solidFill>
                  <a:srgbClr val="FF0000"/>
                </a:solidFill>
              </a:rPr>
              <a:t>Web3.0</a:t>
            </a:r>
          </a:p>
          <a:p>
            <a:pPr>
              <a:buFont typeface="Wingdings" charset="2"/>
              <a:buChar char="ü"/>
            </a:pPr>
            <a:r>
              <a:rPr kumimoji="1" lang="zh-CN" altLang="en-US" sz="1800" dirty="0"/>
              <a:t>主流技术</a:t>
            </a:r>
            <a:r>
              <a:rPr kumimoji="1" lang="en-US" altLang="zh-CN" sz="1800" dirty="0"/>
              <a:t>:HTML5+CSS3</a:t>
            </a:r>
          </a:p>
          <a:p>
            <a:pPr marL="0" indent="0">
              <a:buNone/>
            </a:pPr>
            <a:r>
              <a:rPr kumimoji="1" lang="zh-CN" altLang="zh-CN" sz="1800" dirty="0"/>
              <a:t> </a:t>
            </a:r>
            <a:r>
              <a:rPr kumimoji="1" lang="zh-CN" altLang="en-US" sz="1800" dirty="0"/>
              <a:t>  </a:t>
            </a:r>
            <a:r>
              <a:rPr kumimoji="1" lang="en-US" altLang="zh-CN" sz="1800" dirty="0"/>
              <a:t>HTML5</a:t>
            </a:r>
            <a:r>
              <a:rPr kumimoji="1" lang="zh-CN" altLang="en-US" sz="1800" dirty="0"/>
              <a:t>亮点</a:t>
            </a:r>
            <a:r>
              <a:rPr kumimoji="1" lang="en-US" altLang="zh-CN" sz="1800" dirty="0"/>
              <a:t>: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rgbClr val="FF0000"/>
                </a:solidFill>
              </a:rPr>
              <a:t>Canvas HTML5</a:t>
            </a:r>
            <a:r>
              <a:rPr kumimoji="1" lang="zh-CN" altLang="en-US" sz="1800" dirty="0">
                <a:solidFill>
                  <a:srgbClr val="FF0000"/>
                </a:solidFill>
              </a:rPr>
              <a:t>音视频 </a:t>
            </a:r>
            <a:r>
              <a:rPr kumimoji="1" lang="en-US" altLang="zh-CN" sz="1800" dirty="0">
                <a:solidFill>
                  <a:srgbClr val="FF0000"/>
                </a:solidFill>
              </a:rPr>
              <a:t>Web</a:t>
            </a:r>
            <a:r>
              <a:rPr kumimoji="1" lang="zh-CN" altLang="en-US" sz="1800" dirty="0">
                <a:solidFill>
                  <a:srgbClr val="FF0000"/>
                </a:solidFill>
              </a:rPr>
              <a:t>存储 </a:t>
            </a:r>
            <a:r>
              <a:rPr kumimoji="1" lang="en-US" altLang="zh-CN" sz="1800" dirty="0">
                <a:solidFill>
                  <a:srgbClr val="FF0000"/>
                </a:solidFill>
              </a:rPr>
              <a:t>Geolocation</a:t>
            </a:r>
            <a:r>
              <a:rPr kumimoji="1" lang="zh-CN" altLang="en-US" sz="1800" dirty="0">
                <a:solidFill>
                  <a:srgbClr val="FF0000"/>
                </a:solidFill>
              </a:rPr>
              <a:t>  </a:t>
            </a:r>
            <a:r>
              <a:rPr kumimoji="1" lang="en-US" altLang="zh-CN" sz="1800" dirty="0">
                <a:solidFill>
                  <a:srgbClr val="FF0000"/>
                </a:solidFill>
              </a:rPr>
              <a:t>Workers</a:t>
            </a:r>
            <a:r>
              <a:rPr kumimoji="1" lang="zh-CN" altLang="en-US" sz="1800" dirty="0">
                <a:solidFill>
                  <a:srgbClr val="FF0000"/>
                </a:solidFill>
              </a:rPr>
              <a:t>多线程处理</a:t>
            </a:r>
            <a:endParaRPr kumimoji="1" lang="en-US" altLang="zh-CN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zh-CN" altLang="en-US" sz="1800" dirty="0"/>
              <a:t> </a:t>
            </a:r>
            <a:r>
              <a:rPr kumimoji="1" lang="en-US" altLang="zh-CN" sz="1800" dirty="0"/>
              <a:t> 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CSS3</a:t>
            </a:r>
            <a:r>
              <a:rPr kumimoji="1" lang="zh-CN" altLang="en-US" sz="1800" dirty="0"/>
              <a:t>亮点</a:t>
            </a:r>
            <a:r>
              <a:rPr kumimoji="1" lang="en-US" altLang="zh-CN" sz="1800" dirty="0"/>
              <a:t>:</a:t>
            </a:r>
            <a:r>
              <a:rPr kumimoji="1" lang="zh-CN" altLang="en-US" sz="1800" dirty="0"/>
              <a:t> </a:t>
            </a:r>
            <a:r>
              <a:rPr kumimoji="1" lang="zh-CN" altLang="en-US" sz="1800" dirty="0">
                <a:solidFill>
                  <a:srgbClr val="FF0000"/>
                </a:solidFill>
              </a:rPr>
              <a:t>设计动画 </a:t>
            </a:r>
            <a:r>
              <a:rPr kumimoji="1" lang="en-US" altLang="zh-CN" sz="1800" dirty="0">
                <a:solidFill>
                  <a:srgbClr val="FF0000"/>
                </a:solidFill>
              </a:rPr>
              <a:t>2D</a:t>
            </a:r>
            <a:r>
              <a:rPr kumimoji="1" lang="zh-CN" altLang="en-US" sz="1800" dirty="0">
                <a:solidFill>
                  <a:srgbClr val="FF0000"/>
                </a:solidFill>
              </a:rPr>
              <a:t>变形 </a:t>
            </a:r>
            <a:r>
              <a:rPr kumimoji="1" lang="en-US" altLang="zh-CN" sz="1800" dirty="0">
                <a:solidFill>
                  <a:srgbClr val="FF0000"/>
                </a:solidFill>
              </a:rPr>
              <a:t>N</a:t>
            </a:r>
            <a:r>
              <a:rPr kumimoji="1" lang="zh-CN" altLang="en-US" sz="1800" dirty="0">
                <a:solidFill>
                  <a:srgbClr val="FF0000"/>
                </a:solidFill>
              </a:rPr>
              <a:t>多新特性</a:t>
            </a:r>
            <a:endParaRPr kumimoji="1" lang="en-US" altLang="zh-CN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kumimoji="1" lang="en-US" altLang="zh-CN" sz="1800" dirty="0"/>
          </a:p>
          <a:p>
            <a:pPr marL="0" indent="0">
              <a:buNone/>
            </a:pPr>
            <a:r>
              <a:rPr kumimoji="1" lang="en-US" altLang="zh-CN" sz="1800" dirty="0">
                <a:hlinkClick r:id="rId2"/>
              </a:rPr>
              <a:t>http://html5test.com/</a:t>
            </a:r>
            <a:endParaRPr kumimoji="1"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81106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网页的组成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9687" y="1360907"/>
            <a:ext cx="8519654" cy="5003032"/>
          </a:xfrm>
        </p:spPr>
        <p:txBody>
          <a:bodyPr>
            <a:normAutofit/>
          </a:bodyPr>
          <a:lstStyle/>
          <a:p>
            <a:r>
              <a:rPr kumimoji="1" lang="zh-CN" altLang="en-US" sz="1800" dirty="0"/>
              <a:t>一个有具体功能的完整的网页，一般由</a:t>
            </a:r>
            <a:r>
              <a:rPr kumimoji="1" lang="en-US" altLang="zh-CN" sz="1800" dirty="0"/>
              <a:t>3</a:t>
            </a:r>
            <a:r>
              <a:rPr kumimoji="1" lang="zh-CN" altLang="en-US" sz="1800" dirty="0"/>
              <a:t>部分组成</a:t>
            </a:r>
            <a:endParaRPr kumimoji="1" lang="en-US" altLang="zh-CN" sz="1800" dirty="0"/>
          </a:p>
          <a:p>
            <a:pPr>
              <a:buFont typeface="Wingdings" charset="2"/>
              <a:buChar char="p"/>
            </a:pPr>
            <a:r>
              <a:rPr kumimoji="1" lang="en-US" altLang="zh-CN" sz="1800" b="1" dirty="0">
                <a:solidFill>
                  <a:srgbClr val="0000FF"/>
                </a:solidFill>
              </a:rPr>
              <a:t>HTML</a:t>
            </a:r>
          </a:p>
          <a:p>
            <a:pPr>
              <a:buFont typeface="Wingdings" charset="2"/>
              <a:buChar char="ü"/>
            </a:pPr>
            <a:r>
              <a:rPr kumimoji="1" lang="zh-CN" altLang="en-US" sz="1800" dirty="0"/>
              <a:t>网页的具体内容和结构</a:t>
            </a:r>
            <a:endParaRPr kumimoji="1" lang="en-US" altLang="en-US" sz="1800" dirty="0"/>
          </a:p>
          <a:p>
            <a:pPr>
              <a:buFont typeface="Wingdings" charset="2"/>
              <a:buChar char="p"/>
            </a:pPr>
            <a:endParaRPr kumimoji="1" lang="en-US" altLang="en-US" sz="1800" dirty="0"/>
          </a:p>
          <a:p>
            <a:pPr>
              <a:buFont typeface="Wingdings" charset="2"/>
              <a:buChar char="p"/>
            </a:pPr>
            <a:r>
              <a:rPr kumimoji="1" lang="en-US" altLang="zh-CN" sz="1800" b="1" dirty="0">
                <a:solidFill>
                  <a:srgbClr val="0000FF"/>
                </a:solidFill>
              </a:rPr>
              <a:t>CSS</a:t>
            </a:r>
          </a:p>
          <a:p>
            <a:pPr>
              <a:buFont typeface="Wingdings" charset="2"/>
              <a:buChar char="ü"/>
            </a:pPr>
            <a:r>
              <a:rPr kumimoji="1" lang="zh-CN" altLang="en-US" sz="1800" dirty="0"/>
              <a:t>网页的样式（美化网页最重要的一块）</a:t>
            </a:r>
            <a:endParaRPr kumimoji="1" lang="en-US" altLang="zh-CN" sz="1800" dirty="0"/>
          </a:p>
          <a:p>
            <a:pPr>
              <a:buFont typeface="Wingdings" charset="2"/>
              <a:buChar char="p"/>
            </a:pPr>
            <a:endParaRPr kumimoji="1" lang="en-US" altLang="zh-CN" sz="1800" dirty="0"/>
          </a:p>
          <a:p>
            <a:pPr>
              <a:buFont typeface="Wingdings" charset="2"/>
              <a:buChar char="p"/>
            </a:pPr>
            <a:r>
              <a:rPr kumimoji="1" lang="en-US" altLang="zh-CN" sz="1800" b="1" dirty="0">
                <a:solidFill>
                  <a:srgbClr val="FF0000"/>
                </a:solidFill>
              </a:rPr>
              <a:t>JavaScript(</a:t>
            </a:r>
            <a:r>
              <a:rPr kumimoji="1" lang="zh-CN" altLang="en-US" sz="1800" b="1" dirty="0">
                <a:solidFill>
                  <a:srgbClr val="FF0000"/>
                </a:solidFill>
              </a:rPr>
              <a:t>掌握</a:t>
            </a:r>
            <a:r>
              <a:rPr kumimoji="1" lang="en-US" altLang="zh-CN" sz="1800" b="1" dirty="0">
                <a:solidFill>
                  <a:srgbClr val="FF0000"/>
                </a:solidFill>
              </a:rPr>
              <a:t>)</a:t>
            </a:r>
          </a:p>
          <a:p>
            <a:pPr>
              <a:buFont typeface="Wingdings" charset="2"/>
              <a:buChar char="ü"/>
            </a:pPr>
            <a:r>
              <a:rPr kumimoji="1" lang="zh-CN" altLang="en-US" sz="1800" dirty="0"/>
              <a:t>网页的交互效果，比如对用户鼠标事件做出响应</a:t>
            </a:r>
            <a:endParaRPr kumimoji="1" lang="en-US" altLang="zh-CN" sz="1800" dirty="0"/>
          </a:p>
          <a:p>
            <a:pPr>
              <a:buFont typeface="Wingdings" charset="2"/>
              <a:buChar char="ü"/>
            </a:pPr>
            <a:endParaRPr kumimoji="1" lang="en-US" altLang="zh-CN" sz="1800" dirty="0"/>
          </a:p>
          <a:p>
            <a:r>
              <a:rPr kumimoji="1" lang="en-US" altLang="zh-CN" sz="1800" dirty="0"/>
              <a:t>HTML\CSS\JavaScript</a:t>
            </a:r>
            <a:r>
              <a:rPr kumimoji="1" lang="zh-CN" altLang="en-US" sz="1800" dirty="0"/>
              <a:t>学习资料：</a:t>
            </a:r>
            <a:r>
              <a:rPr kumimoji="1" lang="en-US" altLang="zh-CN" sz="1800" dirty="0">
                <a:hlinkClick r:id="rId2"/>
              </a:rPr>
              <a:t>http://www.w3school.com.cn/</a:t>
            </a:r>
            <a:endParaRPr kumimoji="1"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269516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HTML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9687" y="1360907"/>
            <a:ext cx="8519654" cy="5003032"/>
          </a:xfrm>
        </p:spPr>
        <p:txBody>
          <a:bodyPr>
            <a:normAutofit/>
          </a:bodyPr>
          <a:lstStyle/>
          <a:p>
            <a:r>
              <a:rPr kumimoji="1" lang="zh-CN" altLang="en-US" sz="1800" dirty="0"/>
              <a:t>什么是</a:t>
            </a:r>
            <a:r>
              <a:rPr kumimoji="1" lang="en-US" altLang="zh-CN" sz="1800" dirty="0"/>
              <a:t>HTML</a:t>
            </a:r>
          </a:p>
          <a:p>
            <a:pPr>
              <a:buFont typeface="Wingdings" charset="2"/>
              <a:buChar char="p"/>
            </a:pPr>
            <a:r>
              <a:rPr kumimoji="1" lang="en-US" altLang="zh-CN" sz="1800" dirty="0">
                <a:solidFill>
                  <a:srgbClr val="0000FF"/>
                </a:solidFill>
              </a:rPr>
              <a:t>HTML</a:t>
            </a:r>
            <a:r>
              <a:rPr kumimoji="1" lang="zh-CN" altLang="en-US" sz="1800" dirty="0"/>
              <a:t>的全称是</a:t>
            </a:r>
            <a:r>
              <a:rPr lang="en-US" altLang="zh-CN" sz="1800" dirty="0" err="1"/>
              <a:t>HyperText</a:t>
            </a:r>
            <a:r>
              <a:rPr lang="en-US" altLang="zh-CN" sz="1800" dirty="0"/>
              <a:t> Markup Language</a:t>
            </a:r>
            <a:r>
              <a:rPr lang="zh-CN" altLang="en-US" sz="1800" dirty="0"/>
              <a:t>，超文本标记语言</a:t>
            </a:r>
            <a:endParaRPr lang="en-US" altLang="zh-CN" sz="1800" dirty="0"/>
          </a:p>
          <a:p>
            <a:pPr>
              <a:buFont typeface="Wingdings" charset="2"/>
              <a:buChar char="p"/>
            </a:pPr>
            <a:r>
              <a:rPr kumimoji="1" lang="zh-CN" altLang="en-US" sz="1800" dirty="0"/>
              <a:t>其实它就是</a:t>
            </a:r>
            <a:r>
              <a:rPr kumimoji="1" lang="zh-CN" altLang="en-US" sz="1800" dirty="0">
                <a:solidFill>
                  <a:srgbClr val="0000FF"/>
                </a:solidFill>
              </a:rPr>
              <a:t>文本</a:t>
            </a:r>
            <a:r>
              <a:rPr kumimoji="1" lang="zh-CN" altLang="en-US" sz="1800" dirty="0"/>
              <a:t>，由</a:t>
            </a:r>
            <a:r>
              <a:rPr kumimoji="1" lang="zh-CN" altLang="en-US" sz="1800" dirty="0">
                <a:solidFill>
                  <a:srgbClr val="0000FF"/>
                </a:solidFill>
              </a:rPr>
              <a:t>浏览器</a:t>
            </a:r>
            <a:r>
              <a:rPr kumimoji="1" lang="zh-CN" altLang="en-US" sz="1800" dirty="0"/>
              <a:t>负责将它解析成具体的网页内容</a:t>
            </a:r>
            <a:endParaRPr kumimoji="1" lang="en-US" altLang="zh-CN" sz="1800" dirty="0"/>
          </a:p>
          <a:p>
            <a:pPr>
              <a:buFont typeface="Wingdings" charset="2"/>
              <a:buChar char="ü"/>
            </a:pPr>
            <a:r>
              <a:rPr kumimoji="1" lang="zh-CN" altLang="en-US" sz="1800" dirty="0"/>
              <a:t>比如，浏览器会将 左边的</a:t>
            </a:r>
            <a:r>
              <a:rPr kumimoji="1" lang="en-US" altLang="zh-CN" sz="1800" dirty="0"/>
              <a:t>HTML</a:t>
            </a:r>
            <a:r>
              <a:rPr kumimoji="1" lang="zh-CN" altLang="en-US" sz="1800" dirty="0"/>
              <a:t>代码 转换为 右边的网页内容</a:t>
            </a:r>
            <a:endParaRPr kumimoji="1" lang="en-US" altLang="zh-CN" sz="1800" dirty="0"/>
          </a:p>
          <a:p>
            <a:pPr>
              <a:buFont typeface="Wingdings" charset="2"/>
              <a:buChar char="ü"/>
            </a:pPr>
            <a:endParaRPr kumimoji="1" lang="en-US" altLang="zh-CN" sz="1800" dirty="0"/>
          </a:p>
          <a:p>
            <a:pPr>
              <a:buFont typeface="Wingdings" charset="2"/>
              <a:buChar char="ü"/>
            </a:pPr>
            <a:endParaRPr kumimoji="1" lang="en-US" altLang="zh-CN" sz="1800" dirty="0"/>
          </a:p>
          <a:p>
            <a:pPr>
              <a:buFont typeface="Wingdings" charset="2"/>
              <a:buChar char="ü"/>
            </a:pPr>
            <a:endParaRPr kumimoji="1" lang="en-US" altLang="zh-CN" sz="1800" dirty="0"/>
          </a:p>
          <a:p>
            <a:pPr marL="0" indent="0">
              <a:buNone/>
            </a:pPr>
            <a:endParaRPr kumimoji="1" lang="en-US" altLang="zh-CN" sz="1800" dirty="0"/>
          </a:p>
          <a:p>
            <a:r>
              <a:rPr kumimoji="1" lang="en-US" altLang="zh-CN" sz="1800" dirty="0"/>
              <a:t>HTML</a:t>
            </a:r>
            <a:r>
              <a:rPr kumimoji="1" lang="zh-CN" altLang="en-US" sz="1800" dirty="0"/>
              <a:t>的组成</a:t>
            </a:r>
            <a:endParaRPr kumimoji="1" lang="en-US" altLang="zh-CN" sz="1800" dirty="0"/>
          </a:p>
          <a:p>
            <a:pPr>
              <a:buFont typeface="Wingdings" charset="2"/>
              <a:buChar char="p"/>
            </a:pPr>
            <a:r>
              <a:rPr kumimoji="1" lang="zh-CN" altLang="en-US" sz="1800" dirty="0"/>
              <a:t>跟</a:t>
            </a:r>
            <a:r>
              <a:rPr kumimoji="1" lang="en-US" altLang="zh-CN" sz="1800" dirty="0"/>
              <a:t>XML</a:t>
            </a:r>
            <a:r>
              <a:rPr kumimoji="1" lang="zh-CN" altLang="en-US" sz="1800" dirty="0"/>
              <a:t>类似，</a:t>
            </a:r>
            <a:r>
              <a:rPr kumimoji="1" lang="en-US" altLang="zh-CN" sz="1800" dirty="0"/>
              <a:t>HTML</a:t>
            </a:r>
            <a:r>
              <a:rPr kumimoji="1" lang="zh-CN" altLang="en-US" sz="1800" dirty="0"/>
              <a:t>由</a:t>
            </a:r>
            <a:r>
              <a:rPr kumimoji="1" lang="en-US" altLang="zh-CN" sz="1800" dirty="0"/>
              <a:t>N</a:t>
            </a:r>
            <a:r>
              <a:rPr kumimoji="1" lang="zh-CN" altLang="en-US" sz="1800" dirty="0"/>
              <a:t>个标签（节点、元素、标记）组成</a:t>
            </a:r>
            <a:endParaRPr kumimoji="1" lang="en-US" altLang="zh-CN" sz="1800" dirty="0"/>
          </a:p>
          <a:p>
            <a:pPr>
              <a:buFont typeface="Wingdings" charset="2"/>
              <a:buChar char="p"/>
            </a:pPr>
            <a:endParaRPr kumimoji="1" lang="en-US" altLang="zh-CN" sz="1800" dirty="0"/>
          </a:p>
          <a:p>
            <a:r>
              <a:rPr kumimoji="1" lang="en-US" altLang="zh-CN" sz="1800" dirty="0"/>
              <a:t>HTML</a:t>
            </a:r>
            <a:r>
              <a:rPr kumimoji="1" lang="zh-CN" altLang="en-US" sz="1800" dirty="0"/>
              <a:t>语法非常松散，目前的最新版是</a:t>
            </a:r>
            <a:r>
              <a:rPr kumimoji="1" lang="en-US" altLang="zh-CN" sz="1800" dirty="0"/>
              <a:t>5.0</a:t>
            </a:r>
            <a:r>
              <a:rPr kumimoji="1" lang="zh-CN" altLang="en-US" sz="1800" dirty="0"/>
              <a:t>，也就是</a:t>
            </a:r>
            <a:r>
              <a:rPr kumimoji="1" lang="en-US" altLang="zh-CN" sz="1800" dirty="0"/>
              <a:t>HTML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5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04" y="2950815"/>
            <a:ext cx="2373454" cy="111955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056" y="2950814"/>
            <a:ext cx="1916814" cy="95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07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常见的</a:t>
            </a:r>
            <a:r>
              <a:rPr kumimoji="1" lang="en-US" altLang="zh-CN" dirty="0"/>
              <a:t>HTML</a:t>
            </a:r>
            <a:r>
              <a:rPr kumimoji="1" lang="zh-CN" altLang="en-US" dirty="0"/>
              <a:t>标签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50977"/>
            <a:ext cx="8128599" cy="4941500"/>
          </a:xfrm>
        </p:spPr>
        <p:txBody>
          <a:bodyPr/>
          <a:lstStyle/>
          <a:p>
            <a:r>
              <a:rPr kumimoji="1" lang="zh-CN" altLang="en-US" dirty="0"/>
              <a:t>标题</a:t>
            </a:r>
            <a:r>
              <a:rPr kumimoji="1" lang="zh-CN" altLang="zh-CN" dirty="0"/>
              <a:t>：</a:t>
            </a:r>
            <a:r>
              <a:rPr kumimoji="1" lang="en-US" altLang="zh-CN" dirty="0"/>
              <a:t>h1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h2</a:t>
            </a:r>
            <a:r>
              <a:rPr kumimoji="1" lang="zh-CN" altLang="en-US" dirty="0"/>
              <a:t>、</a:t>
            </a:r>
            <a:r>
              <a:rPr kumimoji="1" lang="en-US" altLang="zh-CN" dirty="0"/>
              <a:t>h3</a:t>
            </a:r>
            <a:r>
              <a:rPr kumimoji="1" lang="zh-CN" altLang="en-US" dirty="0"/>
              <a:t>、</a:t>
            </a:r>
            <a:r>
              <a:rPr kumimoji="1" lang="en-US" altLang="zh-CN" dirty="0"/>
              <a:t>h4</a:t>
            </a:r>
            <a:r>
              <a:rPr kumimoji="1" lang="zh-CN" altLang="en-US" dirty="0"/>
              <a:t>、</a:t>
            </a:r>
            <a:r>
              <a:rPr kumimoji="1" lang="en-US" altLang="zh-CN" dirty="0"/>
              <a:t>h5....</a:t>
            </a:r>
          </a:p>
          <a:p>
            <a:r>
              <a:rPr kumimoji="1" lang="zh-CN" altLang="en-US" dirty="0"/>
              <a:t>段落</a:t>
            </a:r>
            <a:r>
              <a:rPr kumimoji="1" lang="zh-CN" altLang="zh-CN" dirty="0"/>
              <a:t>：</a:t>
            </a:r>
            <a:r>
              <a:rPr kumimoji="1" lang="en-US" altLang="zh-CN" dirty="0"/>
              <a:t>p</a:t>
            </a:r>
          </a:p>
          <a:p>
            <a:r>
              <a:rPr kumimoji="1" lang="zh-CN" altLang="en-US" dirty="0"/>
              <a:t>换行：</a:t>
            </a:r>
            <a:r>
              <a:rPr kumimoji="1" lang="en-US" altLang="zh-CN" dirty="0" err="1"/>
              <a:t>br</a:t>
            </a:r>
            <a:endParaRPr kumimoji="1" lang="en-US" altLang="zh-CN" dirty="0"/>
          </a:p>
          <a:p>
            <a:r>
              <a:rPr kumimoji="1" lang="zh-CN" altLang="en-US" dirty="0"/>
              <a:t>容器：</a:t>
            </a:r>
            <a:r>
              <a:rPr kumimoji="1" lang="en-US" altLang="zh-CN" dirty="0"/>
              <a:t>div</a:t>
            </a:r>
            <a:r>
              <a:rPr kumimoji="1" lang="zh-CN" altLang="en-US" dirty="0"/>
              <a:t>、</a:t>
            </a:r>
            <a:r>
              <a:rPr kumimoji="1" lang="en-US" altLang="zh-CN" dirty="0"/>
              <a:t>span</a:t>
            </a:r>
            <a:r>
              <a:rPr kumimoji="1" lang="zh-CN" altLang="en-US" dirty="0"/>
              <a:t>（用来容纳其他标签）</a:t>
            </a:r>
            <a:endParaRPr kumimoji="1" lang="en-US" altLang="zh-CN" dirty="0"/>
          </a:p>
          <a:p>
            <a:r>
              <a:rPr kumimoji="1" lang="zh-CN" altLang="en-US" dirty="0"/>
              <a:t>表格：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tr</a:t>
            </a:r>
            <a:r>
              <a:rPr kumimoji="1" lang="zh-CN" altLang="en-US" dirty="0"/>
              <a:t>、</a:t>
            </a:r>
            <a:r>
              <a:rPr kumimoji="1" lang="en-US" altLang="zh-CN" dirty="0"/>
              <a:t>td</a:t>
            </a:r>
          </a:p>
          <a:p>
            <a:r>
              <a:rPr kumimoji="1" lang="zh-CN" altLang="en-US" dirty="0"/>
              <a:t>列表：</a:t>
            </a:r>
            <a:r>
              <a:rPr kumimoji="1" lang="en-US" altLang="zh-CN" dirty="0" err="1"/>
              <a:t>ul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ol</a:t>
            </a:r>
            <a:r>
              <a:rPr kumimoji="1" lang="zh-CN" altLang="en-US" dirty="0"/>
              <a:t>、</a:t>
            </a:r>
            <a:r>
              <a:rPr kumimoji="1" lang="en-US" altLang="zh-CN" dirty="0"/>
              <a:t>li</a:t>
            </a:r>
          </a:p>
          <a:p>
            <a:r>
              <a:rPr kumimoji="1" lang="zh-CN" altLang="en-US" dirty="0"/>
              <a:t>图片：</a:t>
            </a:r>
            <a:r>
              <a:rPr kumimoji="1" lang="en-US" altLang="zh-CN" dirty="0" err="1"/>
              <a:t>img</a:t>
            </a:r>
            <a:endParaRPr kumimoji="1" lang="en-US" altLang="zh-CN" dirty="0"/>
          </a:p>
          <a:p>
            <a:r>
              <a:rPr kumimoji="1" lang="zh-CN" altLang="en-US" dirty="0"/>
              <a:t>表单：</a:t>
            </a:r>
            <a:r>
              <a:rPr kumimoji="1" lang="en-US" altLang="zh-CN" dirty="0"/>
              <a:t>input</a:t>
            </a:r>
          </a:p>
          <a:p>
            <a:r>
              <a:rPr kumimoji="1" lang="en-US" altLang="en-US" dirty="0" err="1"/>
              <a:t>链接：a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907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521158" y="439034"/>
            <a:ext cx="8128599" cy="827471"/>
          </a:xfrm>
        </p:spPr>
        <p:txBody>
          <a:bodyPr/>
          <a:lstStyle/>
          <a:p>
            <a:r>
              <a:rPr kumimoji="1" lang="en-US" altLang="zh-CN" dirty="0"/>
              <a:t>HTML5</a:t>
            </a:r>
            <a:r>
              <a:rPr kumimoji="1" lang="zh-CN" altLang="en-US" dirty="0"/>
              <a:t>新增标签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521158" y="2211683"/>
            <a:ext cx="8128599" cy="4409098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0000FF"/>
                </a:solidFill>
              </a:rPr>
              <a:t>1.</a:t>
            </a:r>
            <a:r>
              <a:rPr kumimoji="1" lang="zh-CN" altLang="en-US" b="1" dirty="0">
                <a:solidFill>
                  <a:srgbClr val="0000FF"/>
                </a:solidFill>
              </a:rPr>
              <a:t>结构性标签</a:t>
            </a:r>
            <a:endParaRPr kumimoji="1" lang="en-US" altLang="zh-CN" b="1" dirty="0">
              <a:solidFill>
                <a:srgbClr val="0000F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zh-CN" altLang="en-US" dirty="0"/>
              <a:t>负责</a:t>
            </a:r>
            <a:r>
              <a:rPr kumimoji="1" lang="en-US" altLang="zh-CN" dirty="0"/>
              <a:t>Web</a:t>
            </a:r>
            <a:r>
              <a:rPr kumimoji="1" lang="zh-CN" altLang="en-US" dirty="0"/>
              <a:t>上下文结构的定义，确保</a:t>
            </a:r>
            <a:r>
              <a:rPr kumimoji="1" lang="en-US" altLang="zh-CN" dirty="0"/>
              <a:t>HTML</a:t>
            </a:r>
            <a:r>
              <a:rPr kumimoji="1" lang="zh-CN" altLang="en-US" dirty="0"/>
              <a:t>文档，包括：</a:t>
            </a:r>
            <a:endParaRPr kumimoji="1" lang="en-US" altLang="zh-CN" b="1" dirty="0">
              <a:solidFill>
                <a:srgbClr val="0000FF"/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article</a:t>
            </a:r>
            <a:r>
              <a:rPr kumimoji="1" lang="zh-CN" altLang="en-US" sz="1800" dirty="0">
                <a:solidFill>
                  <a:srgbClr val="FF0000"/>
                </a:solidFill>
              </a:rPr>
              <a:t>  </a:t>
            </a:r>
            <a:r>
              <a:rPr kumimoji="1" lang="zh-CN" altLang="en-US" sz="1800" dirty="0"/>
              <a:t>文章主体内容(一篇博客、一篇论坛帖子、一段用户评论、插件</a:t>
            </a:r>
            <a:r>
              <a:rPr kumimoji="1" lang="en-US" altLang="zh-CN" sz="1800" dirty="0"/>
              <a:t>)</a:t>
            </a:r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header</a:t>
            </a:r>
            <a:r>
              <a:rPr kumimoji="1" lang="zh-CN" altLang="en-US" sz="1800" dirty="0">
                <a:solidFill>
                  <a:srgbClr val="FF0000"/>
                </a:solidFill>
              </a:rPr>
              <a:t> </a:t>
            </a:r>
            <a:r>
              <a:rPr kumimoji="1" lang="en-US" altLang="zh-CN" sz="1800" dirty="0">
                <a:solidFill>
                  <a:srgbClr val="FF0000"/>
                </a:solidFill>
              </a:rPr>
              <a:t> </a:t>
            </a:r>
            <a:r>
              <a:rPr kumimoji="1" lang="zh-CN" altLang="en-US" sz="1800" dirty="0">
                <a:solidFill>
                  <a:srgbClr val="FF0000"/>
                </a:solidFill>
              </a:rPr>
              <a:t> </a:t>
            </a:r>
            <a:r>
              <a:rPr kumimoji="1" lang="zh-CN" altLang="en-US" sz="1800" dirty="0"/>
              <a:t>标记头部区域内容</a:t>
            </a:r>
            <a:endParaRPr kumimoji="1" lang="en-US" altLang="zh-CN" sz="1800" dirty="0"/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footer</a:t>
            </a:r>
            <a:r>
              <a:rPr kumimoji="1" lang="zh-CN" altLang="en-US" sz="1800" dirty="0">
                <a:solidFill>
                  <a:srgbClr val="FF0000"/>
                </a:solidFill>
              </a:rPr>
              <a:t>   </a:t>
            </a:r>
            <a:r>
              <a:rPr kumimoji="1" lang="zh-CN" altLang="en-US" sz="1800" dirty="0"/>
              <a:t>标记脚部区域内容</a:t>
            </a:r>
            <a:endParaRPr kumimoji="1" lang="en-US" altLang="zh-CN" sz="1800" dirty="0"/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section</a:t>
            </a:r>
            <a:r>
              <a:rPr kumimoji="1" lang="zh-CN" altLang="en-US" sz="1800" dirty="0">
                <a:solidFill>
                  <a:srgbClr val="FF0000"/>
                </a:solidFill>
              </a:rPr>
              <a:t>  </a:t>
            </a:r>
            <a:r>
              <a:rPr kumimoji="1" lang="zh-CN" altLang="en-US" sz="1800" dirty="0"/>
              <a:t>区域章节表述</a:t>
            </a:r>
            <a:r>
              <a:rPr kumimoji="1" lang="zh-CN" altLang="en-US" sz="1800" dirty="0">
                <a:solidFill>
                  <a:srgbClr val="FF0000"/>
                </a:solidFill>
              </a:rPr>
              <a:t> </a:t>
            </a:r>
            <a:endParaRPr kumimoji="1" lang="en-US" altLang="zh-CN" sz="1800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en-US" altLang="zh-CN" sz="1800" dirty="0" err="1">
                <a:solidFill>
                  <a:srgbClr val="FF0000"/>
                </a:solidFill>
              </a:rPr>
              <a:t>nav</a:t>
            </a:r>
            <a:r>
              <a:rPr kumimoji="1" lang="zh-CN" altLang="en-US" sz="1800" dirty="0">
                <a:solidFill>
                  <a:srgbClr val="FF0000"/>
                </a:solidFill>
              </a:rPr>
              <a:t>  </a:t>
            </a:r>
            <a:r>
              <a:rPr kumimoji="1" lang="zh-CN" altLang="en-US" sz="1800" dirty="0"/>
              <a:t>    菜单导航</a:t>
            </a:r>
            <a:r>
              <a:rPr kumimoji="1" lang="en-US" altLang="zh-CN" sz="1800" dirty="0"/>
              <a:t>,</a:t>
            </a:r>
            <a:r>
              <a:rPr kumimoji="1" lang="zh-CN" altLang="en-US" sz="1800" dirty="0"/>
              <a:t>链接导航</a:t>
            </a:r>
            <a:endParaRPr kumimoji="1" lang="en-US" altLang="zh-CN" sz="1800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kumimoji="1" lang="en-US" altLang="zh-CN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1158" y="1163959"/>
            <a:ext cx="6842565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30000"/>
              </a:lnSpc>
              <a:spcBef>
                <a:spcPts val="800"/>
              </a:spcBef>
              <a:buSzPct val="75000"/>
            </a:pP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Eurostile"/>
              </a:rPr>
              <a:t>    </a:t>
            </a:r>
            <a:r>
              <a: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Eurostile"/>
              </a:rPr>
              <a:t>HTML5</a:t>
            </a: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Eurostile"/>
              </a:rPr>
              <a:t>新增了</a:t>
            </a:r>
            <a:r>
              <a: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Eurostile"/>
              </a:rPr>
              <a:t>27</a:t>
            </a: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Eurostile"/>
              </a:rPr>
              <a:t>个标签元素</a:t>
            </a:r>
            <a:r>
              <a: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Eurostile"/>
              </a:rPr>
              <a:t>,</a:t>
            </a: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Eurostile"/>
              </a:rPr>
              <a:t>废弃了</a:t>
            </a:r>
            <a:r>
              <a: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Eurostile"/>
              </a:rPr>
              <a:t>16</a:t>
            </a: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Eurostile"/>
              </a:rPr>
              <a:t>个标签元素</a:t>
            </a:r>
            <a:r>
              <a: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Eurostile"/>
              </a:rPr>
              <a:t>,</a:t>
            </a: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Eurostile"/>
              </a:rPr>
              <a:t>主要包括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cs typeface="Eurostile"/>
              </a:rPr>
              <a:t>结构性标签、级块性标签、行内语义性标签、交互性标签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Eurostile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267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521158" y="439034"/>
            <a:ext cx="8128599" cy="827471"/>
          </a:xfrm>
        </p:spPr>
        <p:txBody>
          <a:bodyPr/>
          <a:lstStyle/>
          <a:p>
            <a:r>
              <a:rPr kumimoji="1" lang="en-US" altLang="zh-CN" dirty="0"/>
              <a:t>HTML5</a:t>
            </a:r>
            <a:r>
              <a:rPr kumimoji="1" lang="zh-CN" altLang="en-US" dirty="0"/>
              <a:t>新增标签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78450" y="1369817"/>
            <a:ext cx="8128599" cy="4409098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kumimoji="1" lang="zh-CN" altLang="zh-CN" b="1" dirty="0">
                <a:solidFill>
                  <a:srgbClr val="0000FF"/>
                </a:solidFill>
              </a:rPr>
              <a:t>2</a:t>
            </a:r>
            <a:r>
              <a:rPr kumimoji="1" lang="en-US" altLang="zh-CN" b="1" dirty="0">
                <a:solidFill>
                  <a:srgbClr val="0000FF"/>
                </a:solidFill>
              </a:rPr>
              <a:t>.</a:t>
            </a:r>
            <a:r>
              <a:rPr kumimoji="1" lang="zh-CN" altLang="en-US" b="1" dirty="0">
                <a:solidFill>
                  <a:srgbClr val="0000FF"/>
                </a:solidFill>
              </a:rPr>
              <a:t>块级性标签</a:t>
            </a:r>
            <a:endParaRPr kumimoji="1" lang="en-US" altLang="zh-CN" b="1" dirty="0">
              <a:solidFill>
                <a:srgbClr val="0000F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zh-CN" altLang="en-US" sz="1800" dirty="0"/>
              <a:t>完成</a:t>
            </a:r>
            <a:r>
              <a:rPr kumimoji="1" lang="en-US" altLang="zh-CN" sz="1800" dirty="0"/>
              <a:t>Web</a:t>
            </a:r>
            <a:r>
              <a:rPr kumimoji="1" lang="zh-CN" altLang="en-US" sz="1800" dirty="0"/>
              <a:t>页面区域的划分，确保内容的有效分隔，包括：</a:t>
            </a:r>
            <a:endParaRPr kumimoji="1" lang="en-US" altLang="zh-CN" sz="1800" dirty="0"/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aside</a:t>
            </a:r>
            <a:r>
              <a:rPr kumimoji="1" lang="zh-CN" altLang="en-US" sz="1800" dirty="0">
                <a:solidFill>
                  <a:srgbClr val="FF0000"/>
                </a:solidFill>
              </a:rPr>
              <a:t> </a:t>
            </a:r>
            <a:r>
              <a:rPr kumimoji="1" lang="en-US" altLang="zh-CN" sz="1800" dirty="0">
                <a:solidFill>
                  <a:srgbClr val="FF0000"/>
                </a:solidFill>
              </a:rPr>
              <a:t> </a:t>
            </a:r>
            <a:r>
              <a:rPr kumimoji="1" lang="zh-CN" altLang="en-US" sz="1800" dirty="0">
                <a:solidFill>
                  <a:srgbClr val="FF0000"/>
                </a:solidFill>
              </a:rPr>
              <a:t> </a:t>
            </a:r>
            <a:r>
              <a:rPr kumimoji="1" lang="zh-CN" altLang="en-US" sz="1800" dirty="0"/>
              <a:t>注记</a:t>
            </a:r>
            <a:r>
              <a:rPr kumimoji="1" lang="en-US" altLang="zh-CN" sz="1800" dirty="0"/>
              <a:t>,</a:t>
            </a:r>
            <a:r>
              <a:rPr kumimoji="1" lang="zh-CN" altLang="en-US" sz="1800" dirty="0"/>
              <a:t>贴士</a:t>
            </a:r>
            <a:r>
              <a:rPr kumimoji="1" lang="en-US" altLang="zh-CN" sz="1800" dirty="0"/>
              <a:t>,</a:t>
            </a:r>
            <a:r>
              <a:rPr kumimoji="1" lang="zh-CN" altLang="en-US" sz="1800" dirty="0"/>
              <a:t>侧栏</a:t>
            </a:r>
            <a:r>
              <a:rPr kumimoji="1" lang="en-US" altLang="zh-CN" sz="1800" dirty="0"/>
              <a:t>,</a:t>
            </a:r>
            <a:r>
              <a:rPr kumimoji="1" lang="zh-CN" altLang="en-US" sz="1800" dirty="0"/>
              <a:t>摘要</a:t>
            </a:r>
            <a:r>
              <a:rPr kumimoji="1" lang="en-US" altLang="zh-CN" sz="1800" dirty="0"/>
              <a:t>,</a:t>
            </a:r>
            <a:r>
              <a:rPr kumimoji="1" lang="zh-CN" altLang="en-US" sz="1800" dirty="0"/>
              <a:t>插入的引用作为补充主体的内容</a:t>
            </a:r>
            <a:endParaRPr kumimoji="1" lang="en-US" altLang="zh-CN" sz="1800" dirty="0"/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figure</a:t>
            </a:r>
            <a:r>
              <a:rPr kumimoji="1" lang="zh-CN" altLang="en-US" sz="1800" dirty="0">
                <a:solidFill>
                  <a:srgbClr val="FF0000"/>
                </a:solidFill>
              </a:rPr>
              <a:t>  </a:t>
            </a:r>
            <a:r>
              <a:rPr kumimoji="1" lang="zh-CN" altLang="en-US" sz="1800" dirty="0"/>
              <a:t>对多个元素组合并展示的元素</a:t>
            </a:r>
            <a:r>
              <a:rPr kumimoji="1" lang="en-US" altLang="zh-CN" sz="1800" dirty="0"/>
              <a:t>,</a:t>
            </a:r>
            <a:r>
              <a:rPr kumimoji="1" lang="zh-CN" altLang="en-US" sz="1800" dirty="0"/>
              <a:t>常与</a:t>
            </a:r>
            <a:r>
              <a:rPr kumimoji="1" lang="en-US" altLang="zh-CN" sz="1800" dirty="0">
                <a:solidFill>
                  <a:srgbClr val="0000FF"/>
                </a:solidFill>
              </a:rPr>
              <a:t>figcaption</a:t>
            </a:r>
            <a:r>
              <a:rPr kumimoji="1" lang="zh-CN" altLang="en-US" sz="1800" dirty="0"/>
              <a:t>联合使用</a:t>
            </a:r>
            <a:endParaRPr kumimoji="1" lang="en-US" altLang="zh-CN" sz="1800" dirty="0"/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code</a:t>
            </a:r>
            <a:r>
              <a:rPr kumimoji="1" lang="zh-CN" altLang="en-US" sz="1800" dirty="0">
                <a:solidFill>
                  <a:srgbClr val="FF0000"/>
                </a:solidFill>
              </a:rPr>
              <a:t>    </a:t>
            </a:r>
            <a:r>
              <a:rPr kumimoji="1" lang="zh-CN" altLang="en-US" sz="1800" dirty="0"/>
              <a:t>表示一段代码块</a:t>
            </a:r>
            <a:endParaRPr kumimoji="1" lang="en-US" altLang="zh-CN" sz="1800" dirty="0"/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dialog</a:t>
            </a:r>
            <a:r>
              <a:rPr kumimoji="1" lang="zh-CN" altLang="en-US" sz="1800" dirty="0">
                <a:solidFill>
                  <a:srgbClr val="FF0000"/>
                </a:solidFill>
              </a:rPr>
              <a:t>  </a:t>
            </a:r>
            <a:r>
              <a:rPr kumimoji="1" lang="zh-CN" altLang="en-US" sz="1800" dirty="0"/>
              <a:t>人与人之间对话</a:t>
            </a:r>
            <a:r>
              <a:rPr kumimoji="1" lang="en-US" altLang="zh-CN" sz="1800" dirty="0"/>
              <a:t>,</a:t>
            </a:r>
            <a:r>
              <a:rPr kumimoji="1" lang="zh-CN" altLang="en-US" sz="1800" dirty="0"/>
              <a:t>包含</a:t>
            </a:r>
            <a:r>
              <a:rPr kumimoji="1" lang="en-US" altLang="zh-CN" sz="1800" dirty="0"/>
              <a:t>dt</a:t>
            </a:r>
            <a:r>
              <a:rPr kumimoji="1" lang="zh-CN" altLang="en-US" sz="1800" dirty="0"/>
              <a:t>和</a:t>
            </a:r>
            <a:r>
              <a:rPr kumimoji="1" lang="en-US" altLang="zh-CN" sz="1800" dirty="0" err="1"/>
              <a:t>dd</a:t>
            </a:r>
            <a:r>
              <a:rPr kumimoji="1" lang="zh-CN" altLang="en-US" sz="1800" dirty="0"/>
              <a:t>两个组合元素（</a:t>
            </a:r>
            <a:r>
              <a:rPr kumimoji="1" lang="en-US" altLang="zh-CN" sz="1800" dirty="0"/>
              <a:t>dt</a:t>
            </a:r>
            <a:r>
              <a:rPr kumimoji="1" lang="zh-CN" altLang="en-US" sz="1800" dirty="0"/>
              <a:t>用于表示说话者、</a:t>
            </a:r>
            <a:r>
              <a:rPr kumimoji="1" lang="en-US" altLang="zh-CN" sz="1800" dirty="0" err="1"/>
              <a:t>dd</a:t>
            </a:r>
            <a:r>
              <a:rPr kumimoji="1" lang="zh-CN" altLang="en-US" sz="1800" dirty="0"/>
              <a:t>用于表示说话者的内容）</a:t>
            </a:r>
            <a:endParaRPr kumimoji="1" lang="en-US" altLang="zh-CN" sz="1800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kumimoji="1"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72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521158" y="439034"/>
            <a:ext cx="8128599" cy="827471"/>
          </a:xfrm>
        </p:spPr>
        <p:txBody>
          <a:bodyPr/>
          <a:lstStyle/>
          <a:p>
            <a:r>
              <a:rPr kumimoji="1" lang="en-US" altLang="zh-CN" dirty="0"/>
              <a:t>HTML5</a:t>
            </a:r>
            <a:r>
              <a:rPr kumimoji="1" lang="zh-CN" altLang="en-US" dirty="0"/>
              <a:t>新增标签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78450" y="1369817"/>
            <a:ext cx="8426621" cy="4409098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kumimoji="1" lang="zh-CN" altLang="zh-CN" b="1" dirty="0">
                <a:solidFill>
                  <a:srgbClr val="0000FF"/>
                </a:solidFill>
              </a:rPr>
              <a:t>3</a:t>
            </a:r>
            <a:r>
              <a:rPr kumimoji="1" lang="en-US" altLang="zh-CN" b="1" dirty="0">
                <a:solidFill>
                  <a:srgbClr val="0000FF"/>
                </a:solidFill>
              </a:rPr>
              <a:t>.</a:t>
            </a:r>
            <a:r>
              <a:rPr kumimoji="1" lang="zh-CN" altLang="en-US" b="1" dirty="0">
                <a:solidFill>
                  <a:srgbClr val="0000FF"/>
                </a:solidFill>
              </a:rPr>
              <a:t>行内语义性标签</a:t>
            </a:r>
            <a:endParaRPr kumimoji="1" lang="en-US" altLang="zh-CN" b="1" dirty="0">
              <a:solidFill>
                <a:srgbClr val="0000F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zh-CN" altLang="en-US" dirty="0"/>
              <a:t>完成</a:t>
            </a:r>
            <a:r>
              <a:rPr kumimoji="1" lang="en-US" altLang="zh-CN" dirty="0"/>
              <a:t>Web</a:t>
            </a:r>
            <a:r>
              <a:rPr kumimoji="1" lang="zh-CN" altLang="en-US" dirty="0"/>
              <a:t>页面具体内容的引用和表述，丰富展示内容，包括：</a:t>
            </a:r>
            <a:endParaRPr kumimoji="1" lang="en-US" altLang="zh-CN" b="1" dirty="0">
              <a:solidFill>
                <a:srgbClr val="0000FF"/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meter</a:t>
            </a:r>
            <a:r>
              <a:rPr kumimoji="1" lang="zh-CN" altLang="en-US" sz="1800" dirty="0">
                <a:solidFill>
                  <a:srgbClr val="FF0000"/>
                </a:solidFill>
              </a:rPr>
              <a:t> </a:t>
            </a:r>
            <a:r>
              <a:rPr kumimoji="1" lang="en-US" altLang="zh-CN" sz="1800" dirty="0">
                <a:solidFill>
                  <a:srgbClr val="FF0000"/>
                </a:solidFill>
              </a:rPr>
              <a:t> </a:t>
            </a:r>
            <a:r>
              <a:rPr kumimoji="1" lang="zh-CN" altLang="en-US" sz="1800" dirty="0">
                <a:solidFill>
                  <a:srgbClr val="FF0000"/>
                </a:solidFill>
              </a:rPr>
              <a:t>   </a:t>
            </a:r>
            <a:r>
              <a:rPr kumimoji="1" lang="zh-CN" altLang="en-US" sz="1800" dirty="0"/>
              <a:t>特定范围内的数值，如工资、数量、百分比</a:t>
            </a:r>
            <a:endParaRPr kumimoji="1" lang="en-US" altLang="zh-CN" sz="1800" dirty="0"/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time</a:t>
            </a:r>
            <a:r>
              <a:rPr kumimoji="1" lang="zh-CN" altLang="en-US" sz="1800" dirty="0">
                <a:solidFill>
                  <a:srgbClr val="FF0000"/>
                </a:solidFill>
              </a:rPr>
              <a:t>      </a:t>
            </a:r>
            <a:r>
              <a:rPr kumimoji="1" lang="zh-CN" altLang="en-US" sz="1800" dirty="0"/>
              <a:t>时间值</a:t>
            </a:r>
            <a:endParaRPr kumimoji="1" lang="en-US" altLang="zh-CN" sz="1800" dirty="0"/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progress</a:t>
            </a:r>
            <a:r>
              <a:rPr kumimoji="1" lang="zh-CN" altLang="en-US" sz="1800" dirty="0">
                <a:solidFill>
                  <a:srgbClr val="FF0000"/>
                </a:solidFill>
              </a:rPr>
              <a:t>  </a:t>
            </a:r>
            <a:r>
              <a:rPr kumimoji="1" lang="zh-CN" altLang="en-US" sz="1800" dirty="0"/>
              <a:t>进度条，可用</a:t>
            </a:r>
            <a:r>
              <a:rPr kumimoji="1" lang="en-US" altLang="zh-CN" sz="1800" dirty="0"/>
              <a:t>max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min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step</a:t>
            </a:r>
            <a:r>
              <a:rPr kumimoji="1" lang="zh-CN" altLang="en-US" sz="1800" dirty="0"/>
              <a:t>进行控制，完成对进度的表示和监听   </a:t>
            </a:r>
            <a:endParaRPr kumimoji="1" lang="en-US" altLang="zh-CN" sz="1800" dirty="0"/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video</a:t>
            </a:r>
            <a:r>
              <a:rPr kumimoji="1" lang="zh-CN" altLang="en-US" sz="1800" dirty="0">
                <a:solidFill>
                  <a:srgbClr val="FF0000"/>
                </a:solidFill>
              </a:rPr>
              <a:t>     </a:t>
            </a:r>
            <a:r>
              <a:rPr kumimoji="1" lang="zh-CN" altLang="en-US" sz="1800" dirty="0"/>
              <a:t>视频元素，用于视频播放，支持缓冲预载和多种视频媒体格式</a:t>
            </a:r>
            <a:endParaRPr kumimoji="1" lang="en-US" altLang="zh-CN" sz="1800" dirty="0"/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audio</a:t>
            </a:r>
            <a:r>
              <a:rPr kumimoji="1" lang="zh-CN" altLang="en-US" sz="1800" dirty="0">
                <a:solidFill>
                  <a:srgbClr val="FF0000"/>
                </a:solidFill>
              </a:rPr>
              <a:t>     </a:t>
            </a:r>
            <a:r>
              <a:rPr kumimoji="1" lang="zh-CN" altLang="en-US" sz="1800" dirty="0"/>
              <a:t>音频元素，用于音频播放，支持缓冲预载和多种音频媒体格式</a:t>
            </a:r>
            <a:endParaRPr kumimoji="1" lang="en-US" altLang="zh-CN" sz="1800" dirty="0"/>
          </a:p>
          <a:p>
            <a:pPr marL="0" indent="0">
              <a:lnSpc>
                <a:spcPct val="130000"/>
              </a:lnSpc>
              <a:buNone/>
            </a:pPr>
            <a:endParaRPr kumimoji="1"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873046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521158" y="439034"/>
            <a:ext cx="8128599" cy="827471"/>
          </a:xfrm>
        </p:spPr>
        <p:txBody>
          <a:bodyPr/>
          <a:lstStyle/>
          <a:p>
            <a:r>
              <a:rPr kumimoji="1" lang="en-US" altLang="zh-CN" dirty="0"/>
              <a:t>HTML5</a:t>
            </a:r>
            <a:r>
              <a:rPr kumimoji="1" lang="zh-CN" altLang="en-US" dirty="0"/>
              <a:t>新增标签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78450" y="1369817"/>
            <a:ext cx="8426621" cy="4409098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kumimoji="1" lang="zh-CN" altLang="zh-CN" b="1" dirty="0">
                <a:solidFill>
                  <a:srgbClr val="0000FF"/>
                </a:solidFill>
              </a:rPr>
              <a:t>4</a:t>
            </a:r>
            <a:r>
              <a:rPr kumimoji="1" lang="en-US" altLang="zh-CN" b="1" dirty="0">
                <a:solidFill>
                  <a:srgbClr val="0000FF"/>
                </a:solidFill>
              </a:rPr>
              <a:t>.</a:t>
            </a:r>
            <a:r>
              <a:rPr kumimoji="1" lang="zh-CN" altLang="en-US" b="1" dirty="0">
                <a:solidFill>
                  <a:srgbClr val="0000FF"/>
                </a:solidFill>
              </a:rPr>
              <a:t>交互性标签</a:t>
            </a:r>
            <a:endParaRPr kumimoji="1" lang="en-US" altLang="zh-CN" b="1" dirty="0">
              <a:solidFill>
                <a:srgbClr val="0000F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zh-CN" altLang="en-US" dirty="0"/>
              <a:t>功能性内容的表达，有一定的内容和数据的关联，是各种事件的基础，包括：</a:t>
            </a:r>
            <a:endParaRPr kumimoji="1" lang="en-US" altLang="zh-CN" b="1" dirty="0">
              <a:solidFill>
                <a:srgbClr val="0000FF"/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details</a:t>
            </a:r>
            <a:r>
              <a:rPr kumimoji="1" lang="zh-CN" altLang="en-US" sz="1800" dirty="0">
                <a:solidFill>
                  <a:srgbClr val="FF0000"/>
                </a:solidFill>
              </a:rPr>
              <a:t> </a:t>
            </a:r>
            <a:r>
              <a:rPr kumimoji="1" lang="en-US" altLang="zh-CN" sz="1800" dirty="0">
                <a:solidFill>
                  <a:srgbClr val="FF0000"/>
                </a:solidFill>
              </a:rPr>
              <a:t> </a:t>
            </a:r>
            <a:r>
              <a:rPr kumimoji="1" lang="zh-CN" altLang="en-US" sz="1800" dirty="0">
                <a:solidFill>
                  <a:srgbClr val="FF0000"/>
                </a:solidFill>
              </a:rPr>
              <a:t> </a:t>
            </a:r>
            <a:r>
              <a:rPr kumimoji="1" lang="zh-CN" altLang="en-US" sz="1800" dirty="0"/>
              <a:t>表示一段具体的内容，默认不显示，通过某种方式（单击）与</a:t>
            </a:r>
            <a:r>
              <a:rPr kumimoji="1" lang="en-US" altLang="zh-CN" sz="1800" dirty="0"/>
              <a:t>legend</a:t>
            </a:r>
            <a:r>
              <a:rPr kumimoji="1" lang="zh-CN" altLang="en-US" sz="1800" dirty="0"/>
              <a:t>交互才会显示</a:t>
            </a:r>
            <a:endParaRPr kumimoji="1" lang="en-US" altLang="zh-CN" sz="1800" dirty="0"/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datagrid</a:t>
            </a:r>
            <a:r>
              <a:rPr kumimoji="1" lang="zh-CN" altLang="en-US" sz="1800" dirty="0">
                <a:solidFill>
                  <a:srgbClr val="FF0000"/>
                </a:solidFill>
              </a:rPr>
              <a:t>  </a:t>
            </a:r>
            <a:r>
              <a:rPr kumimoji="1" lang="zh-CN" altLang="en-US" sz="1800" dirty="0"/>
              <a:t>控制客户端数据与显示，可用于动态脚本及时更新</a:t>
            </a:r>
            <a:endParaRPr kumimoji="1" lang="en-US" altLang="zh-CN" sz="1800" dirty="0"/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menu</a:t>
            </a:r>
            <a:r>
              <a:rPr kumimoji="1" lang="zh-CN" altLang="en-US" sz="1800" dirty="0">
                <a:solidFill>
                  <a:srgbClr val="FF0000"/>
                </a:solidFill>
              </a:rPr>
              <a:t>      </a:t>
            </a:r>
            <a:r>
              <a:rPr kumimoji="1" lang="zh-CN" altLang="en-US" sz="1800" dirty="0"/>
              <a:t>用于交互菜单</a:t>
            </a:r>
            <a:endParaRPr kumimoji="1" lang="en-US" altLang="zh-CN" sz="1800" dirty="0"/>
          </a:p>
          <a:p>
            <a:pPr>
              <a:lnSpc>
                <a:spcPct val="130000"/>
              </a:lnSpc>
            </a:pPr>
            <a:r>
              <a:rPr kumimoji="1" lang="en-US" altLang="zh-CN" sz="1800" dirty="0">
                <a:solidFill>
                  <a:srgbClr val="FF0000"/>
                </a:solidFill>
              </a:rPr>
              <a:t>command</a:t>
            </a:r>
            <a:r>
              <a:rPr kumimoji="1" lang="zh-CN" altLang="en-US" sz="1800" dirty="0">
                <a:solidFill>
                  <a:srgbClr val="FF0000"/>
                </a:solidFill>
              </a:rPr>
              <a:t>   </a:t>
            </a:r>
            <a:r>
              <a:rPr kumimoji="1" lang="zh-CN" altLang="en-US" sz="1800" dirty="0"/>
              <a:t>用来处理命令按钮</a:t>
            </a:r>
            <a:endParaRPr kumimoji="1" lang="en-US" altLang="zh-CN" sz="1800" dirty="0"/>
          </a:p>
          <a:p>
            <a:pPr marL="0" indent="0">
              <a:lnSpc>
                <a:spcPct val="130000"/>
              </a:lnSpc>
              <a:buNone/>
            </a:pPr>
            <a:endParaRPr kumimoji="1"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93373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CSS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50977"/>
            <a:ext cx="8128599" cy="4941500"/>
          </a:xfrm>
        </p:spPr>
        <p:txBody>
          <a:bodyPr/>
          <a:lstStyle/>
          <a:p>
            <a:r>
              <a:rPr kumimoji="1" lang="zh-CN" altLang="en-US" dirty="0"/>
              <a:t>什么是</a:t>
            </a:r>
            <a:r>
              <a:rPr kumimoji="1" lang="en-US" altLang="zh-CN" dirty="0"/>
              <a:t>CSS</a:t>
            </a:r>
          </a:p>
          <a:p>
            <a:pPr>
              <a:buFont typeface="Wingdings" charset="2"/>
              <a:buChar char="p"/>
            </a:pPr>
            <a:r>
              <a:rPr kumimoji="1" lang="en-US" altLang="zh-CN" dirty="0"/>
              <a:t>CSS</a:t>
            </a:r>
            <a:r>
              <a:rPr kumimoji="1" lang="zh-CN" altLang="en-US" dirty="0"/>
              <a:t>的全称是</a:t>
            </a:r>
            <a:r>
              <a:rPr kumimoji="1" lang="en-US" altLang="zh-CN" dirty="0"/>
              <a:t>Cascading Style Sheets</a:t>
            </a:r>
            <a:r>
              <a:rPr kumimoji="1" lang="zh-CN" altLang="en-US" dirty="0"/>
              <a:t>，层叠样式表</a:t>
            </a:r>
            <a:endParaRPr kumimoji="1" lang="en-US" altLang="zh-CN" dirty="0"/>
          </a:p>
          <a:p>
            <a:pPr>
              <a:buFont typeface="Wingdings" charset="2"/>
              <a:buChar char="p"/>
            </a:pPr>
            <a:r>
              <a:rPr kumimoji="1" lang="zh-CN" altLang="en-US" dirty="0"/>
              <a:t>它用来控制</a:t>
            </a:r>
            <a:r>
              <a:rPr kumimoji="1" lang="en-US" altLang="zh-CN" dirty="0"/>
              <a:t>HTML</a:t>
            </a:r>
            <a:r>
              <a:rPr kumimoji="1" lang="zh-CN" altLang="en-US" dirty="0"/>
              <a:t>标签的样式，在美化网页中起到非常重要的作用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CSS</a:t>
            </a:r>
            <a:r>
              <a:rPr kumimoji="1" lang="zh-CN" altLang="en-US" dirty="0"/>
              <a:t>的编写格式是键值对形式的，比如</a:t>
            </a:r>
            <a:endParaRPr kumimoji="1"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AA0D91"/>
                </a:solidFill>
                <a:latin typeface="Menlo-Regular"/>
              </a:rPr>
              <a:t>color</a:t>
            </a:r>
            <a:r>
              <a:rPr lang="en-US" altLang="zh-CN" dirty="0">
                <a:solidFill>
                  <a:srgbClr val="000000"/>
                </a:solidFill>
                <a:latin typeface="Menlo-Regular"/>
              </a:rPr>
              <a:t>: </a:t>
            </a:r>
            <a:r>
              <a:rPr lang="en-US" altLang="zh-CN" dirty="0">
                <a:solidFill>
                  <a:srgbClr val="AA0D91"/>
                </a:solidFill>
                <a:latin typeface="Menlo-Regular"/>
              </a:rPr>
              <a:t>red</a:t>
            </a:r>
            <a:r>
              <a:rPr lang="en-US" altLang="zh-CN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AA0D91"/>
                </a:solidFill>
                <a:latin typeface="Menlo-Regular"/>
              </a:rPr>
              <a:t>background-color</a:t>
            </a:r>
            <a:r>
              <a:rPr lang="en-US" altLang="zh-CN" dirty="0">
                <a:solidFill>
                  <a:srgbClr val="000000"/>
                </a:solidFill>
                <a:latin typeface="Menlo-Regular"/>
              </a:rPr>
              <a:t>: </a:t>
            </a:r>
            <a:r>
              <a:rPr lang="en-US" altLang="zh-CN" dirty="0">
                <a:solidFill>
                  <a:srgbClr val="AA0D91"/>
                </a:solidFill>
                <a:latin typeface="Menlo-Regular"/>
              </a:rPr>
              <a:t>blue</a:t>
            </a:r>
            <a:r>
              <a:rPr lang="en-US" altLang="zh-CN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AA0D91"/>
                </a:solidFill>
                <a:latin typeface="Menlo-Regular"/>
              </a:rPr>
              <a:t>font-size</a:t>
            </a:r>
            <a:r>
              <a:rPr lang="en-US" altLang="zh-CN" dirty="0">
                <a:solidFill>
                  <a:srgbClr val="000000"/>
                </a:solidFill>
                <a:latin typeface="Menlo-Regular"/>
              </a:rPr>
              <a:t>: </a:t>
            </a:r>
            <a:r>
              <a:rPr lang="en-US" altLang="zh-CN" dirty="0">
                <a:solidFill>
                  <a:srgbClr val="1C00CF"/>
                </a:solidFill>
                <a:latin typeface="Menlo-Regular"/>
              </a:rPr>
              <a:t>20</a:t>
            </a:r>
            <a:r>
              <a:rPr lang="en-US" altLang="zh-CN" dirty="0">
                <a:solidFill>
                  <a:srgbClr val="AA0D91"/>
                </a:solidFill>
                <a:latin typeface="Menlo-Regular"/>
              </a:rPr>
              <a:t>px</a:t>
            </a:r>
            <a:r>
              <a:rPr lang="en-US" altLang="zh-CN" dirty="0">
                <a:solidFill>
                  <a:srgbClr val="000000"/>
                </a:solidFill>
                <a:latin typeface="Menlo-Regular"/>
              </a:rPr>
              <a:t>;</a:t>
            </a:r>
          </a:p>
          <a:p>
            <a:pPr>
              <a:buFont typeface="Wingdings" charset="2"/>
              <a:buChar char="p"/>
            </a:pPr>
            <a:r>
              <a:rPr kumimoji="1" lang="zh-CN" altLang="en-US" dirty="0"/>
              <a:t>冒号</a:t>
            </a:r>
            <a:r>
              <a:rPr lang="en-US" altLang="zh-CN" dirty="0">
                <a:solidFill>
                  <a:srgbClr val="000000"/>
                </a:solidFill>
                <a:latin typeface="Menlo-Regular"/>
              </a:rPr>
              <a:t>:</a:t>
            </a:r>
            <a:r>
              <a:rPr kumimoji="1" lang="zh-CN" altLang="en-US" dirty="0"/>
              <a:t>左边的是属性名，冒号</a:t>
            </a:r>
            <a:r>
              <a:rPr lang="en-US" altLang="zh-CN" dirty="0">
                <a:solidFill>
                  <a:srgbClr val="000000"/>
                </a:solidFill>
                <a:latin typeface="Menlo-Regular"/>
              </a:rPr>
              <a:t>:</a:t>
            </a:r>
            <a:r>
              <a:rPr kumimoji="1" lang="zh-CN" altLang="en-US" dirty="0"/>
              <a:t>右边的属性值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1884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的</a:t>
            </a:r>
            <a:r>
              <a:rPr kumimoji="1" lang="en-US" altLang="zh-CN"/>
              <a:t>3</a:t>
            </a:r>
            <a:r>
              <a:rPr kumimoji="1" lang="zh-CN" altLang="en-US"/>
              <a:t>种书写形式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50977"/>
            <a:ext cx="8128599" cy="4941500"/>
          </a:xfrm>
        </p:spPr>
        <p:txBody>
          <a:bodyPr>
            <a:normAutofit/>
          </a:bodyPr>
          <a:lstStyle/>
          <a:p>
            <a:r>
              <a:rPr kumimoji="1" lang="en-US" altLang="zh-CN" sz="1800"/>
              <a:t>CSS</a:t>
            </a:r>
            <a:r>
              <a:rPr kumimoji="1" lang="zh-CN" altLang="en-US" sz="1800"/>
              <a:t>有</a:t>
            </a:r>
            <a:r>
              <a:rPr kumimoji="1" lang="en-US" altLang="zh-CN" sz="1800"/>
              <a:t>3</a:t>
            </a:r>
            <a:r>
              <a:rPr kumimoji="1" lang="zh-CN" altLang="en-US" sz="1800"/>
              <a:t>种书写形式</a:t>
            </a:r>
            <a:endParaRPr kumimoji="1" lang="en-US" altLang="zh-CN" sz="1800"/>
          </a:p>
          <a:p>
            <a:pPr>
              <a:buFont typeface="Wingdings" charset="2"/>
              <a:buChar char="p"/>
            </a:pPr>
            <a:r>
              <a:rPr kumimoji="1" lang="zh-CN" altLang="en-US" sz="1800">
                <a:solidFill>
                  <a:srgbClr val="0000FF"/>
                </a:solidFill>
              </a:rPr>
              <a:t>行内</a:t>
            </a:r>
            <a:r>
              <a:rPr kumimoji="1" lang="zh-CN" altLang="en-US" sz="1800"/>
              <a:t>样式：</a:t>
            </a:r>
            <a:r>
              <a:rPr kumimoji="1" lang="zh-CN" altLang="zh-CN" sz="1800"/>
              <a:t>（</a:t>
            </a:r>
            <a:r>
              <a:rPr kumimoji="1" lang="zh-CN" altLang="en-US" sz="1800">
                <a:solidFill>
                  <a:srgbClr val="0000FF"/>
                </a:solidFill>
              </a:rPr>
              <a:t>内联</a:t>
            </a:r>
            <a:r>
              <a:rPr kumimoji="1" lang="zh-CN" altLang="en-US" sz="1800"/>
              <a:t>样式）直接在标签的</a:t>
            </a:r>
            <a:r>
              <a:rPr kumimoji="1" lang="en-US" altLang="zh-CN" sz="1800"/>
              <a:t>style</a:t>
            </a:r>
            <a:r>
              <a:rPr kumimoji="1" lang="zh-CN" altLang="en-US" sz="1800"/>
              <a:t>属性中书写</a:t>
            </a:r>
            <a:endParaRPr kumimoji="1" lang="en-US" altLang="zh-CN" sz="1800"/>
          </a:p>
          <a:p>
            <a:pPr marL="0" indent="0">
              <a:buNone/>
            </a:pPr>
            <a:r>
              <a:rPr lang="en-US" altLang="zh-CN" sz="1800">
                <a:solidFill>
                  <a:srgbClr val="AA0D91"/>
                </a:solidFill>
                <a:latin typeface="Menlo-Regular"/>
              </a:rPr>
              <a:t>&lt;body </a:t>
            </a:r>
            <a:r>
              <a:rPr lang="en-US" altLang="zh-CN" sz="1800">
                <a:solidFill>
                  <a:srgbClr val="836C28"/>
                </a:solidFill>
                <a:latin typeface="Menlo-Regular"/>
              </a:rPr>
              <a:t>style</a:t>
            </a:r>
            <a:r>
              <a:rPr lang="en-US" altLang="zh-CN" sz="1800">
                <a:solidFill>
                  <a:srgbClr val="AA0D91"/>
                </a:solidFill>
                <a:latin typeface="Menlo-Regular"/>
              </a:rPr>
              <a:t>=</a:t>
            </a:r>
            <a:r>
              <a:rPr lang="en-US" altLang="zh-CN" sz="1800">
                <a:solidFill>
                  <a:srgbClr val="C41A16"/>
                </a:solidFill>
                <a:latin typeface="Menlo-Regular"/>
              </a:rPr>
              <a:t>"color: red;"</a:t>
            </a:r>
            <a:r>
              <a:rPr lang="en-US" altLang="zh-CN" sz="1800">
                <a:solidFill>
                  <a:srgbClr val="AA0D91"/>
                </a:solidFill>
                <a:latin typeface="Menlo-Regular"/>
              </a:rPr>
              <a:t>&gt;</a:t>
            </a:r>
          </a:p>
          <a:p>
            <a:pPr marL="0" indent="0">
              <a:buNone/>
            </a:pPr>
            <a:endParaRPr kumimoji="1" lang="en-US" altLang="zh-CN" sz="1800"/>
          </a:p>
          <a:p>
            <a:pPr>
              <a:buFont typeface="Wingdings" charset="2"/>
              <a:buChar char="p"/>
            </a:pPr>
            <a:r>
              <a:rPr kumimoji="1" lang="zh-CN" altLang="en-US" sz="1800">
                <a:solidFill>
                  <a:srgbClr val="0000FF"/>
                </a:solidFill>
              </a:rPr>
              <a:t>页内</a:t>
            </a:r>
            <a:r>
              <a:rPr kumimoji="1" lang="zh-CN" altLang="en-US" sz="1800"/>
              <a:t>样式：在本网页的</a:t>
            </a:r>
            <a:r>
              <a:rPr kumimoji="1" lang="en-US" altLang="zh-CN" sz="1800"/>
              <a:t>style</a:t>
            </a:r>
            <a:r>
              <a:rPr kumimoji="1" lang="zh-CN" altLang="en-US" sz="1800"/>
              <a:t>标签中书写</a:t>
            </a:r>
            <a:endParaRPr kumimoji="1" lang="en-US" altLang="zh-CN" sz="1800"/>
          </a:p>
          <a:p>
            <a:pPr marL="0" indent="0">
              <a:buNone/>
            </a:pPr>
            <a:r>
              <a:rPr lang="en-US" altLang="zh-CN" sz="1800">
                <a:solidFill>
                  <a:srgbClr val="AA0D91"/>
                </a:solidFill>
                <a:latin typeface="Menlo-Regular"/>
              </a:rPr>
              <a:t>&lt;style&gt;</a:t>
            </a:r>
            <a:endParaRPr lang="en-US" altLang="zh-CN" sz="1800">
              <a:solidFill>
                <a:srgbClr val="000000"/>
              </a:solidFill>
              <a:latin typeface="Menlo-Regular"/>
            </a:endParaRPr>
          </a:p>
          <a:p>
            <a:pPr marL="0" indent="0">
              <a:buNone/>
            </a:pPr>
            <a:r>
              <a:rPr lang="cs-CZ" altLang="zh-CN" sz="1800">
                <a:solidFill>
                  <a:srgbClr val="000000"/>
                </a:solidFill>
                <a:latin typeface="Menlo-Regular"/>
              </a:rPr>
              <a:t>    body {</a:t>
            </a:r>
          </a:p>
          <a:p>
            <a:pPr marL="0" indent="0">
              <a:buNone/>
            </a:pPr>
            <a:r>
              <a:rPr lang="ro-RO" altLang="zh-CN" sz="180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ro-RO" altLang="zh-CN" sz="1800">
                <a:solidFill>
                  <a:srgbClr val="AA0D91"/>
                </a:solidFill>
                <a:latin typeface="Menlo-Regular"/>
              </a:rPr>
              <a:t>color</a:t>
            </a:r>
            <a:r>
              <a:rPr lang="ro-RO" altLang="zh-CN" sz="1800">
                <a:solidFill>
                  <a:srgbClr val="000000"/>
                </a:solidFill>
                <a:latin typeface="Menlo-Regular"/>
              </a:rPr>
              <a:t>: </a:t>
            </a:r>
            <a:r>
              <a:rPr lang="ro-RO" altLang="zh-CN" sz="1800">
                <a:solidFill>
                  <a:srgbClr val="AA0D91"/>
                </a:solidFill>
                <a:latin typeface="Menlo-Regular"/>
              </a:rPr>
              <a:t>red</a:t>
            </a:r>
            <a:r>
              <a:rPr lang="ro-RO" altLang="zh-CN" sz="1800">
                <a:solidFill>
                  <a:srgbClr val="000000"/>
                </a:solidFill>
                <a:latin typeface="Menlo-Regular"/>
              </a:rPr>
              <a:t>;</a:t>
            </a:r>
          </a:p>
          <a:p>
            <a:pPr marL="0" indent="0">
              <a:buNone/>
            </a:pPr>
            <a:r>
              <a:rPr lang="ro-RO" altLang="zh-CN" sz="1800">
                <a:solidFill>
                  <a:srgbClr val="000000"/>
                </a:solidFill>
                <a:latin typeface="Menlo-Regular"/>
              </a:rPr>
              <a:t>    }</a:t>
            </a:r>
          </a:p>
          <a:p>
            <a:pPr marL="0" indent="0">
              <a:buNone/>
            </a:pPr>
            <a:r>
              <a:rPr lang="ro-RO" altLang="zh-CN" sz="1800">
                <a:solidFill>
                  <a:srgbClr val="AA0D91"/>
                </a:solidFill>
                <a:latin typeface="Menlo-Regular"/>
              </a:rPr>
              <a:t>&lt;/style&gt;</a:t>
            </a:r>
            <a:endParaRPr kumimoji="1" lang="en-US" altLang="zh-CN" sz="1800"/>
          </a:p>
          <a:p>
            <a:pPr marL="0" indent="0">
              <a:buNone/>
            </a:pPr>
            <a:endParaRPr kumimoji="1" lang="en-US" altLang="zh-CN" sz="1800"/>
          </a:p>
          <a:p>
            <a:pPr>
              <a:buFont typeface="Wingdings" charset="2"/>
              <a:buChar char="p"/>
            </a:pPr>
            <a:r>
              <a:rPr kumimoji="1" lang="zh-CN" altLang="en-US" sz="1800">
                <a:solidFill>
                  <a:srgbClr val="0000FF"/>
                </a:solidFill>
              </a:rPr>
              <a:t>外部</a:t>
            </a:r>
            <a:r>
              <a:rPr kumimoji="1" lang="zh-CN" altLang="en-US" sz="1800"/>
              <a:t>样式：在单独的</a:t>
            </a:r>
            <a:r>
              <a:rPr kumimoji="1" lang="en-US" altLang="zh-CN" sz="1800"/>
              <a:t>CSS</a:t>
            </a:r>
            <a:r>
              <a:rPr kumimoji="1" lang="zh-CN" altLang="en-US" sz="1800"/>
              <a:t>文件中书写，然后在网页中用</a:t>
            </a:r>
            <a:r>
              <a:rPr kumimoji="1" lang="en-US" altLang="zh-CN" sz="1800"/>
              <a:t>link</a:t>
            </a:r>
            <a:r>
              <a:rPr kumimoji="1" lang="zh-CN" altLang="en-US" sz="1800"/>
              <a:t>标签引用</a:t>
            </a:r>
            <a:endParaRPr kumimoji="1" lang="en-US" altLang="zh-CN" sz="1800"/>
          </a:p>
          <a:p>
            <a:pPr marL="0" indent="0">
              <a:buNone/>
            </a:pPr>
            <a:r>
              <a:rPr lang="en-US" altLang="zh-CN" sz="1800">
                <a:solidFill>
                  <a:srgbClr val="AA0D91"/>
                </a:solidFill>
                <a:latin typeface="Menlo-Regular"/>
              </a:rPr>
              <a:t>&lt;link </a:t>
            </a:r>
            <a:r>
              <a:rPr lang="en-US" altLang="zh-CN" sz="1800">
                <a:solidFill>
                  <a:srgbClr val="836C28"/>
                </a:solidFill>
                <a:latin typeface="Menlo-Regular"/>
              </a:rPr>
              <a:t>rel</a:t>
            </a:r>
            <a:r>
              <a:rPr lang="en-US" altLang="zh-CN" sz="1800">
                <a:solidFill>
                  <a:srgbClr val="AA0D91"/>
                </a:solidFill>
                <a:latin typeface="Menlo-Regular"/>
              </a:rPr>
              <a:t>=</a:t>
            </a:r>
            <a:r>
              <a:rPr lang="en-US" altLang="zh-CN" sz="1800">
                <a:solidFill>
                  <a:srgbClr val="C41A16"/>
                </a:solidFill>
                <a:latin typeface="Menlo-Regular"/>
              </a:rPr>
              <a:t>"stylesheet"</a:t>
            </a:r>
            <a:r>
              <a:rPr lang="en-US" altLang="zh-CN" sz="1800">
                <a:solidFill>
                  <a:srgbClr val="AA0D91"/>
                </a:solidFill>
                <a:latin typeface="Menlo-Regular"/>
              </a:rPr>
              <a:t> </a:t>
            </a:r>
            <a:r>
              <a:rPr lang="en-US" altLang="zh-CN" sz="1800">
                <a:solidFill>
                  <a:srgbClr val="836C28"/>
                </a:solidFill>
                <a:latin typeface="Menlo-Regular"/>
              </a:rPr>
              <a:t>href</a:t>
            </a:r>
            <a:r>
              <a:rPr lang="en-US" altLang="zh-CN" sz="1800">
                <a:solidFill>
                  <a:srgbClr val="AA0D91"/>
                </a:solidFill>
                <a:latin typeface="Menlo-Regular"/>
              </a:rPr>
              <a:t>=</a:t>
            </a:r>
            <a:r>
              <a:rPr lang="en-US" altLang="zh-CN" sz="1800">
                <a:solidFill>
                  <a:srgbClr val="C41A16"/>
                </a:solidFill>
                <a:latin typeface="Menlo-Regular"/>
              </a:rPr>
              <a:t>"index.css"</a:t>
            </a:r>
            <a:r>
              <a:rPr lang="en-US" altLang="zh-CN" sz="1800">
                <a:solidFill>
                  <a:srgbClr val="AA0D91"/>
                </a:solidFill>
                <a:latin typeface="Menlo-Regular"/>
              </a:rPr>
              <a:t>&gt;</a:t>
            </a:r>
            <a:endParaRPr kumimoji="1"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248704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CSS</a:t>
            </a:r>
            <a:r>
              <a:rPr kumimoji="1" lang="zh-CN" altLang="en-US" dirty="0"/>
              <a:t>的两大重点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50977"/>
            <a:ext cx="8128599" cy="4941500"/>
          </a:xfrm>
        </p:spPr>
        <p:txBody>
          <a:bodyPr>
            <a:normAutofit/>
          </a:bodyPr>
          <a:lstStyle/>
          <a:p>
            <a:r>
              <a:rPr kumimoji="1" lang="zh-CN" altLang="en-US" sz="2400" dirty="0">
                <a:solidFill>
                  <a:srgbClr val="FF0000"/>
                </a:solidFill>
              </a:rPr>
              <a:t>属性</a:t>
            </a:r>
            <a:endParaRPr kumimoji="1"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zh-CN" altLang="zh-CN" sz="2400" dirty="0">
                <a:solidFill>
                  <a:srgbClr val="FF0000"/>
                </a:solidFill>
              </a:rPr>
              <a:t> </a:t>
            </a:r>
            <a:r>
              <a:rPr kumimoji="1" lang="zh-CN" altLang="en-US" sz="2400" dirty="0">
                <a:solidFill>
                  <a:srgbClr val="FF0000"/>
                </a:solidFill>
              </a:rPr>
              <a:t>  </a:t>
            </a:r>
            <a:r>
              <a:rPr kumimoji="1" lang="zh-CN" altLang="en-US" sz="1800" dirty="0">
                <a:solidFill>
                  <a:schemeClr val="tx1"/>
                </a:solidFill>
              </a:rPr>
              <a:t>通过属性的复杂叠加才能做出漂亮的网页</a:t>
            </a:r>
            <a:endParaRPr kumimoji="1" lang="en-US" altLang="zh-CN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kumimoji="1" lang="en-US" altLang="zh-CN" sz="1800" dirty="0">
              <a:solidFill>
                <a:schemeClr val="tx1"/>
              </a:solidFill>
            </a:endParaRPr>
          </a:p>
          <a:p>
            <a:r>
              <a:rPr kumimoji="1" lang="zh-CN" altLang="en-US" sz="2400" dirty="0">
                <a:solidFill>
                  <a:srgbClr val="FF0000"/>
                </a:solidFill>
              </a:rPr>
              <a:t>选择器</a:t>
            </a:r>
            <a:endParaRPr kumimoji="1"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zh-CN" altLang="zh-CN" sz="2400" dirty="0">
                <a:solidFill>
                  <a:srgbClr val="FF0000"/>
                </a:solidFill>
              </a:rPr>
              <a:t> </a:t>
            </a:r>
            <a:r>
              <a:rPr kumimoji="1" lang="zh-CN" altLang="en-US" sz="2400" dirty="0">
                <a:solidFill>
                  <a:srgbClr val="FF0000"/>
                </a:solidFill>
              </a:rPr>
              <a:t>  </a:t>
            </a:r>
            <a:r>
              <a:rPr kumimoji="1" lang="zh-CN" altLang="en-US" sz="1800" dirty="0">
                <a:solidFill>
                  <a:srgbClr val="000000"/>
                </a:solidFill>
              </a:rPr>
              <a:t>通过选择器找到对应的标签设置样式</a:t>
            </a:r>
            <a:endParaRPr kumimoji="1" lang="en-US" altLang="zh-CN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24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选择器 </a:t>
            </a:r>
            <a:r>
              <a:rPr kumimoji="1" lang="en-US" altLang="zh-CN"/>
              <a:t>–</a:t>
            </a:r>
            <a:r>
              <a:rPr kumimoji="1" lang="zh-CN" altLang="en-US"/>
              <a:t> 标签选择器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7121" y="1408169"/>
            <a:ext cx="8298845" cy="1873684"/>
          </a:xfrm>
        </p:spPr>
        <p:txBody>
          <a:bodyPr>
            <a:normAutofit/>
          </a:bodyPr>
          <a:lstStyle/>
          <a:p>
            <a:r>
              <a:rPr kumimoji="1" lang="zh-CN" altLang="en-US" sz="1800"/>
              <a:t>选择器的作用</a:t>
            </a:r>
            <a:endParaRPr kumimoji="1" lang="en-US" altLang="zh-CN" sz="1800"/>
          </a:p>
          <a:p>
            <a:pPr>
              <a:buFont typeface="Wingdings" charset="2"/>
              <a:buChar char="p"/>
            </a:pPr>
            <a:r>
              <a:rPr kumimoji="1" lang="zh-CN" altLang="en-US" sz="1800"/>
              <a:t>选择对应的标签，为之添加样式</a:t>
            </a:r>
            <a:endParaRPr kumimoji="1" lang="en-US" altLang="zh-CN" sz="1800"/>
          </a:p>
          <a:p>
            <a:pPr>
              <a:buFont typeface="Wingdings" charset="2"/>
              <a:buChar char="p"/>
            </a:pPr>
            <a:endParaRPr kumimoji="1" lang="en-US" altLang="zh-CN" sz="1800"/>
          </a:p>
          <a:p>
            <a:r>
              <a:rPr kumimoji="1" lang="zh-CN" altLang="en-US" sz="1800"/>
              <a:t>标签选择器</a:t>
            </a:r>
            <a:endParaRPr kumimoji="1" lang="en-US" altLang="zh-CN" sz="1800"/>
          </a:p>
          <a:p>
            <a:pPr>
              <a:buFont typeface="Wingdings" charset="2"/>
              <a:buChar char="p"/>
            </a:pPr>
            <a:r>
              <a:rPr kumimoji="1" lang="zh-CN" altLang="en-US" sz="1800"/>
              <a:t>根据标签名找到标签</a:t>
            </a:r>
            <a:endParaRPr kumimoji="1" lang="en-US" altLang="zh-CN" sz="1800"/>
          </a:p>
        </p:txBody>
      </p:sp>
      <p:pic>
        <p:nvPicPr>
          <p:cNvPr id="4" name="图片 3" descr="QQ20140924-4@2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288" y="3371563"/>
            <a:ext cx="2641098" cy="1223924"/>
          </a:xfrm>
          <a:prstGeom prst="rect">
            <a:avLst/>
          </a:prstGeom>
        </p:spPr>
      </p:pic>
      <p:pic>
        <p:nvPicPr>
          <p:cNvPr id="5" name="图片 4" descr="QQ20140924-3@2x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58" y="3447004"/>
            <a:ext cx="3798828" cy="1148483"/>
          </a:xfrm>
          <a:prstGeom prst="rect">
            <a:avLst/>
          </a:prstGeom>
        </p:spPr>
      </p:pic>
      <p:pic>
        <p:nvPicPr>
          <p:cNvPr id="6" name="图片 5" descr="QQ20140924-2@2x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170" y="4832068"/>
            <a:ext cx="2155786" cy="130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36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选择器</a:t>
            </a:r>
            <a:r>
              <a:rPr kumimoji="1" lang="en-US" altLang="zh-CN"/>
              <a:t> – </a:t>
            </a:r>
            <a:r>
              <a:rPr kumimoji="1" lang="zh-CN" altLang="en-US"/>
              <a:t>类选择器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5646" y="5182262"/>
            <a:ext cx="2054888" cy="799060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n"/>
            </a:pPr>
            <a:r>
              <a:rPr kumimoji="1" lang="zh-CN" altLang="en-US" sz="1800"/>
              <a:t>类选择器的格式</a:t>
            </a:r>
            <a:endParaRPr kumimoji="1" lang="en-US" altLang="zh-CN" sz="1800"/>
          </a:p>
          <a:p>
            <a:pPr>
              <a:buFont typeface="Wingdings" charset="2"/>
              <a:buChar char="p"/>
            </a:pPr>
            <a:r>
              <a:rPr kumimoji="1" lang="en-US" altLang="zh-CN" sz="1800">
                <a:solidFill>
                  <a:srgbClr val="0000FF"/>
                </a:solidFill>
              </a:rPr>
              <a:t>.</a:t>
            </a:r>
            <a:r>
              <a:rPr kumimoji="1" lang="zh-CN" altLang="en-US" sz="1800">
                <a:solidFill>
                  <a:srgbClr val="0000FF"/>
                </a:solidFill>
              </a:rPr>
              <a:t>类名</a:t>
            </a:r>
            <a:endParaRPr kumimoji="1" lang="en-US" altLang="zh-CN" sz="1800">
              <a:solidFill>
                <a:srgbClr val="0000FF"/>
              </a:solidFill>
            </a:endParaRPr>
          </a:p>
        </p:txBody>
      </p:sp>
      <p:pic>
        <p:nvPicPr>
          <p:cNvPr id="5" name="图片 4" descr="QQ20140924-5@2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712" y="3029467"/>
            <a:ext cx="2212267" cy="2138525"/>
          </a:xfrm>
          <a:prstGeom prst="rect">
            <a:avLst/>
          </a:prstGeom>
        </p:spPr>
      </p:pic>
      <p:pic>
        <p:nvPicPr>
          <p:cNvPr id="6" name="图片 5" descr="QQ20140924-7@2x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46" y="1394440"/>
            <a:ext cx="3836588" cy="1534636"/>
          </a:xfrm>
          <a:prstGeom prst="rect">
            <a:avLst/>
          </a:prstGeom>
        </p:spPr>
      </p:pic>
      <p:pic>
        <p:nvPicPr>
          <p:cNvPr id="7" name="图片 6" descr="QQ20140924-6@2x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945" y="1408709"/>
            <a:ext cx="2970806" cy="138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44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选择器</a:t>
            </a:r>
            <a:r>
              <a:rPr kumimoji="1" lang="en-US" altLang="zh-CN"/>
              <a:t> – </a:t>
            </a:r>
            <a:r>
              <a:rPr kumimoji="1" lang="en-US" altLang="en-US"/>
              <a:t>id</a:t>
            </a:r>
            <a:r>
              <a:rPr kumimoji="1" lang="zh-CN" altLang="en-US"/>
              <a:t>选择器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5646" y="5182262"/>
            <a:ext cx="2054888" cy="799060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n"/>
            </a:pPr>
            <a:r>
              <a:rPr kumimoji="1" lang="en-US" altLang="zh-CN" sz="1800"/>
              <a:t>id</a:t>
            </a:r>
            <a:r>
              <a:rPr kumimoji="1" lang="zh-CN" altLang="en-US" sz="1800"/>
              <a:t>选择器的格式</a:t>
            </a:r>
            <a:endParaRPr kumimoji="1" lang="en-US" altLang="zh-CN" sz="1800"/>
          </a:p>
          <a:p>
            <a:pPr>
              <a:buFont typeface="Wingdings" charset="2"/>
              <a:buChar char="p"/>
            </a:pPr>
            <a:r>
              <a:rPr kumimoji="1" lang="en-US" altLang="zh-CN" sz="1800">
                <a:solidFill>
                  <a:srgbClr val="0000FF"/>
                </a:solidFill>
              </a:rPr>
              <a:t>#id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712" y="2796707"/>
            <a:ext cx="2212267" cy="15124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46" y="1553504"/>
            <a:ext cx="3836588" cy="75990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298" y="1408709"/>
            <a:ext cx="2922103" cy="138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4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选择器</a:t>
            </a:r>
            <a:r>
              <a:rPr kumimoji="1" lang="en-US" altLang="zh-CN"/>
              <a:t> – </a:t>
            </a:r>
            <a:r>
              <a:rPr kumimoji="1" lang="en-US" altLang="en-US"/>
              <a:t>并列</a:t>
            </a:r>
            <a:r>
              <a:rPr kumimoji="1" lang="zh-CN" altLang="en-US"/>
              <a:t>选择器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343" y="2796707"/>
            <a:ext cx="2004073" cy="196952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74" y="1450976"/>
            <a:ext cx="3270810" cy="124320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298" y="1507048"/>
            <a:ext cx="2922103" cy="119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17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选择器</a:t>
            </a:r>
            <a:r>
              <a:rPr kumimoji="1" lang="en-US" altLang="zh-CN"/>
              <a:t> – </a:t>
            </a:r>
            <a:r>
              <a:rPr kumimoji="1" lang="zh-CN" altLang="en-US"/>
              <a:t>复合选择器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094" y="2862933"/>
            <a:ext cx="2004073" cy="183706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74" y="1450976"/>
            <a:ext cx="3270810" cy="124320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298" y="1486326"/>
            <a:ext cx="2922103" cy="123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2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选择器</a:t>
            </a:r>
            <a:r>
              <a:rPr kumimoji="1" lang="en-US" altLang="zh-CN"/>
              <a:t> – </a:t>
            </a:r>
            <a:r>
              <a:rPr kumimoji="1" lang="zh-CN" altLang="en-US"/>
              <a:t>后代选择器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322" y="3951913"/>
            <a:ext cx="2910142" cy="178419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55" y="1450975"/>
            <a:ext cx="4119427" cy="21162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309" y="1814511"/>
            <a:ext cx="2712076" cy="123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3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选择器</a:t>
            </a:r>
            <a:r>
              <a:rPr kumimoji="1" lang="en-US" altLang="zh-CN"/>
              <a:t> – </a:t>
            </a:r>
            <a:r>
              <a:rPr kumimoji="1" lang="en-US" altLang="en-US"/>
              <a:t>直接后代</a:t>
            </a:r>
            <a:r>
              <a:rPr kumimoji="1" lang="zh-CN" altLang="en-US"/>
              <a:t>选择器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322" y="4028160"/>
            <a:ext cx="2910142" cy="163169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55" y="1450975"/>
            <a:ext cx="4119427" cy="21162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762" y="1714629"/>
            <a:ext cx="2525173" cy="123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选择器</a:t>
            </a:r>
            <a:r>
              <a:rPr kumimoji="1" lang="en-US" altLang="zh-CN"/>
              <a:t> – </a:t>
            </a:r>
            <a:r>
              <a:rPr kumimoji="1" lang="zh-CN" altLang="en-US"/>
              <a:t>相邻</a:t>
            </a:r>
            <a:r>
              <a:rPr kumimoji="1" lang="en-US" altLang="en-US"/>
              <a:t>兄弟</a:t>
            </a:r>
            <a:r>
              <a:rPr kumimoji="1" lang="zh-CN" altLang="en-US"/>
              <a:t>选择器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279" y="4185118"/>
            <a:ext cx="2803637" cy="202915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91" y="1436707"/>
            <a:ext cx="4355116" cy="25771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762" y="1735069"/>
            <a:ext cx="2525173" cy="119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8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选择器</a:t>
            </a:r>
            <a:r>
              <a:rPr kumimoji="1" lang="en-US" altLang="zh-CN"/>
              <a:t> – </a:t>
            </a:r>
            <a:r>
              <a:rPr kumimoji="1" lang="en-US" altLang="en-US"/>
              <a:t>属性</a:t>
            </a:r>
            <a:r>
              <a:rPr kumimoji="1" lang="zh-CN" altLang="en-US"/>
              <a:t>选择器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199" y="3343252"/>
            <a:ext cx="1860056" cy="202915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91" y="1568394"/>
            <a:ext cx="4355116" cy="125628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646" y="1551918"/>
            <a:ext cx="2253400" cy="119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6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选择器</a:t>
            </a:r>
            <a:r>
              <a:rPr kumimoji="1" lang="en-US" altLang="zh-CN"/>
              <a:t> – </a:t>
            </a:r>
            <a:r>
              <a:rPr kumimoji="1" lang="en-US" altLang="en-US"/>
              <a:t>属性</a:t>
            </a:r>
            <a:r>
              <a:rPr kumimoji="1" lang="zh-CN" altLang="en-US"/>
              <a:t>选择器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339" y="3614362"/>
            <a:ext cx="2102939" cy="202915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91" y="1754712"/>
            <a:ext cx="4355116" cy="88364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762" y="1657356"/>
            <a:ext cx="2525173" cy="98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1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选择器</a:t>
            </a:r>
            <a:r>
              <a:rPr kumimoji="1" lang="en-US" altLang="zh-CN"/>
              <a:t> – </a:t>
            </a:r>
            <a:r>
              <a:rPr kumimoji="1" lang="en-US" altLang="en-US"/>
              <a:t>属性</a:t>
            </a:r>
            <a:r>
              <a:rPr kumimoji="1" lang="zh-CN" altLang="en-US"/>
              <a:t>选择器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403" y="3566610"/>
            <a:ext cx="1860056" cy="15824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91" y="1568394"/>
            <a:ext cx="4355116" cy="125628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647" y="1568394"/>
            <a:ext cx="3053033" cy="107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91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选择器 </a:t>
            </a:r>
            <a:r>
              <a:rPr kumimoji="1" lang="en-US" altLang="zh-CN"/>
              <a:t>–</a:t>
            </a:r>
            <a:r>
              <a:rPr kumimoji="1" lang="zh-CN" altLang="en-US"/>
              <a:t> 伪类</a:t>
            </a:r>
          </a:p>
        </p:txBody>
      </p:sp>
      <p:pic>
        <p:nvPicPr>
          <p:cNvPr id="9" name="图片 8" descr="QQ20140924-7@2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25" y="1981201"/>
            <a:ext cx="7578077" cy="368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85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选择器 </a:t>
            </a:r>
            <a:r>
              <a:rPr kumimoji="1" lang="en-US" altLang="zh-CN"/>
              <a:t>–</a:t>
            </a:r>
            <a:r>
              <a:rPr kumimoji="1" lang="zh-CN" altLang="en-US"/>
              <a:t> 伪元素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25" y="2259894"/>
            <a:ext cx="7578077" cy="261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选择器 </a:t>
            </a:r>
            <a:r>
              <a:rPr kumimoji="1" lang="en-US" altLang="zh-CN"/>
              <a:t>–</a:t>
            </a:r>
            <a:r>
              <a:rPr kumimoji="1" lang="zh-CN" altLang="en-US"/>
              <a:t> 选择器优先级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7121" y="1408169"/>
            <a:ext cx="8298845" cy="5041384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</a:rPr>
              <a:t>选择器的针对性越强，它的优先级就越高</a:t>
            </a:r>
            <a:endParaRPr lang="en-US" altLang="zh-CN" sz="1800" dirty="0">
              <a:solidFill>
                <a:srgbClr val="FF0000"/>
              </a:solidFill>
            </a:endParaRPr>
          </a:p>
          <a:p>
            <a:endParaRPr kumimoji="1" lang="en-US" altLang="zh-CN" sz="1800" dirty="0"/>
          </a:p>
          <a:p>
            <a:r>
              <a:rPr kumimoji="1" lang="zh-CN" altLang="en-US" sz="1800" dirty="0"/>
              <a:t>选择器的权值</a:t>
            </a:r>
            <a:endParaRPr kumimoji="1" lang="en-US" altLang="zh-CN" sz="1800" dirty="0"/>
          </a:p>
          <a:p>
            <a:pPr>
              <a:buFont typeface="Wingdings" charset="2"/>
              <a:buChar char="p"/>
            </a:pPr>
            <a:r>
              <a:rPr lang="zh-TW" altLang="en-US" sz="1800" dirty="0">
                <a:solidFill>
                  <a:srgbClr val="0000FF"/>
                </a:solidFill>
              </a:rPr>
              <a:t>通配选择符</a:t>
            </a:r>
            <a:r>
              <a:rPr lang="zh-TW" altLang="en-US" sz="1800" dirty="0"/>
              <a:t>（*）：</a:t>
            </a:r>
            <a:r>
              <a:rPr lang="en-US" altLang="zh-TW" sz="1800" dirty="0"/>
              <a:t>0</a:t>
            </a:r>
          </a:p>
          <a:p>
            <a:pPr>
              <a:buFont typeface="Wingdings" charset="2"/>
              <a:buChar char="p"/>
            </a:pPr>
            <a:r>
              <a:rPr lang="zh-TW" altLang="en-US" sz="1800" dirty="0">
                <a:solidFill>
                  <a:srgbClr val="FF0000"/>
                </a:solidFill>
              </a:rPr>
              <a:t>标签</a:t>
            </a:r>
            <a:r>
              <a:rPr lang="zh-TW" altLang="en-US" sz="1800" dirty="0"/>
              <a:t>： </a:t>
            </a:r>
            <a:r>
              <a:rPr lang="en-US" altLang="zh-TW" sz="1800" dirty="0"/>
              <a:t>1</a:t>
            </a:r>
          </a:p>
          <a:p>
            <a:pPr>
              <a:buFont typeface="Wingdings" charset="2"/>
              <a:buChar char="p"/>
            </a:pPr>
            <a:r>
              <a:rPr lang="zh-TW" altLang="en-US" sz="1800" dirty="0">
                <a:solidFill>
                  <a:srgbClr val="FF0000"/>
                </a:solidFill>
              </a:rPr>
              <a:t>类</a:t>
            </a:r>
            <a:r>
              <a:rPr lang="zh-TW" altLang="en-US" sz="1800" dirty="0"/>
              <a:t>： </a:t>
            </a:r>
            <a:r>
              <a:rPr lang="en-US" altLang="zh-TW" sz="1800" dirty="0"/>
              <a:t>10</a:t>
            </a:r>
          </a:p>
          <a:p>
            <a:pPr>
              <a:buFont typeface="Wingdings" charset="2"/>
              <a:buChar char="p"/>
            </a:pPr>
            <a:r>
              <a:rPr lang="zh-TW" altLang="en-US" sz="1800" dirty="0">
                <a:solidFill>
                  <a:srgbClr val="0000FF"/>
                </a:solidFill>
              </a:rPr>
              <a:t>属性</a:t>
            </a:r>
            <a:r>
              <a:rPr lang="zh-TW" altLang="en-US" sz="1800" dirty="0"/>
              <a:t>： </a:t>
            </a:r>
            <a:r>
              <a:rPr lang="en-US" altLang="zh-CN" sz="1800" dirty="0"/>
              <a:t>10</a:t>
            </a:r>
            <a:endParaRPr lang="en-US" altLang="zh-TW" sz="1800" dirty="0"/>
          </a:p>
          <a:p>
            <a:pPr>
              <a:buFont typeface="Wingdings" charset="2"/>
              <a:buChar char="p"/>
            </a:pPr>
            <a:r>
              <a:rPr lang="zh-TW" altLang="en-US" sz="1800" dirty="0">
                <a:solidFill>
                  <a:srgbClr val="FF0000"/>
                </a:solidFill>
              </a:rPr>
              <a:t>伪类</a:t>
            </a:r>
            <a:r>
              <a:rPr lang="zh-TW" altLang="en-US" sz="1800" dirty="0"/>
              <a:t>： </a:t>
            </a:r>
            <a:r>
              <a:rPr lang="en-US" altLang="zh-TW" sz="1800" dirty="0"/>
              <a:t>10</a:t>
            </a:r>
          </a:p>
          <a:p>
            <a:pPr>
              <a:buFont typeface="Wingdings" charset="2"/>
              <a:buChar char="p"/>
            </a:pPr>
            <a:r>
              <a:rPr lang="zh-TW" altLang="en-US" sz="1800" dirty="0">
                <a:solidFill>
                  <a:srgbClr val="0000FF"/>
                </a:solidFill>
              </a:rPr>
              <a:t>伪</a:t>
            </a:r>
            <a:r>
              <a:rPr lang="en-US" altLang="en-US" sz="1800" dirty="0">
                <a:solidFill>
                  <a:srgbClr val="0000FF"/>
                </a:solidFill>
              </a:rPr>
              <a:t>元素</a:t>
            </a:r>
            <a:r>
              <a:rPr lang="zh-TW" altLang="en-US" sz="1800" dirty="0"/>
              <a:t>： </a:t>
            </a:r>
            <a:r>
              <a:rPr lang="en-US" altLang="zh-TW" sz="1800" dirty="0"/>
              <a:t>1</a:t>
            </a:r>
          </a:p>
          <a:p>
            <a:pPr>
              <a:buFont typeface="Wingdings" charset="2"/>
              <a:buChar char="p"/>
            </a:pPr>
            <a:r>
              <a:rPr lang="en-US" altLang="zh-CN" sz="1800" dirty="0">
                <a:solidFill>
                  <a:srgbClr val="FF0000"/>
                </a:solidFill>
              </a:rPr>
              <a:t>id</a:t>
            </a:r>
            <a:r>
              <a:rPr lang="zh-TW" altLang="en-US" sz="1800" dirty="0"/>
              <a:t>： </a:t>
            </a:r>
            <a:r>
              <a:rPr lang="en-US" altLang="zh-TW" sz="1800" dirty="0"/>
              <a:t>100</a:t>
            </a:r>
          </a:p>
          <a:p>
            <a:pPr>
              <a:buFont typeface="Wingdings" charset="2"/>
              <a:buChar char="p"/>
            </a:pPr>
            <a:r>
              <a:rPr lang="en-US" altLang="zh-TW" sz="1800" dirty="0">
                <a:solidFill>
                  <a:srgbClr val="FF0000"/>
                </a:solidFill>
              </a:rPr>
              <a:t>important</a:t>
            </a:r>
            <a:r>
              <a:rPr lang="zh-TW" altLang="en-US" sz="1800" dirty="0"/>
              <a:t>： </a:t>
            </a:r>
            <a:r>
              <a:rPr lang="en-US" altLang="zh-TW" sz="1800" dirty="0"/>
              <a:t>1000</a:t>
            </a:r>
          </a:p>
          <a:p>
            <a:r>
              <a:rPr lang="zh-CN" altLang="en-US" sz="1800" b="1" dirty="0"/>
              <a:t>原则：</a:t>
            </a:r>
            <a:r>
              <a:rPr lang="zh-CN" altLang="en-US" sz="1800" b="1" dirty="0">
                <a:solidFill>
                  <a:srgbClr val="FF0000"/>
                </a:solidFill>
              </a:rPr>
              <a:t>选择器的权值加到一起，大的优先；如果权值相同，后定义的优先</a:t>
            </a:r>
            <a:endParaRPr lang="en-US" altLang="zh-TW" sz="1800" dirty="0">
              <a:solidFill>
                <a:srgbClr val="FF0000"/>
              </a:solidFill>
            </a:endParaRPr>
          </a:p>
          <a:p>
            <a:endParaRPr kumimoji="1"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41360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选择器 </a:t>
            </a:r>
            <a:r>
              <a:rPr kumimoji="1" lang="en-US" altLang="zh-CN"/>
              <a:t>–</a:t>
            </a:r>
            <a:r>
              <a:rPr kumimoji="1" lang="zh-CN" altLang="en-US"/>
              <a:t> 选择器优先级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7121" y="1408169"/>
            <a:ext cx="8298845" cy="5041384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优先级排序</a:t>
            </a:r>
            <a:endParaRPr lang="en-US" altLang="zh-CN" sz="1800" dirty="0"/>
          </a:p>
          <a:p>
            <a:pPr>
              <a:buFont typeface="Wingdings" charset="2"/>
              <a:buChar char="p"/>
            </a:pPr>
            <a:r>
              <a:rPr lang="en-US" altLang="zh-TW" sz="1800" dirty="0"/>
              <a:t>important &gt; </a:t>
            </a:r>
            <a:r>
              <a:rPr lang="zh-TW" altLang="en-US" sz="1800" dirty="0"/>
              <a:t>内联 </a:t>
            </a:r>
            <a:r>
              <a:rPr lang="en-US" altLang="zh-TW" sz="1800" dirty="0"/>
              <a:t>&gt; id &gt; </a:t>
            </a:r>
            <a:r>
              <a:rPr lang="zh-TW" altLang="en-US" sz="1800" dirty="0"/>
              <a:t>类 </a:t>
            </a:r>
            <a:r>
              <a:rPr lang="en-US" altLang="zh-TW" sz="1800" dirty="0"/>
              <a:t>&gt; </a:t>
            </a:r>
            <a:r>
              <a:rPr lang="zh-TW" altLang="en-US" sz="1800" dirty="0"/>
              <a:t>标签 </a:t>
            </a:r>
            <a:r>
              <a:rPr lang="en-US" altLang="zh-TW" sz="1800" dirty="0"/>
              <a:t>| </a:t>
            </a:r>
            <a:r>
              <a:rPr lang="zh-TW" altLang="en-US" sz="1800" dirty="0"/>
              <a:t>伪类 </a:t>
            </a:r>
            <a:r>
              <a:rPr lang="en-US" altLang="zh-TW" sz="1800" dirty="0"/>
              <a:t>| </a:t>
            </a:r>
            <a:r>
              <a:rPr lang="zh-TW" altLang="en-US" sz="1800" dirty="0"/>
              <a:t>属性选择 </a:t>
            </a:r>
            <a:r>
              <a:rPr lang="en-US" altLang="zh-TW" sz="1800" dirty="0"/>
              <a:t>&gt; </a:t>
            </a:r>
            <a:r>
              <a:rPr lang="zh-TW" altLang="en-US" sz="1800" dirty="0"/>
              <a:t>伪</a:t>
            </a:r>
            <a:r>
              <a:rPr lang="zh-CN" altLang="en-US" sz="1800" dirty="0"/>
              <a:t>元素</a:t>
            </a:r>
            <a:r>
              <a:rPr lang="zh-TW" altLang="en-US" sz="1800" dirty="0"/>
              <a:t> </a:t>
            </a:r>
            <a:r>
              <a:rPr lang="en-US" altLang="zh-TW" sz="1800" dirty="0"/>
              <a:t>&gt; </a:t>
            </a:r>
            <a:r>
              <a:rPr lang="zh-TW" altLang="en-US" sz="1800" dirty="0"/>
              <a:t>通配符 </a:t>
            </a:r>
            <a:r>
              <a:rPr lang="en-US" altLang="zh-TW" sz="1800" dirty="0"/>
              <a:t>&gt; </a:t>
            </a:r>
            <a:r>
              <a:rPr lang="zh-TW" altLang="en-US" sz="1800" dirty="0"/>
              <a:t>继承</a:t>
            </a:r>
            <a:endParaRPr lang="en-US" altLang="zh-TW" sz="1800" dirty="0"/>
          </a:p>
        </p:txBody>
      </p:sp>
    </p:spTree>
    <p:extLst>
      <p:ext uri="{BB962C8B-B14F-4D97-AF65-F5344CB8AC3E}">
        <p14:creationId xmlns:p14="http://schemas.microsoft.com/office/powerpoint/2010/main" val="228789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HTML标签类型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50977"/>
            <a:ext cx="8128599" cy="4941500"/>
          </a:xfrm>
        </p:spPr>
        <p:txBody>
          <a:bodyPr/>
          <a:lstStyle/>
          <a:p>
            <a:r>
              <a:rPr kumimoji="1" lang="en-US" altLang="zh-CN"/>
              <a:t>HTML</a:t>
            </a:r>
            <a:r>
              <a:rPr kumimoji="1" lang="zh-CN" altLang="en-US"/>
              <a:t>有</a:t>
            </a:r>
            <a:r>
              <a:rPr kumimoji="1" lang="en-US" altLang="zh-CN"/>
              <a:t>N</a:t>
            </a:r>
            <a:r>
              <a:rPr kumimoji="1" lang="zh-CN" altLang="en-US"/>
              <a:t>多标签，根据显示的类型，主要可以分为</a:t>
            </a:r>
            <a:r>
              <a:rPr kumimoji="1" lang="en-US" altLang="zh-CN"/>
              <a:t>3</a:t>
            </a:r>
            <a:r>
              <a:rPr kumimoji="1" lang="zh-CN" altLang="en-US"/>
              <a:t>大类</a:t>
            </a:r>
            <a:endParaRPr kumimoji="1" lang="en-US" altLang="zh-CN"/>
          </a:p>
          <a:p>
            <a:pPr>
              <a:buFont typeface="Wingdings" charset="2"/>
              <a:buChar char="p"/>
            </a:pPr>
            <a:r>
              <a:rPr kumimoji="1" lang="en-US" altLang="en-US">
                <a:solidFill>
                  <a:srgbClr val="0000FF"/>
                </a:solidFill>
              </a:rPr>
              <a:t>块级</a:t>
            </a:r>
            <a:r>
              <a:rPr kumimoji="1" lang="zh-CN" altLang="en-US"/>
              <a:t>标签</a:t>
            </a:r>
            <a:endParaRPr kumimoji="1" lang="en-US" altLang="zh-CN"/>
          </a:p>
          <a:p>
            <a:pPr>
              <a:buFont typeface="Wingdings" charset="2"/>
              <a:buChar char="ü"/>
            </a:pPr>
            <a:r>
              <a:rPr kumimoji="1" lang="zh-CN" altLang="en-US">
                <a:solidFill>
                  <a:srgbClr val="FF6600"/>
                </a:solidFill>
              </a:rPr>
              <a:t>独占一行</a:t>
            </a:r>
            <a:r>
              <a:rPr kumimoji="1" lang="zh-CN" altLang="en-US"/>
              <a:t>的标签</a:t>
            </a:r>
            <a:endParaRPr kumimoji="1" lang="en-US" altLang="zh-CN"/>
          </a:p>
          <a:p>
            <a:pPr>
              <a:buFont typeface="Wingdings" charset="2"/>
              <a:buChar char="ü"/>
            </a:pPr>
            <a:r>
              <a:rPr kumimoji="1" lang="zh-CN" altLang="en-US">
                <a:solidFill>
                  <a:schemeClr val="accent2"/>
                </a:solidFill>
              </a:rPr>
              <a:t>能随时设置宽度和高度</a:t>
            </a:r>
            <a:r>
              <a:rPr kumimoji="1" lang="zh-CN" altLang="en-US"/>
              <a:t>（比如</a:t>
            </a:r>
            <a:r>
              <a:rPr kumimoji="1" lang="en-US" altLang="zh-CN"/>
              <a:t>div</a:t>
            </a:r>
            <a:r>
              <a:rPr kumimoji="1" lang="zh-CN" altLang="en-US"/>
              <a:t>、</a:t>
            </a:r>
            <a:r>
              <a:rPr kumimoji="1" lang="en-US" altLang="zh-CN"/>
              <a:t>p</a:t>
            </a:r>
            <a:r>
              <a:rPr kumimoji="1" lang="zh-CN" altLang="en-US"/>
              <a:t>、</a:t>
            </a:r>
            <a:r>
              <a:rPr kumimoji="1" lang="en-US" altLang="zh-CN"/>
              <a:t>h1</a:t>
            </a:r>
            <a:r>
              <a:rPr kumimoji="1" lang="zh-CN" altLang="en-US"/>
              <a:t>、</a:t>
            </a:r>
            <a:r>
              <a:rPr kumimoji="1" lang="en-US" altLang="zh-CN"/>
              <a:t>h2</a:t>
            </a:r>
            <a:r>
              <a:rPr kumimoji="1" lang="zh-CN" altLang="en-US"/>
              <a:t>、</a:t>
            </a:r>
            <a:r>
              <a:rPr kumimoji="1" lang="en-US" altLang="zh-CN"/>
              <a:t>ul</a:t>
            </a:r>
            <a:r>
              <a:rPr kumimoji="1" lang="zh-CN" altLang="en-US"/>
              <a:t>、</a:t>
            </a:r>
            <a:r>
              <a:rPr kumimoji="1" lang="en-US" altLang="zh-CN"/>
              <a:t>li</a:t>
            </a:r>
            <a:r>
              <a:rPr kumimoji="1" lang="zh-CN" altLang="en-US"/>
              <a:t>）</a:t>
            </a:r>
            <a:endParaRPr kumimoji="1" lang="en-US" altLang="zh-CN"/>
          </a:p>
          <a:p>
            <a:pPr>
              <a:buFont typeface="Wingdings" charset="2"/>
              <a:buChar char="p"/>
            </a:pPr>
            <a:endParaRPr kumimoji="1" lang="en-US" altLang="zh-CN"/>
          </a:p>
          <a:p>
            <a:pPr>
              <a:buFont typeface="Wingdings" charset="2"/>
              <a:buChar char="p"/>
            </a:pPr>
            <a:r>
              <a:rPr kumimoji="1" lang="zh-CN" altLang="en-US">
                <a:solidFill>
                  <a:srgbClr val="0000FF"/>
                </a:solidFill>
              </a:rPr>
              <a:t>行内</a:t>
            </a:r>
            <a:r>
              <a:rPr kumimoji="1" lang="zh-CN" altLang="en-US"/>
              <a:t>标签（</a:t>
            </a:r>
            <a:r>
              <a:rPr kumimoji="1" lang="zh-CN" altLang="en-US">
                <a:solidFill>
                  <a:srgbClr val="0000FF"/>
                </a:solidFill>
              </a:rPr>
              <a:t>内联</a:t>
            </a:r>
            <a:r>
              <a:rPr kumimoji="1" lang="zh-CN" altLang="en-US"/>
              <a:t>标签）</a:t>
            </a:r>
            <a:endParaRPr kumimoji="1" lang="en-US" altLang="zh-CN"/>
          </a:p>
          <a:p>
            <a:pPr>
              <a:buFont typeface="Wingdings" charset="2"/>
              <a:buChar char="ü"/>
            </a:pPr>
            <a:r>
              <a:rPr kumimoji="1" lang="zh-CN" altLang="en-US"/>
              <a:t>多个行内标签能同时显示在一行</a:t>
            </a:r>
            <a:endParaRPr kumimoji="1" lang="en-US" altLang="zh-CN"/>
          </a:p>
          <a:p>
            <a:pPr>
              <a:buFont typeface="Wingdings" charset="2"/>
              <a:buChar char="ü"/>
            </a:pPr>
            <a:r>
              <a:rPr kumimoji="1" lang="zh-CN" altLang="en-US">
                <a:solidFill>
                  <a:srgbClr val="C0504D"/>
                </a:solidFill>
              </a:rPr>
              <a:t>宽度和高度取决于内容的尺寸</a:t>
            </a:r>
            <a:r>
              <a:rPr kumimoji="1" lang="zh-CN" altLang="en-US"/>
              <a:t>（比如</a:t>
            </a:r>
            <a:r>
              <a:rPr kumimoji="1" lang="en-US" altLang="zh-CN"/>
              <a:t>span</a:t>
            </a:r>
            <a:r>
              <a:rPr kumimoji="1" lang="zh-CN" altLang="en-US"/>
              <a:t>、</a:t>
            </a:r>
            <a:r>
              <a:rPr kumimoji="1" lang="en-US" altLang="zh-CN"/>
              <a:t>a</a:t>
            </a:r>
            <a:r>
              <a:rPr kumimoji="1" lang="zh-CN" altLang="en-US"/>
              <a:t>、</a:t>
            </a:r>
            <a:r>
              <a:rPr kumimoji="1" lang="en-US" altLang="zh-CN"/>
              <a:t>label</a:t>
            </a:r>
            <a:r>
              <a:rPr kumimoji="1" lang="zh-CN" altLang="en-US"/>
              <a:t>）</a:t>
            </a:r>
            <a:endParaRPr kumimoji="1" lang="en-US" altLang="zh-CN">
              <a:solidFill>
                <a:srgbClr val="C0504D"/>
              </a:solidFill>
            </a:endParaRPr>
          </a:p>
          <a:p>
            <a:pPr>
              <a:buFont typeface="Wingdings" charset="2"/>
              <a:buChar char="ü"/>
            </a:pPr>
            <a:endParaRPr kumimoji="1" lang="en-US" altLang="zh-CN"/>
          </a:p>
          <a:p>
            <a:pPr>
              <a:buFont typeface="Wingdings" charset="2"/>
              <a:buChar char="p"/>
            </a:pPr>
            <a:r>
              <a:rPr kumimoji="1" lang="zh-CN" altLang="en-US">
                <a:solidFill>
                  <a:srgbClr val="0000FF"/>
                </a:solidFill>
              </a:rPr>
              <a:t>行内</a:t>
            </a:r>
            <a:r>
              <a:rPr kumimoji="1" lang="en-US" altLang="zh-CN">
                <a:solidFill>
                  <a:srgbClr val="0000FF"/>
                </a:solidFill>
              </a:rPr>
              <a:t>-</a:t>
            </a:r>
            <a:r>
              <a:rPr kumimoji="1" lang="zh-CN" altLang="en-US">
                <a:solidFill>
                  <a:srgbClr val="0000FF"/>
                </a:solidFill>
              </a:rPr>
              <a:t>块级</a:t>
            </a:r>
            <a:r>
              <a:rPr kumimoji="1" lang="zh-CN" altLang="en-US"/>
              <a:t>标签（</a:t>
            </a:r>
            <a:r>
              <a:rPr kumimoji="1" lang="zh-CN" altLang="en-US">
                <a:solidFill>
                  <a:srgbClr val="0000FF"/>
                </a:solidFill>
              </a:rPr>
              <a:t>内联</a:t>
            </a:r>
            <a:r>
              <a:rPr kumimoji="1" lang="en-US" altLang="zh-CN">
                <a:solidFill>
                  <a:srgbClr val="0000FF"/>
                </a:solidFill>
              </a:rPr>
              <a:t>-</a:t>
            </a:r>
            <a:r>
              <a:rPr kumimoji="1" lang="zh-CN" altLang="en-US">
                <a:solidFill>
                  <a:srgbClr val="0000FF"/>
                </a:solidFill>
              </a:rPr>
              <a:t>块级</a:t>
            </a:r>
            <a:r>
              <a:rPr kumimoji="1" lang="zh-CN" altLang="en-US"/>
              <a:t>标签）</a:t>
            </a:r>
            <a:endParaRPr kumimoji="1" lang="en-US" altLang="zh-CN"/>
          </a:p>
          <a:p>
            <a:pPr>
              <a:buFont typeface="Wingdings" charset="2"/>
              <a:buChar char="ü"/>
            </a:pPr>
            <a:r>
              <a:rPr kumimoji="1" lang="zh-CN" altLang="en-US"/>
              <a:t>多个行内</a:t>
            </a:r>
            <a:r>
              <a:rPr kumimoji="1" lang="en-US" altLang="zh-CN"/>
              <a:t>-</a:t>
            </a:r>
            <a:r>
              <a:rPr kumimoji="1" lang="zh-CN" altLang="en-US"/>
              <a:t>块级标签可以显示在同一行</a:t>
            </a:r>
            <a:endParaRPr kumimoji="1" lang="en-US" altLang="zh-CN"/>
          </a:p>
          <a:p>
            <a:pPr>
              <a:buFont typeface="Wingdings" charset="2"/>
              <a:buChar char="ü"/>
            </a:pPr>
            <a:r>
              <a:rPr kumimoji="1" lang="zh-CN" altLang="en-US">
                <a:solidFill>
                  <a:srgbClr val="C0504D"/>
                </a:solidFill>
              </a:rPr>
              <a:t>能随时设置宽度和高度</a:t>
            </a:r>
            <a:r>
              <a:rPr kumimoji="1" lang="zh-CN" altLang="en-US"/>
              <a:t>（比如</a:t>
            </a:r>
            <a:r>
              <a:rPr kumimoji="1" lang="en-US" altLang="zh-CN"/>
              <a:t>input</a:t>
            </a:r>
            <a:r>
              <a:rPr kumimoji="1" lang="zh-CN" altLang="en-US"/>
              <a:t>、</a:t>
            </a:r>
            <a:r>
              <a:rPr kumimoji="1" lang="en-US" altLang="zh-CN"/>
              <a:t>button</a:t>
            </a:r>
            <a:r>
              <a:rPr kumimoji="1" lang="zh-CN" altLang="en-US"/>
              <a:t>）</a:t>
            </a:r>
            <a:endParaRPr kumimoji="1" lang="en-US" altLang="zh-CN">
              <a:solidFill>
                <a:srgbClr val="C050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35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修改</a:t>
            </a:r>
            <a:r>
              <a:rPr kumimoji="1" lang="en-US" altLang="en-US"/>
              <a:t>标签</a:t>
            </a:r>
            <a:r>
              <a:rPr kumimoji="1" lang="zh-CN" altLang="en-US"/>
              <a:t>的显示</a:t>
            </a:r>
            <a:r>
              <a:rPr kumimoji="1" lang="en-US" altLang="en-US"/>
              <a:t>类型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398355"/>
            <a:ext cx="8128599" cy="5065466"/>
          </a:xfrm>
        </p:spPr>
        <p:txBody>
          <a:bodyPr>
            <a:normAutofit/>
          </a:bodyPr>
          <a:lstStyle/>
          <a:p>
            <a:r>
              <a:rPr kumimoji="1" lang="en-US" altLang="zh-CN"/>
              <a:t>CSS</a:t>
            </a:r>
            <a:r>
              <a:rPr kumimoji="1" lang="zh-CN" altLang="en-US"/>
              <a:t>中有个</a:t>
            </a:r>
            <a:r>
              <a:rPr kumimoji="1" lang="en-US" altLang="zh-CN">
                <a:solidFill>
                  <a:srgbClr val="0000FF"/>
                </a:solidFill>
              </a:rPr>
              <a:t>display</a:t>
            </a:r>
            <a:r>
              <a:rPr kumimoji="1" lang="zh-CN" altLang="en-US"/>
              <a:t>属性，能修改标签的显示类型</a:t>
            </a:r>
            <a:endParaRPr kumimoji="1" lang="en-US" altLang="zh-CN"/>
          </a:p>
          <a:p>
            <a:pPr>
              <a:buFont typeface="Wingdings" charset="2"/>
              <a:buChar char="p"/>
            </a:pPr>
            <a:r>
              <a:rPr kumimoji="1" lang="en-US" altLang="zh-CN">
                <a:solidFill>
                  <a:srgbClr val="0000FF"/>
                </a:solidFill>
              </a:rPr>
              <a:t>none</a:t>
            </a:r>
            <a:r>
              <a:rPr kumimoji="1" lang="zh-CN" altLang="en-US"/>
              <a:t>：</a:t>
            </a:r>
            <a:r>
              <a:rPr kumimoji="1" lang="zh-CN" altLang="en-US">
                <a:solidFill>
                  <a:srgbClr val="FF0000"/>
                </a:solidFill>
              </a:rPr>
              <a:t>隐藏</a:t>
            </a:r>
            <a:r>
              <a:rPr kumimoji="1" lang="zh-CN" altLang="en-US"/>
              <a:t>标签</a:t>
            </a:r>
            <a:endParaRPr kumimoji="1" lang="en-US" altLang="zh-CN"/>
          </a:p>
          <a:p>
            <a:pPr>
              <a:buFont typeface="Wingdings" charset="2"/>
              <a:buChar char="p"/>
            </a:pPr>
            <a:endParaRPr kumimoji="1" lang="en-US" altLang="zh-CN"/>
          </a:p>
          <a:p>
            <a:pPr>
              <a:buFont typeface="Wingdings" charset="2"/>
              <a:buChar char="p"/>
            </a:pPr>
            <a:r>
              <a:rPr kumimoji="1" lang="en-US" altLang="zh-CN">
                <a:solidFill>
                  <a:srgbClr val="0000FF"/>
                </a:solidFill>
              </a:rPr>
              <a:t>block</a:t>
            </a:r>
            <a:r>
              <a:rPr kumimoji="1" lang="zh-CN" altLang="en-US"/>
              <a:t>：让标签变为</a:t>
            </a:r>
            <a:r>
              <a:rPr kumimoji="1" lang="zh-CN" altLang="en-US">
                <a:solidFill>
                  <a:srgbClr val="FF0000"/>
                </a:solidFill>
              </a:rPr>
              <a:t>块级</a:t>
            </a:r>
            <a:r>
              <a:rPr kumimoji="1" lang="zh-CN" altLang="en-US"/>
              <a:t>标签</a:t>
            </a:r>
            <a:endParaRPr kumimoji="1" lang="en-US" altLang="zh-CN"/>
          </a:p>
          <a:p>
            <a:pPr>
              <a:buFont typeface="Wingdings" charset="2"/>
              <a:buChar char="p"/>
            </a:pPr>
            <a:endParaRPr kumimoji="1" lang="en-US" altLang="zh-CN"/>
          </a:p>
          <a:p>
            <a:pPr>
              <a:buFont typeface="Wingdings" charset="2"/>
              <a:buChar char="p"/>
            </a:pPr>
            <a:r>
              <a:rPr kumimoji="1" lang="en-US" altLang="zh-CN">
                <a:solidFill>
                  <a:srgbClr val="0000FF"/>
                </a:solidFill>
              </a:rPr>
              <a:t>inline</a:t>
            </a:r>
            <a:r>
              <a:rPr kumimoji="1" lang="zh-CN" altLang="en-US"/>
              <a:t>：让标签变为</a:t>
            </a:r>
            <a:r>
              <a:rPr kumimoji="1" lang="zh-CN" altLang="en-US">
                <a:solidFill>
                  <a:srgbClr val="FF0000"/>
                </a:solidFill>
              </a:rPr>
              <a:t>行内</a:t>
            </a:r>
            <a:r>
              <a:rPr kumimoji="1" lang="zh-CN" altLang="en-US"/>
              <a:t>标签</a:t>
            </a:r>
            <a:endParaRPr kumimoji="1" lang="en-US" altLang="zh-CN"/>
          </a:p>
          <a:p>
            <a:pPr>
              <a:buFont typeface="Wingdings" charset="2"/>
              <a:buChar char="p"/>
            </a:pPr>
            <a:endParaRPr kumimoji="1" lang="en-US" altLang="zh-CN"/>
          </a:p>
          <a:p>
            <a:pPr>
              <a:buFont typeface="Wingdings" charset="2"/>
              <a:buChar char="p"/>
            </a:pPr>
            <a:r>
              <a:rPr kumimoji="1" lang="en-US" altLang="zh-CN">
                <a:solidFill>
                  <a:srgbClr val="0000FF"/>
                </a:solidFill>
              </a:rPr>
              <a:t>inline-block</a:t>
            </a:r>
            <a:r>
              <a:rPr kumimoji="1" lang="zh-CN" altLang="en-US"/>
              <a:t>：让标签变为</a:t>
            </a:r>
            <a:r>
              <a:rPr kumimoji="1" lang="zh-CN" altLang="en-US">
                <a:solidFill>
                  <a:srgbClr val="FF0000"/>
                </a:solidFill>
              </a:rPr>
              <a:t>行内</a:t>
            </a:r>
            <a:r>
              <a:rPr kumimoji="1" lang="en-US" altLang="zh-CN">
                <a:solidFill>
                  <a:srgbClr val="FF0000"/>
                </a:solidFill>
              </a:rPr>
              <a:t>-</a:t>
            </a:r>
            <a:r>
              <a:rPr kumimoji="1" lang="zh-CN" altLang="en-US">
                <a:solidFill>
                  <a:srgbClr val="FF0000"/>
                </a:solidFill>
              </a:rPr>
              <a:t>块级</a:t>
            </a:r>
            <a:r>
              <a:rPr kumimoji="1" lang="zh-CN" altLang="en-US"/>
              <a:t>标签（</a:t>
            </a:r>
            <a:r>
              <a:rPr kumimoji="1" lang="zh-CN" altLang="en-US">
                <a:solidFill>
                  <a:srgbClr val="FF0000"/>
                </a:solidFill>
              </a:rPr>
              <a:t>内联</a:t>
            </a:r>
            <a:r>
              <a:rPr kumimoji="1" lang="en-US" altLang="zh-CN">
                <a:solidFill>
                  <a:srgbClr val="FF0000"/>
                </a:solidFill>
              </a:rPr>
              <a:t>-</a:t>
            </a:r>
            <a:r>
              <a:rPr kumimoji="1" lang="zh-CN" altLang="en-US">
                <a:solidFill>
                  <a:srgbClr val="FF0000"/>
                </a:solidFill>
              </a:rPr>
              <a:t>块级</a:t>
            </a:r>
            <a:r>
              <a:rPr kumimoji="1" lang="zh-CN" altLang="en-US"/>
              <a:t>标签）</a:t>
            </a:r>
            <a:endParaRPr kumimoji="1" lang="en-US" altLang="zh-CN"/>
          </a:p>
        </p:txBody>
      </p:sp>
    </p:spTree>
    <p:extLst>
      <p:ext uri="{BB962C8B-B14F-4D97-AF65-F5344CB8AC3E}">
        <p14:creationId xmlns:p14="http://schemas.microsoft.com/office/powerpoint/2010/main" val="235394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CSS</a:t>
            </a:r>
            <a:r>
              <a:rPr kumimoji="1" lang="zh-CN" altLang="en-US" dirty="0"/>
              <a:t>属性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50977"/>
            <a:ext cx="8128599" cy="4941500"/>
          </a:xfrm>
        </p:spPr>
        <p:txBody>
          <a:bodyPr/>
          <a:lstStyle/>
          <a:p>
            <a:r>
              <a:rPr kumimoji="1" lang="en-US" altLang="zh-CN" dirty="0"/>
              <a:t>CSS</a:t>
            </a:r>
            <a:r>
              <a:rPr kumimoji="1" lang="zh-CN" altLang="en-US" dirty="0"/>
              <a:t>有</a:t>
            </a:r>
            <a:r>
              <a:rPr kumimoji="1" lang="en-US" altLang="zh-CN" dirty="0"/>
              <a:t>N</a:t>
            </a:r>
            <a:r>
              <a:rPr kumimoji="1" lang="zh-CN" altLang="en-US" dirty="0"/>
              <a:t>多属性，根据继承性，主要可以分为</a:t>
            </a:r>
            <a:r>
              <a:rPr kumimoji="1" lang="en-US" altLang="zh-CN" dirty="0"/>
              <a:t>2</a:t>
            </a:r>
            <a:r>
              <a:rPr kumimoji="1" lang="zh-CN" altLang="en-US" dirty="0"/>
              <a:t>大类</a:t>
            </a:r>
            <a:endParaRPr kumimoji="1" lang="en-US" altLang="zh-CN" dirty="0"/>
          </a:p>
          <a:p>
            <a:pPr>
              <a:buFont typeface="Wingdings" charset="2"/>
              <a:buChar char="p"/>
            </a:pPr>
            <a:r>
              <a:rPr kumimoji="1" lang="zh-CN" altLang="en-US" dirty="0">
                <a:solidFill>
                  <a:srgbClr val="0000FF"/>
                </a:solidFill>
              </a:rPr>
              <a:t>可继承</a:t>
            </a:r>
            <a:r>
              <a:rPr kumimoji="1" lang="zh-CN" altLang="en-US" dirty="0"/>
              <a:t>属性</a:t>
            </a:r>
            <a:endParaRPr kumimoji="1" lang="en-US" altLang="zh-CN" dirty="0"/>
          </a:p>
          <a:p>
            <a:pPr>
              <a:buFont typeface="Wingdings" charset="2"/>
              <a:buChar char="ü"/>
            </a:pPr>
            <a:r>
              <a:rPr kumimoji="1" lang="zh-CN" altLang="en-US" dirty="0"/>
              <a:t>父标签的属性值会传递给子标签</a:t>
            </a:r>
            <a:endParaRPr kumimoji="1" lang="en-US" altLang="zh-CN" dirty="0"/>
          </a:p>
          <a:p>
            <a:pPr>
              <a:buFont typeface="Wingdings" charset="2"/>
              <a:buChar char="ü"/>
            </a:pPr>
            <a:r>
              <a:rPr kumimoji="1" lang="zh-CN" altLang="en-US" dirty="0"/>
              <a:t>一般是</a:t>
            </a:r>
            <a:r>
              <a:rPr kumimoji="1" lang="zh-CN" altLang="en-US" dirty="0">
                <a:solidFill>
                  <a:srgbClr val="FF0000"/>
                </a:solidFill>
              </a:rPr>
              <a:t>文字控制</a:t>
            </a:r>
            <a:r>
              <a:rPr kumimoji="1" lang="zh-CN" altLang="en-US" dirty="0"/>
              <a:t>属性</a:t>
            </a:r>
            <a:endParaRPr kumimoji="1" lang="en-US" altLang="zh-CN" dirty="0"/>
          </a:p>
          <a:p>
            <a:pPr>
              <a:buFont typeface="Wingdings" charset="2"/>
              <a:buChar char="p"/>
            </a:pPr>
            <a:endParaRPr kumimoji="1" lang="en-US" altLang="zh-CN" dirty="0"/>
          </a:p>
          <a:p>
            <a:pPr>
              <a:buFont typeface="Wingdings" charset="2"/>
              <a:buChar char="p"/>
            </a:pPr>
            <a:r>
              <a:rPr kumimoji="1" lang="zh-CN" altLang="en-US" dirty="0">
                <a:solidFill>
                  <a:srgbClr val="0000FF"/>
                </a:solidFill>
              </a:rPr>
              <a:t>不可继承</a:t>
            </a:r>
            <a:r>
              <a:rPr kumimoji="1" lang="zh-CN" altLang="en-US" dirty="0"/>
              <a:t>属性</a:t>
            </a:r>
            <a:endParaRPr kumimoji="1" lang="en-US" altLang="zh-CN" dirty="0"/>
          </a:p>
          <a:p>
            <a:pPr>
              <a:buFont typeface="Wingdings" charset="2"/>
              <a:buChar char="ü"/>
            </a:pPr>
            <a:r>
              <a:rPr kumimoji="1" lang="zh-CN" altLang="en-US" dirty="0"/>
              <a:t>父标签的属性值不能传递给子标签</a:t>
            </a:r>
            <a:endParaRPr kumimoji="1" lang="en-US" altLang="zh-CN" dirty="0"/>
          </a:p>
          <a:p>
            <a:pPr>
              <a:buFont typeface="Wingdings" charset="2"/>
              <a:buChar char="ü"/>
            </a:pPr>
            <a:r>
              <a:rPr kumimoji="1" lang="zh-CN" altLang="en-US" dirty="0"/>
              <a:t>一般是</a:t>
            </a:r>
            <a:r>
              <a:rPr kumimoji="1" lang="zh-CN" altLang="en-US" dirty="0">
                <a:solidFill>
                  <a:srgbClr val="FF0000"/>
                </a:solidFill>
              </a:rPr>
              <a:t>区块控制</a:t>
            </a:r>
            <a:r>
              <a:rPr kumimoji="1" lang="zh-CN" altLang="en-US" dirty="0"/>
              <a:t>属性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8994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属性</a:t>
            </a:r>
            <a:r>
              <a:rPr kumimoji="1" lang="en-US" altLang="zh-CN"/>
              <a:t> – </a:t>
            </a:r>
            <a:r>
              <a:rPr kumimoji="1" lang="zh-CN" altLang="en-US"/>
              <a:t>可继承属性（红色表示常用）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50977"/>
            <a:ext cx="8128599" cy="4941500"/>
          </a:xfrm>
        </p:spPr>
        <p:txBody>
          <a:bodyPr>
            <a:normAutofit/>
          </a:bodyPr>
          <a:lstStyle/>
          <a:p>
            <a:r>
              <a:rPr lang="zh-TW" altLang="en-US" sz="1800"/>
              <a:t>所有标签可继承</a:t>
            </a:r>
            <a:endParaRPr lang="en-US" altLang="zh-TW" sz="1800"/>
          </a:p>
          <a:p>
            <a:pPr>
              <a:buFont typeface="Wingdings" charset="2"/>
              <a:buChar char="p"/>
            </a:pPr>
            <a:r>
              <a:rPr lang="en-US" altLang="zh-TW" sz="1800">
                <a:solidFill>
                  <a:srgbClr val="FF0000"/>
                </a:solidFill>
              </a:rPr>
              <a:t>visibility</a:t>
            </a:r>
            <a:r>
              <a:rPr lang="zh-TW" altLang="en-US" sz="1800"/>
              <a:t>、</a:t>
            </a:r>
            <a:r>
              <a:rPr lang="en-US" altLang="zh-TW" sz="1800">
                <a:solidFill>
                  <a:srgbClr val="FF0000"/>
                </a:solidFill>
              </a:rPr>
              <a:t>cursor</a:t>
            </a:r>
          </a:p>
          <a:p>
            <a:endParaRPr lang="en-US" altLang="zh-TW" sz="1800"/>
          </a:p>
          <a:p>
            <a:r>
              <a:rPr lang="zh-TW" altLang="en-US" sz="1800"/>
              <a:t>内联标签可继承</a:t>
            </a:r>
            <a:endParaRPr lang="en-US" altLang="zh-TW" sz="1800"/>
          </a:p>
          <a:p>
            <a:pPr>
              <a:buFont typeface="Wingdings" charset="2"/>
              <a:buChar char="p"/>
            </a:pPr>
            <a:r>
              <a:rPr lang="en-US" altLang="zh-TW" sz="1800"/>
              <a:t>letter-spacing</a:t>
            </a:r>
            <a:r>
              <a:rPr lang="zh-TW" altLang="en-US" sz="1800"/>
              <a:t>、</a:t>
            </a:r>
            <a:r>
              <a:rPr lang="en-US" altLang="zh-TW" sz="1800"/>
              <a:t>word-spacing</a:t>
            </a:r>
            <a:r>
              <a:rPr lang="zh-TW" altLang="en-US" sz="1800"/>
              <a:t>、</a:t>
            </a:r>
            <a:r>
              <a:rPr lang="en-US" altLang="zh-TW" sz="1800"/>
              <a:t>white-space</a:t>
            </a:r>
            <a:r>
              <a:rPr lang="zh-TW" altLang="en-US" sz="1800"/>
              <a:t>、</a:t>
            </a:r>
            <a:r>
              <a:rPr lang="en-US" altLang="zh-TW" sz="1800">
                <a:solidFill>
                  <a:srgbClr val="FF0000"/>
                </a:solidFill>
              </a:rPr>
              <a:t>line-height</a:t>
            </a:r>
            <a:r>
              <a:rPr lang="zh-TW" altLang="en-US" sz="1800"/>
              <a:t>、</a:t>
            </a:r>
            <a:r>
              <a:rPr lang="en-US" altLang="zh-TW" sz="1800">
                <a:solidFill>
                  <a:srgbClr val="FF0000"/>
                </a:solidFill>
              </a:rPr>
              <a:t>color</a:t>
            </a:r>
            <a:r>
              <a:rPr lang="zh-TW" altLang="en-US" sz="1800"/>
              <a:t>、</a:t>
            </a:r>
            <a:r>
              <a:rPr lang="en-US" altLang="zh-TW" sz="1800">
                <a:solidFill>
                  <a:srgbClr val="FF0000"/>
                </a:solidFill>
              </a:rPr>
              <a:t>font</a:t>
            </a:r>
            <a:r>
              <a:rPr lang="zh-TW" altLang="en-US" sz="1800"/>
              <a:t>、</a:t>
            </a:r>
            <a:r>
              <a:rPr lang="en-US" altLang="zh-TW" sz="1800">
                <a:solidFill>
                  <a:srgbClr val="FF0000"/>
                </a:solidFill>
              </a:rPr>
              <a:t>font-family</a:t>
            </a:r>
            <a:r>
              <a:rPr lang="zh-TW" altLang="en-US" sz="1800"/>
              <a:t>、</a:t>
            </a:r>
            <a:r>
              <a:rPr lang="en-US" altLang="zh-TW" sz="1800">
                <a:solidFill>
                  <a:srgbClr val="FF0000"/>
                </a:solidFill>
              </a:rPr>
              <a:t>font-size</a:t>
            </a:r>
            <a:r>
              <a:rPr lang="zh-TW" altLang="en-US" sz="1800"/>
              <a:t>、</a:t>
            </a:r>
            <a:r>
              <a:rPr lang="en-US" altLang="zh-TW" sz="1800"/>
              <a:t>font-style</a:t>
            </a:r>
            <a:r>
              <a:rPr lang="zh-TW" altLang="en-US" sz="1800"/>
              <a:t>、</a:t>
            </a:r>
            <a:r>
              <a:rPr lang="en-US" altLang="zh-TW" sz="1800"/>
              <a:t>font-variant</a:t>
            </a:r>
            <a:r>
              <a:rPr lang="zh-TW" altLang="en-US" sz="1800"/>
              <a:t>、</a:t>
            </a:r>
            <a:r>
              <a:rPr lang="en-US" altLang="zh-TW" sz="1800">
                <a:solidFill>
                  <a:srgbClr val="FF0000"/>
                </a:solidFill>
              </a:rPr>
              <a:t>font-weight</a:t>
            </a:r>
            <a:r>
              <a:rPr lang="zh-TW" altLang="en-US" sz="1800"/>
              <a:t>、</a:t>
            </a:r>
            <a:r>
              <a:rPr lang="en-US" altLang="zh-TW" sz="1800">
                <a:solidFill>
                  <a:srgbClr val="FF0000"/>
                </a:solidFill>
              </a:rPr>
              <a:t>text-decoration</a:t>
            </a:r>
            <a:r>
              <a:rPr lang="zh-TW" altLang="en-US" sz="1800"/>
              <a:t>、</a:t>
            </a:r>
            <a:r>
              <a:rPr lang="en-US" altLang="zh-TW" sz="1800"/>
              <a:t>text-transform</a:t>
            </a:r>
            <a:r>
              <a:rPr lang="zh-TW" altLang="en-US" sz="1800"/>
              <a:t>、</a:t>
            </a:r>
            <a:r>
              <a:rPr lang="en-US" altLang="zh-TW" sz="1800"/>
              <a:t>direction</a:t>
            </a:r>
          </a:p>
          <a:p>
            <a:endParaRPr lang="en-US" altLang="zh-TW" sz="1800"/>
          </a:p>
          <a:p>
            <a:r>
              <a:rPr lang="zh-TW" altLang="en-US" sz="1800"/>
              <a:t> </a:t>
            </a:r>
            <a:r>
              <a:rPr lang="zh-CN" altLang="en-US" sz="1800"/>
              <a:t>块级</a:t>
            </a:r>
            <a:r>
              <a:rPr lang="en-US" altLang="en-US" sz="1800"/>
              <a:t>标签</a:t>
            </a:r>
            <a:r>
              <a:rPr lang="zh-TW" altLang="en-US" sz="1800"/>
              <a:t>可继承</a:t>
            </a:r>
            <a:endParaRPr lang="en-US" altLang="zh-TW" sz="1800"/>
          </a:p>
          <a:p>
            <a:pPr>
              <a:buFont typeface="Wingdings" charset="2"/>
              <a:buChar char="p"/>
            </a:pPr>
            <a:r>
              <a:rPr lang="en-US" altLang="zh-TW" sz="1800">
                <a:solidFill>
                  <a:srgbClr val="FF0000"/>
                </a:solidFill>
              </a:rPr>
              <a:t>text-indent</a:t>
            </a:r>
            <a:r>
              <a:rPr lang="zh-TW" altLang="en-US" sz="1800"/>
              <a:t>、</a:t>
            </a:r>
            <a:r>
              <a:rPr lang="en-US" altLang="zh-TW" sz="1800">
                <a:solidFill>
                  <a:srgbClr val="FF0000"/>
                </a:solidFill>
              </a:rPr>
              <a:t>text-align</a:t>
            </a:r>
          </a:p>
          <a:p>
            <a:endParaRPr lang="en-US" altLang="zh-TW" sz="1800"/>
          </a:p>
          <a:p>
            <a:r>
              <a:rPr lang="zh-TW" altLang="en-US" sz="1800"/>
              <a:t>列表</a:t>
            </a:r>
            <a:r>
              <a:rPr lang="zh-CN" altLang="en-US" sz="1800"/>
              <a:t>标签</a:t>
            </a:r>
            <a:r>
              <a:rPr lang="zh-TW" altLang="en-US" sz="1800"/>
              <a:t>可继承</a:t>
            </a:r>
            <a:endParaRPr lang="en-US" altLang="zh-TW" sz="1800"/>
          </a:p>
          <a:p>
            <a:pPr>
              <a:buFont typeface="Wingdings" charset="2"/>
              <a:buChar char="p"/>
            </a:pPr>
            <a:r>
              <a:rPr lang="en-US" altLang="zh-TW" sz="1800">
                <a:solidFill>
                  <a:srgbClr val="FF0000"/>
                </a:solidFill>
              </a:rPr>
              <a:t>list-style</a:t>
            </a:r>
            <a:r>
              <a:rPr lang="zh-TW" altLang="en-US" sz="1800"/>
              <a:t>、</a:t>
            </a:r>
            <a:r>
              <a:rPr lang="en-US" altLang="zh-TW" sz="1800"/>
              <a:t>list-style-type</a:t>
            </a:r>
            <a:r>
              <a:rPr lang="zh-TW" altLang="en-US" sz="1800"/>
              <a:t>、</a:t>
            </a:r>
            <a:r>
              <a:rPr lang="en-US" altLang="zh-TW" sz="1800"/>
              <a:t>list-style-position</a:t>
            </a:r>
            <a:r>
              <a:rPr lang="zh-TW" altLang="en-US" sz="1800"/>
              <a:t>、</a:t>
            </a:r>
            <a:r>
              <a:rPr lang="en-US" altLang="zh-TW" sz="1800"/>
              <a:t>list-style-image</a:t>
            </a:r>
            <a:endParaRPr kumimoji="1" lang="en-US" altLang="zh-CN" sz="1800"/>
          </a:p>
        </p:txBody>
      </p:sp>
    </p:spTree>
    <p:extLst>
      <p:ext uri="{BB962C8B-B14F-4D97-AF65-F5344CB8AC3E}">
        <p14:creationId xmlns:p14="http://schemas.microsoft.com/office/powerpoint/2010/main" val="2985641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zh-CN" altLang="en-US"/>
              <a:t>属性</a:t>
            </a:r>
            <a:r>
              <a:rPr kumimoji="1" lang="en-US" altLang="zh-CN"/>
              <a:t> – </a:t>
            </a:r>
            <a:r>
              <a:rPr kumimoji="1" lang="zh-CN" altLang="en-US"/>
              <a:t>不可继承属性（红色表示常用）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50977"/>
            <a:ext cx="8128599" cy="4941500"/>
          </a:xfrm>
        </p:spPr>
        <p:txBody>
          <a:bodyPr/>
          <a:lstStyle/>
          <a:p>
            <a:pPr>
              <a:buFont typeface="Wingdings" charset="2"/>
              <a:buChar char="p"/>
            </a:pPr>
            <a:r>
              <a:rPr lang="en-US" altLang="zh-CN" dirty="0">
                <a:solidFill>
                  <a:srgbClr val="FF0000"/>
                </a:solidFill>
              </a:rPr>
              <a:t>display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margin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border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padding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background</a:t>
            </a:r>
          </a:p>
          <a:p>
            <a:pPr>
              <a:buFont typeface="Wingdings" charset="2"/>
              <a:buChar char="p"/>
            </a:pPr>
            <a:r>
              <a:rPr lang="en-US" altLang="zh-CN" dirty="0">
                <a:solidFill>
                  <a:srgbClr val="FF0000"/>
                </a:solidFill>
              </a:rPr>
              <a:t>height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min-height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max-height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width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min-width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max-width</a:t>
            </a:r>
          </a:p>
          <a:p>
            <a:pPr>
              <a:buFont typeface="Wingdings" charset="2"/>
              <a:buChar char="p"/>
            </a:pPr>
            <a:r>
              <a:rPr lang="en-US" altLang="zh-CN" dirty="0">
                <a:solidFill>
                  <a:srgbClr val="FF0000"/>
                </a:solidFill>
              </a:rPr>
              <a:t>overflow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position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left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right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top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bottom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z-index</a:t>
            </a:r>
          </a:p>
          <a:p>
            <a:pPr>
              <a:buFont typeface="Wingdings" charset="2"/>
              <a:buChar char="p"/>
            </a:pPr>
            <a:r>
              <a:rPr lang="en-US" altLang="zh-CN" dirty="0">
                <a:solidFill>
                  <a:srgbClr val="FF0000"/>
                </a:solidFill>
              </a:rPr>
              <a:t>float</a:t>
            </a:r>
            <a:r>
              <a:rPr lang="zh-CN" altLang="en-US" dirty="0"/>
              <a:t>、</a:t>
            </a:r>
            <a:r>
              <a:rPr lang="en-US" altLang="zh-CN" dirty="0"/>
              <a:t>clear</a:t>
            </a:r>
          </a:p>
          <a:p>
            <a:pPr>
              <a:buFont typeface="Wingdings" charset="2"/>
              <a:buChar char="p"/>
            </a:pPr>
            <a:r>
              <a:rPr lang="en-US" altLang="zh-CN" dirty="0"/>
              <a:t>table-layout</a:t>
            </a:r>
            <a:r>
              <a:rPr lang="zh-CN" altLang="en-US" dirty="0"/>
              <a:t>、</a:t>
            </a:r>
            <a:r>
              <a:rPr lang="en-US" altLang="zh-CN" dirty="0"/>
              <a:t>vertical-align</a:t>
            </a:r>
          </a:p>
          <a:p>
            <a:pPr>
              <a:buFont typeface="Wingdings" charset="2"/>
              <a:buChar char="p"/>
            </a:pPr>
            <a:r>
              <a:rPr lang="en-US" altLang="zh-CN" dirty="0"/>
              <a:t>page-break-after</a:t>
            </a:r>
            <a:r>
              <a:rPr lang="zh-CN" altLang="en-US" dirty="0"/>
              <a:t>、</a:t>
            </a:r>
            <a:r>
              <a:rPr lang="en-US" altLang="zh-CN" dirty="0"/>
              <a:t>page-bread-before</a:t>
            </a:r>
          </a:p>
          <a:p>
            <a:pPr>
              <a:buFont typeface="Wingdings" charset="2"/>
              <a:buChar char="p"/>
            </a:pPr>
            <a:r>
              <a:rPr lang="en-US" altLang="zh-CN" dirty="0" err="1"/>
              <a:t>unicode-bidi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960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盒子模型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08169"/>
            <a:ext cx="8128599" cy="5169804"/>
          </a:xfrm>
        </p:spPr>
        <p:txBody>
          <a:bodyPr>
            <a:normAutofit/>
          </a:bodyPr>
          <a:lstStyle/>
          <a:p>
            <a:r>
              <a:rPr kumimoji="1" lang="zh-CN" altLang="en-US" sz="1600"/>
              <a:t>网页上的每一个标签都是一个盒子</a:t>
            </a:r>
            <a:endParaRPr kumimoji="1" lang="en-US" altLang="zh-CN" sz="1600"/>
          </a:p>
          <a:p>
            <a:endParaRPr kumimoji="1" lang="en-US" altLang="zh-CN" sz="1600"/>
          </a:p>
          <a:p>
            <a:r>
              <a:rPr lang="zh-CN" altLang="en-US" sz="1600"/>
              <a:t>每个盒子都有四个属性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>
                <a:solidFill>
                  <a:srgbClr val="0000FF"/>
                </a:solidFill>
              </a:rPr>
              <a:t>内容</a:t>
            </a:r>
            <a:r>
              <a:rPr lang="zh-CN" altLang="zh-CN" sz="1600"/>
              <a:t>（</a:t>
            </a:r>
            <a:r>
              <a:rPr lang="en-US" altLang="zh-CN" sz="1600">
                <a:solidFill>
                  <a:srgbClr val="FF0000"/>
                </a:solidFill>
              </a:rPr>
              <a:t>content</a:t>
            </a:r>
            <a:r>
              <a:rPr lang="zh-CN" altLang="en-US" sz="1600"/>
              <a:t>）</a:t>
            </a:r>
            <a:endParaRPr lang="en-US" altLang="zh-CN" sz="1600"/>
          </a:p>
          <a:p>
            <a:pPr>
              <a:buFont typeface="Wingdings" charset="2"/>
              <a:buChar char="ü"/>
            </a:pPr>
            <a:r>
              <a:rPr lang="zh-CN" altLang="en-US" sz="1600"/>
              <a:t>盒子里装的东西</a:t>
            </a:r>
            <a:endParaRPr lang="en-US" altLang="zh-CN" sz="1600"/>
          </a:p>
          <a:p>
            <a:pPr>
              <a:buFont typeface="Wingdings" charset="2"/>
              <a:buChar char="ü"/>
            </a:pPr>
            <a:r>
              <a:rPr lang="zh-CN" altLang="en-US" sz="1600"/>
              <a:t>网页中通常是指文字和图片</a:t>
            </a:r>
            <a:endParaRPr lang="en-US" altLang="zh-CN" sz="1600"/>
          </a:p>
          <a:p>
            <a:pPr marL="0" indent="0">
              <a:buNone/>
            </a:pP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>
                <a:solidFill>
                  <a:srgbClr val="0000FF"/>
                </a:solidFill>
              </a:rPr>
              <a:t>填充</a:t>
            </a:r>
            <a:r>
              <a:rPr lang="zh-CN" altLang="zh-CN" sz="1600"/>
              <a:t>（</a:t>
            </a:r>
            <a:r>
              <a:rPr lang="en-US" altLang="zh-CN" sz="1600">
                <a:solidFill>
                  <a:srgbClr val="FF0000"/>
                </a:solidFill>
              </a:rPr>
              <a:t>padding</a:t>
            </a:r>
            <a:r>
              <a:rPr lang="zh-CN" altLang="en-US" sz="1600"/>
              <a:t>，</a:t>
            </a:r>
            <a:r>
              <a:rPr lang="zh-CN" altLang="en-US" sz="1600">
                <a:solidFill>
                  <a:srgbClr val="0000FF"/>
                </a:solidFill>
              </a:rPr>
              <a:t>内边距</a:t>
            </a:r>
            <a:r>
              <a:rPr lang="zh-CN" altLang="en-US" sz="1600"/>
              <a:t>）</a:t>
            </a:r>
            <a:endParaRPr lang="en-US" altLang="zh-CN" sz="1600"/>
          </a:p>
          <a:p>
            <a:pPr>
              <a:buFont typeface="Wingdings" charset="2"/>
              <a:buChar char="ü"/>
            </a:pPr>
            <a:r>
              <a:rPr lang="zh-CN" altLang="en-US" sz="1600"/>
              <a:t>怕盒子里装的（贵重的）东西损坏，而添加的泡沫或者其它抗震的辅料</a:t>
            </a:r>
            <a:endParaRPr lang="en-US" altLang="zh-CN" sz="1600"/>
          </a:p>
          <a:p>
            <a:pPr marL="0" indent="0">
              <a:buNone/>
            </a:pP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>
                <a:solidFill>
                  <a:srgbClr val="0000FF"/>
                </a:solidFill>
              </a:rPr>
              <a:t>边框</a:t>
            </a:r>
            <a:r>
              <a:rPr lang="zh-CN" altLang="zh-CN" sz="1600"/>
              <a:t>（</a:t>
            </a:r>
            <a:r>
              <a:rPr lang="en-US" altLang="zh-CN" sz="1600">
                <a:solidFill>
                  <a:srgbClr val="FF0000"/>
                </a:solidFill>
              </a:rPr>
              <a:t>border</a:t>
            </a:r>
            <a:r>
              <a:rPr lang="zh-CN" altLang="en-US" sz="1600"/>
              <a:t>）</a:t>
            </a:r>
            <a:r>
              <a:rPr lang="zh-CN" altLang="zh-CN" sz="1600"/>
              <a:t>：</a:t>
            </a:r>
            <a:r>
              <a:rPr lang="zh-CN" altLang="en-US" sz="1600"/>
              <a:t>盒子本身</a:t>
            </a:r>
            <a:endParaRPr lang="en-US" altLang="zh-CN" sz="1600"/>
          </a:p>
          <a:p>
            <a:pPr marL="0" indent="0">
              <a:buNone/>
            </a:pP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>
                <a:solidFill>
                  <a:srgbClr val="0000FF"/>
                </a:solidFill>
              </a:rPr>
              <a:t>边界</a:t>
            </a:r>
            <a:r>
              <a:rPr lang="zh-CN" altLang="zh-CN" sz="1600"/>
              <a:t>（</a:t>
            </a:r>
            <a:r>
              <a:rPr lang="en-US" altLang="zh-CN" sz="1600">
                <a:solidFill>
                  <a:srgbClr val="FF0000"/>
                </a:solidFill>
              </a:rPr>
              <a:t>margin</a:t>
            </a:r>
            <a:r>
              <a:rPr lang="zh-CN" altLang="en-US" sz="1600"/>
              <a:t>，</a:t>
            </a:r>
            <a:r>
              <a:rPr lang="zh-CN" altLang="en-US" sz="1600">
                <a:solidFill>
                  <a:srgbClr val="0000FF"/>
                </a:solidFill>
              </a:rPr>
              <a:t>外边距</a:t>
            </a:r>
            <a:r>
              <a:rPr lang="zh-CN" altLang="en-US" sz="1600"/>
              <a:t>）</a:t>
            </a:r>
            <a:endParaRPr lang="en-US" altLang="zh-CN" sz="1600"/>
          </a:p>
          <a:p>
            <a:pPr>
              <a:buFont typeface="Wingdings" charset="2"/>
              <a:buChar char="ü"/>
            </a:pPr>
            <a:r>
              <a:rPr lang="zh-CN" altLang="en-US" sz="1600"/>
              <a:t>盒子摆放的时候的不能全部堆在一起，盒子之间要留一定空隙保持通风，同时也为了方便取出</a:t>
            </a:r>
            <a:endParaRPr kumimoji="1" lang="en-US" altLang="zh-CN" sz="1600"/>
          </a:p>
        </p:txBody>
      </p:sp>
      <p:pic>
        <p:nvPicPr>
          <p:cNvPr id="4" name="图片 3" descr="%BA%D0%D7%D3%C4%A3%D0%C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860" y="594966"/>
            <a:ext cx="3557904" cy="355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4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标准盒子模型</a:t>
            </a:r>
          </a:p>
        </p:txBody>
      </p:sp>
      <p:pic>
        <p:nvPicPr>
          <p:cNvPr id="6" name="图片 5" descr="1237272967_ddvip_5274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" y="1380779"/>
            <a:ext cx="8947777" cy="54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8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IE</a:t>
            </a:r>
            <a:r>
              <a:rPr kumimoji="1" lang="zh-CN" altLang="en-US"/>
              <a:t>盒子模型</a:t>
            </a:r>
          </a:p>
        </p:txBody>
      </p:sp>
      <p:pic>
        <p:nvPicPr>
          <p:cNvPr id="3" name="图片 2" descr="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2" y="1219201"/>
            <a:ext cx="753427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14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内容（</a:t>
            </a:r>
            <a:r>
              <a:rPr kumimoji="1" lang="en-US" altLang="zh-CN"/>
              <a:t>content</a:t>
            </a:r>
            <a:r>
              <a:rPr kumimoji="1" lang="zh-CN" altLang="en-US"/>
              <a:t>） </a:t>
            </a:r>
            <a:r>
              <a:rPr kumimoji="1" lang="en-US" altLang="zh-CN"/>
              <a:t>–</a:t>
            </a:r>
            <a:r>
              <a:rPr kumimoji="1" lang="zh-CN" altLang="en-US"/>
              <a:t> 属性</a:t>
            </a:r>
          </a:p>
        </p:txBody>
      </p:sp>
      <p:pic>
        <p:nvPicPr>
          <p:cNvPr id="6" name="图片 5" descr="QQ20140924-6@2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74" y="1600943"/>
            <a:ext cx="5553368" cy="310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57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填充（</a:t>
            </a:r>
            <a:r>
              <a:rPr kumimoji="1" lang="en-US" altLang="zh-CN"/>
              <a:t>padding</a:t>
            </a:r>
            <a:r>
              <a:rPr kumimoji="1" lang="zh-CN" altLang="en-US"/>
              <a:t>，内边距） </a:t>
            </a:r>
            <a:r>
              <a:rPr kumimoji="1" lang="en-US" altLang="zh-CN"/>
              <a:t>–</a:t>
            </a:r>
            <a:r>
              <a:rPr kumimoji="1" lang="zh-CN" altLang="en-US"/>
              <a:t> 属性</a:t>
            </a:r>
          </a:p>
        </p:txBody>
      </p:sp>
      <p:pic>
        <p:nvPicPr>
          <p:cNvPr id="7" name="图片 6" descr="QQ20140924-8@2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75" y="1651892"/>
            <a:ext cx="7324907" cy="298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4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填充（</a:t>
            </a:r>
            <a:r>
              <a:rPr kumimoji="1" lang="en-US" altLang="zh-CN"/>
              <a:t>padding</a:t>
            </a:r>
            <a:r>
              <a:rPr kumimoji="1" lang="zh-CN" altLang="en-US"/>
              <a:t>，内边距） </a:t>
            </a:r>
            <a:r>
              <a:rPr kumimoji="1" lang="en-US" altLang="zh-CN"/>
              <a:t>–</a:t>
            </a:r>
            <a:r>
              <a:rPr kumimoji="1" lang="zh-CN" altLang="en-US"/>
              <a:t> 属性</a:t>
            </a:r>
          </a:p>
        </p:txBody>
      </p:sp>
      <p:pic>
        <p:nvPicPr>
          <p:cNvPr id="5" name="图片 4" descr="QQ20140924-2@2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51" y="1450976"/>
            <a:ext cx="3887731" cy="4611030"/>
          </a:xfrm>
          <a:prstGeom prst="rect">
            <a:avLst/>
          </a:prstGeom>
        </p:spPr>
      </p:pic>
      <p:pic>
        <p:nvPicPr>
          <p:cNvPr id="6" name="图片 5" descr="QQ20140924-3@2x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477" y="1450975"/>
            <a:ext cx="4408030" cy="343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7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边框</a:t>
            </a:r>
            <a:r>
              <a:rPr kumimoji="1" lang="zh-CN" altLang="en-US"/>
              <a:t>（</a:t>
            </a:r>
            <a:r>
              <a:rPr kumimoji="1" lang="en-US" altLang="zh-CN"/>
              <a:t>border</a:t>
            </a:r>
            <a:r>
              <a:rPr kumimoji="1" lang="zh-CN" altLang="en-US"/>
              <a:t>） </a:t>
            </a:r>
            <a:r>
              <a:rPr kumimoji="1" lang="en-US" altLang="zh-CN"/>
              <a:t>–</a:t>
            </a:r>
            <a:r>
              <a:rPr kumimoji="1" lang="zh-CN" altLang="en-US"/>
              <a:t> 属性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89825" y="4166525"/>
            <a:ext cx="8128599" cy="1269934"/>
          </a:xfrm>
        </p:spPr>
        <p:txBody>
          <a:bodyPr>
            <a:normAutofit/>
          </a:bodyPr>
          <a:lstStyle/>
          <a:p>
            <a:r>
              <a:rPr kumimoji="1" lang="zh-CN" altLang="en-US" sz="1800"/>
              <a:t>设置边框圆角</a:t>
            </a:r>
            <a:endParaRPr kumimoji="1" lang="en-US" altLang="zh-CN" sz="1800"/>
          </a:p>
          <a:p>
            <a:pPr>
              <a:buFont typeface="Wingdings" charset="2"/>
              <a:buChar char="p"/>
            </a:pPr>
            <a:r>
              <a:rPr kumimoji="1" lang="en-US" altLang="zh-CN" sz="1800"/>
              <a:t>border-radius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22" y="1450975"/>
            <a:ext cx="3887731" cy="234766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123" y="1613723"/>
            <a:ext cx="4408030" cy="19138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8979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边界</a:t>
            </a:r>
            <a:r>
              <a:rPr kumimoji="1" lang="zh-CN" altLang="en-US"/>
              <a:t>（</a:t>
            </a:r>
            <a:r>
              <a:rPr kumimoji="1" lang="en-US" altLang="zh-CN"/>
              <a:t>margin</a:t>
            </a:r>
            <a:r>
              <a:rPr kumimoji="1" lang="zh-CN" altLang="en-US"/>
              <a:t>，外边距） </a:t>
            </a:r>
            <a:r>
              <a:rPr kumimoji="1" lang="en-US" altLang="zh-CN"/>
              <a:t>–</a:t>
            </a:r>
            <a:r>
              <a:rPr kumimoji="1" lang="zh-CN" altLang="en-US"/>
              <a:t> 属性</a:t>
            </a:r>
          </a:p>
        </p:txBody>
      </p:sp>
      <p:pic>
        <p:nvPicPr>
          <p:cNvPr id="3" name="图片 2" descr="QQ20140924-7@2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74" y="1550858"/>
            <a:ext cx="6797324" cy="294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4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/>
              <a:t>边界</a:t>
            </a:r>
            <a:r>
              <a:rPr kumimoji="1" lang="zh-CN" altLang="en-US"/>
              <a:t>（</a:t>
            </a:r>
            <a:r>
              <a:rPr kumimoji="1" lang="en-US" altLang="zh-CN"/>
              <a:t>margin</a:t>
            </a:r>
            <a:r>
              <a:rPr kumimoji="1" lang="zh-CN" altLang="en-US"/>
              <a:t>，外边距） </a:t>
            </a:r>
            <a:r>
              <a:rPr kumimoji="1" lang="en-US" altLang="zh-CN"/>
              <a:t>–</a:t>
            </a:r>
            <a:r>
              <a:rPr kumimoji="1" lang="zh-CN" altLang="en-US"/>
              <a:t> 属性</a:t>
            </a:r>
          </a:p>
        </p:txBody>
      </p:sp>
      <p:pic>
        <p:nvPicPr>
          <p:cNvPr id="4" name="图片 3" descr="QQ20140924-9@2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20" y="1524000"/>
            <a:ext cx="3686369" cy="4239324"/>
          </a:xfrm>
          <a:prstGeom prst="rect">
            <a:avLst/>
          </a:prstGeom>
        </p:spPr>
      </p:pic>
      <p:pic>
        <p:nvPicPr>
          <p:cNvPr id="5" name="图片 4" descr="QQ20140924-10@2x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291" y="1422439"/>
            <a:ext cx="4188003" cy="402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3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CSS3</a:t>
            </a:r>
            <a:r>
              <a:rPr kumimoji="1" lang="zh-CN" altLang="en-US" dirty="0"/>
              <a:t>新增特性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5521" y="1408169"/>
            <a:ext cx="8762256" cy="5041384"/>
          </a:xfrm>
        </p:spPr>
        <p:txBody>
          <a:bodyPr>
            <a:normAutofit fontScale="25000" lnSpcReduction="20000"/>
          </a:bodyPr>
          <a:lstStyle/>
          <a:p>
            <a:r>
              <a:rPr lang="en-US" altLang="zh-CN" sz="7200" b="1" dirty="0">
                <a:solidFill>
                  <a:srgbClr val="000000"/>
                </a:solidFill>
              </a:rPr>
              <a:t>RGBA</a:t>
            </a:r>
            <a:r>
              <a:rPr lang="zh-CN" altLang="en-US" sz="7200" b="1" dirty="0">
                <a:solidFill>
                  <a:srgbClr val="000000"/>
                </a:solidFill>
              </a:rPr>
              <a:t>透明度</a:t>
            </a:r>
            <a:endParaRPr lang="en-US" altLang="zh-CN" sz="7200" b="1" dirty="0">
              <a:solidFill>
                <a:srgbClr val="00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7200" dirty="0"/>
              <a:t>   </a:t>
            </a:r>
            <a:r>
              <a:rPr lang="en-US" altLang="zh-CN" sz="7200" dirty="0"/>
              <a:t>RGB(</a:t>
            </a:r>
            <a:r>
              <a:rPr lang="zh-CN" altLang="en-US" sz="7200" dirty="0"/>
              <a:t>红色</a:t>
            </a:r>
            <a:r>
              <a:rPr lang="en-US" altLang="zh-CN" sz="7200" dirty="0"/>
              <a:t>R+</a:t>
            </a:r>
            <a:r>
              <a:rPr lang="zh-CN" altLang="en-US" sz="7200" dirty="0"/>
              <a:t>绿色</a:t>
            </a:r>
            <a:r>
              <a:rPr lang="en-US" altLang="zh-CN" sz="7200" dirty="0"/>
              <a:t>G+</a:t>
            </a:r>
            <a:r>
              <a:rPr lang="zh-CN" altLang="en-US" sz="7200" dirty="0"/>
              <a:t>蓝色</a:t>
            </a:r>
            <a:r>
              <a:rPr lang="en-US" altLang="zh-CN" sz="7200" dirty="0"/>
              <a:t>B),</a:t>
            </a:r>
            <a:r>
              <a:rPr lang="en-US" altLang="zh-CN" sz="7200" dirty="0">
                <a:solidFill>
                  <a:srgbClr val="FF0000"/>
                </a:solidFill>
              </a:rPr>
              <a:t>RGBA</a:t>
            </a:r>
            <a:r>
              <a:rPr lang="zh-CN" altLang="en-US" sz="7200" dirty="0"/>
              <a:t>则在其基础上增加了</a:t>
            </a:r>
            <a:r>
              <a:rPr lang="en-US" altLang="zh-CN" sz="7200" dirty="0"/>
              <a:t>Alpha</a:t>
            </a:r>
            <a:r>
              <a:rPr lang="zh-CN" altLang="en-US" sz="7200" dirty="0"/>
              <a:t>通道，可用于设置透明值</a:t>
            </a:r>
            <a:endParaRPr lang="en-US" altLang="zh-CN" sz="7200" dirty="0"/>
          </a:p>
          <a:p>
            <a:pPr marL="0" indent="0">
              <a:buNone/>
            </a:pPr>
            <a:endParaRPr lang="en-US" altLang="zh-CN" sz="7200" dirty="0"/>
          </a:p>
          <a:p>
            <a:r>
              <a:rPr lang="zh-CN" altLang="en-US" sz="7200" dirty="0">
                <a:solidFill>
                  <a:srgbClr val="000000"/>
                </a:solidFill>
              </a:rPr>
              <a:t>块阴影与圆角阴影</a:t>
            </a:r>
            <a:endParaRPr lang="en-US" altLang="zh-CN" sz="72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zh-CN" altLang="en-US" sz="7200" dirty="0">
                <a:solidFill>
                  <a:srgbClr val="000000"/>
                </a:solidFill>
              </a:rPr>
              <a:t>   </a:t>
            </a:r>
            <a:r>
              <a:rPr lang="en-US" altLang="zh-CN" sz="7200" dirty="0">
                <a:solidFill>
                  <a:srgbClr val="FF0000"/>
                </a:solidFill>
              </a:rPr>
              <a:t>box-shadow</a:t>
            </a:r>
            <a:r>
              <a:rPr lang="zh-CN" altLang="en-US" sz="7200" dirty="0">
                <a:solidFill>
                  <a:srgbClr val="FF0000"/>
                </a:solidFill>
              </a:rPr>
              <a:t>  </a:t>
            </a:r>
            <a:r>
              <a:rPr lang="en-US" altLang="zh-CN" sz="7200" dirty="0">
                <a:solidFill>
                  <a:srgbClr val="FF0000"/>
                </a:solidFill>
              </a:rPr>
              <a:t>text-shadow</a:t>
            </a:r>
          </a:p>
          <a:p>
            <a:pPr marL="0" indent="0">
              <a:buNone/>
            </a:pPr>
            <a:endParaRPr lang="en-US" altLang="zh-CN" sz="7200" dirty="0">
              <a:solidFill>
                <a:srgbClr val="000000"/>
              </a:solidFill>
            </a:endParaRPr>
          </a:p>
          <a:p>
            <a:r>
              <a:rPr lang="zh-CN" altLang="en-US" sz="7200" dirty="0">
                <a:solidFill>
                  <a:srgbClr val="000000"/>
                </a:solidFill>
              </a:rPr>
              <a:t>圆角</a:t>
            </a:r>
            <a:endParaRPr lang="en-US" altLang="zh-CN" sz="72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zh-CN" altLang="zh-CN" sz="7200" dirty="0">
                <a:solidFill>
                  <a:srgbClr val="000000"/>
                </a:solidFill>
              </a:rPr>
              <a:t> </a:t>
            </a:r>
            <a:r>
              <a:rPr lang="zh-CN" altLang="en-US" sz="7200" dirty="0">
                <a:solidFill>
                  <a:srgbClr val="000000"/>
                </a:solidFill>
              </a:rPr>
              <a:t> </a:t>
            </a:r>
            <a:r>
              <a:rPr lang="zh-CN" altLang="en-US" sz="7200" dirty="0">
                <a:solidFill>
                  <a:srgbClr val="FF0000"/>
                </a:solidFill>
              </a:rPr>
              <a:t>    </a:t>
            </a:r>
            <a:r>
              <a:rPr lang="en-US" altLang="zh-CN" sz="7200" dirty="0">
                <a:solidFill>
                  <a:srgbClr val="FF0000"/>
                </a:solidFill>
              </a:rPr>
              <a:t>border-radius</a:t>
            </a:r>
          </a:p>
          <a:p>
            <a:pPr marL="0" indent="0">
              <a:buNone/>
            </a:pPr>
            <a:endParaRPr lang="en-US" altLang="zh-CN" sz="7200" dirty="0">
              <a:solidFill>
                <a:srgbClr val="FF0000"/>
              </a:solidFill>
            </a:endParaRPr>
          </a:p>
          <a:p>
            <a:r>
              <a:rPr lang="zh-CN" altLang="en-US" sz="7200" dirty="0">
                <a:solidFill>
                  <a:srgbClr val="000000"/>
                </a:solidFill>
              </a:rPr>
              <a:t>边框图片</a:t>
            </a:r>
            <a:endParaRPr lang="en-US" altLang="zh-CN" sz="72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zh-CN" altLang="zh-CN" sz="7200" dirty="0">
                <a:solidFill>
                  <a:srgbClr val="000000"/>
                </a:solidFill>
              </a:rPr>
              <a:t> </a:t>
            </a:r>
            <a:r>
              <a:rPr lang="zh-CN" altLang="en-US" sz="7200" dirty="0">
                <a:solidFill>
                  <a:srgbClr val="000000"/>
                </a:solidFill>
              </a:rPr>
              <a:t> </a:t>
            </a:r>
            <a:r>
              <a:rPr lang="zh-CN" altLang="en-US" sz="7200" dirty="0">
                <a:solidFill>
                  <a:srgbClr val="FF0000"/>
                </a:solidFill>
              </a:rPr>
              <a:t>   </a:t>
            </a:r>
            <a:r>
              <a:rPr lang="en-US" altLang="zh-CN" sz="7200" dirty="0">
                <a:solidFill>
                  <a:srgbClr val="FF0000"/>
                </a:solidFill>
              </a:rPr>
              <a:t>border-image</a:t>
            </a:r>
          </a:p>
          <a:p>
            <a:pPr marL="0" indent="0">
              <a:buNone/>
            </a:pPr>
            <a:endParaRPr lang="en-US" altLang="zh-CN" sz="7200" dirty="0">
              <a:solidFill>
                <a:srgbClr val="FF0000"/>
              </a:solidFill>
            </a:endParaRPr>
          </a:p>
          <a:p>
            <a:r>
              <a:rPr lang="zh-CN" altLang="en-US" sz="7200" dirty="0">
                <a:solidFill>
                  <a:srgbClr val="000000"/>
                </a:solidFill>
              </a:rPr>
              <a:t>形变</a:t>
            </a:r>
            <a:endParaRPr lang="en-US" altLang="zh-CN" sz="72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zh-CN" altLang="zh-CN" sz="7200" dirty="0">
                <a:solidFill>
                  <a:srgbClr val="000000"/>
                </a:solidFill>
              </a:rPr>
              <a:t> </a:t>
            </a:r>
            <a:r>
              <a:rPr lang="zh-CN" altLang="en-US" sz="7200" dirty="0">
                <a:solidFill>
                  <a:srgbClr val="000000"/>
                </a:solidFill>
              </a:rPr>
              <a:t>  </a:t>
            </a:r>
            <a:r>
              <a:rPr lang="en-US" altLang="zh-CN" sz="7200" dirty="0">
                <a:solidFill>
                  <a:srgbClr val="FF0000"/>
                </a:solidFill>
              </a:rPr>
              <a:t>transform:</a:t>
            </a:r>
            <a:r>
              <a:rPr lang="zh-CN" altLang="en-US" sz="7200" dirty="0">
                <a:solidFill>
                  <a:srgbClr val="FF0000"/>
                </a:solidFill>
              </a:rPr>
              <a:t> </a:t>
            </a:r>
            <a:r>
              <a:rPr lang="en-US" altLang="zh-CN" sz="7200" dirty="0">
                <a:solidFill>
                  <a:srgbClr val="FF0000"/>
                </a:solidFill>
              </a:rPr>
              <a:t>none</a:t>
            </a:r>
            <a:r>
              <a:rPr lang="zh-CN" altLang="en-US" sz="7200" dirty="0">
                <a:solidFill>
                  <a:srgbClr val="FF0000"/>
                </a:solidFill>
              </a:rPr>
              <a:t> </a:t>
            </a:r>
            <a:r>
              <a:rPr lang="zh-CN" altLang="zh-CN" sz="7200" dirty="0">
                <a:solidFill>
                  <a:srgbClr val="FF0000"/>
                </a:solidFill>
              </a:rPr>
              <a:t>|</a:t>
            </a:r>
            <a:r>
              <a:rPr lang="zh-CN" altLang="en-US" sz="7200" dirty="0">
                <a:solidFill>
                  <a:srgbClr val="FF0000"/>
                </a:solidFill>
              </a:rPr>
              <a:t> </a:t>
            </a:r>
            <a:r>
              <a:rPr lang="en-US" altLang="zh-CN" sz="7200" dirty="0">
                <a:solidFill>
                  <a:srgbClr val="FF0000"/>
                </a:solidFill>
              </a:rPr>
              <a:t>&lt;transform-function&gt;[&lt;transform-</a:t>
            </a:r>
            <a:r>
              <a:rPr lang="en-US" altLang="zh-CN" sz="7200" dirty="0" err="1">
                <a:solidFill>
                  <a:srgbClr val="FF0000"/>
                </a:solidFill>
              </a:rPr>
              <a:t>fuction</a:t>
            </a:r>
            <a:r>
              <a:rPr lang="en-US" altLang="zh-CN" sz="7200" dirty="0">
                <a:solidFill>
                  <a:srgbClr val="FF0000"/>
                </a:solidFill>
              </a:rPr>
              <a:t>&gt;]</a:t>
            </a:r>
          </a:p>
          <a:p>
            <a:pPr marL="0" indent="0">
              <a:buNone/>
            </a:pPr>
            <a:r>
              <a:rPr lang="zh-CN" altLang="zh-CN" sz="1800" dirty="0">
                <a:solidFill>
                  <a:srgbClr val="000000"/>
                </a:solidFill>
              </a:rPr>
              <a:t> 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818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en-US" altLang="en-US"/>
              <a:t>布局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50977"/>
            <a:ext cx="8128599" cy="4941500"/>
          </a:xfrm>
        </p:spPr>
        <p:txBody>
          <a:bodyPr/>
          <a:lstStyle/>
          <a:p>
            <a:r>
              <a:rPr kumimoji="1" lang="zh-CN" altLang="en-US"/>
              <a:t>默认情况下，所有的网页标签都在</a:t>
            </a:r>
            <a:r>
              <a:rPr kumimoji="1" lang="zh-CN" altLang="en-US">
                <a:solidFill>
                  <a:srgbClr val="0000FF"/>
                </a:solidFill>
              </a:rPr>
              <a:t>标准流</a:t>
            </a:r>
            <a:r>
              <a:rPr kumimoji="1" lang="zh-CN" altLang="en-US"/>
              <a:t>布局中</a:t>
            </a:r>
            <a:endParaRPr kumimoji="1" lang="en-US" altLang="zh-CN"/>
          </a:p>
          <a:p>
            <a:pPr>
              <a:buFont typeface="Wingdings" charset="2"/>
              <a:buChar char="p"/>
            </a:pPr>
            <a:r>
              <a:rPr kumimoji="1" lang="zh-CN" altLang="en-US"/>
              <a:t>从上到下，从左到右</a:t>
            </a:r>
            <a:endParaRPr kumimoji="1" lang="en-US" altLang="zh-CN"/>
          </a:p>
          <a:p>
            <a:pPr>
              <a:buFont typeface="Wingdings" charset="2"/>
              <a:buChar char="p"/>
            </a:pPr>
            <a:endParaRPr kumimoji="1" lang="en-US" altLang="zh-CN"/>
          </a:p>
          <a:p>
            <a:r>
              <a:rPr kumimoji="1" lang="zh-CN" altLang="en-US"/>
              <a:t>脱离标准流的方法有</a:t>
            </a:r>
            <a:endParaRPr kumimoji="1" lang="en-US" altLang="zh-CN"/>
          </a:p>
          <a:p>
            <a:pPr>
              <a:buFont typeface="Wingdings" charset="2"/>
              <a:buChar char="p"/>
            </a:pPr>
            <a:r>
              <a:rPr kumimoji="1" lang="en-US" altLang="zh-CN"/>
              <a:t>float</a:t>
            </a:r>
            <a:r>
              <a:rPr kumimoji="1" lang="zh-CN" altLang="en-US"/>
              <a:t>属性</a:t>
            </a:r>
            <a:endParaRPr kumimoji="1" lang="en-US" altLang="zh-CN"/>
          </a:p>
          <a:p>
            <a:pPr>
              <a:buFont typeface="Wingdings" charset="2"/>
              <a:buChar char="p"/>
            </a:pPr>
            <a:r>
              <a:rPr kumimoji="1" lang="en-US" altLang="zh-CN"/>
              <a:t>position</a:t>
            </a:r>
            <a:r>
              <a:rPr kumimoji="1" lang="zh-CN" altLang="en-US"/>
              <a:t>属性 和 </a:t>
            </a:r>
            <a:r>
              <a:rPr kumimoji="1" lang="en-US" altLang="zh-CN"/>
              <a:t>left</a:t>
            </a:r>
            <a:r>
              <a:rPr kumimoji="1" lang="zh-CN" altLang="en-US"/>
              <a:t>、</a:t>
            </a:r>
            <a:r>
              <a:rPr kumimoji="1" lang="en-US" altLang="zh-CN"/>
              <a:t>right</a:t>
            </a:r>
            <a:r>
              <a:rPr kumimoji="1" lang="zh-CN" altLang="en-US"/>
              <a:t>、</a:t>
            </a:r>
            <a:r>
              <a:rPr kumimoji="1" lang="en-US" altLang="zh-CN"/>
              <a:t>top</a:t>
            </a:r>
            <a:r>
              <a:rPr kumimoji="1" lang="zh-CN" altLang="en-US"/>
              <a:t>、</a:t>
            </a:r>
            <a:r>
              <a:rPr kumimoji="1" lang="en-US" altLang="zh-CN"/>
              <a:t>bottom</a:t>
            </a:r>
            <a:r>
              <a:rPr kumimoji="1" lang="zh-CN" altLang="en-US"/>
              <a:t>属性</a:t>
            </a:r>
            <a:endParaRPr kumimoji="1" lang="en-US" altLang="zh-CN"/>
          </a:p>
        </p:txBody>
      </p:sp>
    </p:spTree>
    <p:extLst>
      <p:ext uri="{BB962C8B-B14F-4D97-AF65-F5344CB8AC3E}">
        <p14:creationId xmlns:p14="http://schemas.microsoft.com/office/powerpoint/2010/main" val="67811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en-US" altLang="en-US"/>
              <a:t>布局 – float属性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50977"/>
            <a:ext cx="8128599" cy="4941500"/>
          </a:xfrm>
        </p:spPr>
        <p:txBody>
          <a:bodyPr/>
          <a:lstStyle/>
          <a:p>
            <a:r>
              <a:rPr kumimoji="1" lang="en-US" altLang="zh-CN"/>
              <a:t>float</a:t>
            </a:r>
            <a:r>
              <a:rPr kumimoji="1" lang="zh-CN" altLang="en-US"/>
              <a:t>属性的常用取值有</a:t>
            </a:r>
            <a:endParaRPr kumimoji="1" lang="en-US" altLang="zh-CN"/>
          </a:p>
          <a:p>
            <a:pPr>
              <a:buFont typeface="Wingdings" charset="2"/>
              <a:buChar char="p"/>
            </a:pPr>
            <a:r>
              <a:rPr kumimoji="1" lang="en-US" altLang="zh-CN"/>
              <a:t>left</a:t>
            </a:r>
            <a:r>
              <a:rPr kumimoji="1" lang="zh-CN" altLang="en-US"/>
              <a:t>：脱离标准流，浮动在父标签的最左边</a:t>
            </a:r>
            <a:endParaRPr kumimoji="1" lang="en-US" altLang="zh-CN"/>
          </a:p>
          <a:p>
            <a:pPr>
              <a:buFont typeface="Wingdings" charset="2"/>
              <a:buChar char="p"/>
            </a:pPr>
            <a:r>
              <a:rPr kumimoji="1" lang="en-US" altLang="zh-CN"/>
              <a:t>right</a:t>
            </a:r>
            <a:r>
              <a:rPr kumimoji="1" lang="zh-CN" altLang="en-US"/>
              <a:t>：脱离标准流，浮动在父标签的最右边</a:t>
            </a:r>
            <a:endParaRPr kumimoji="1" lang="en-US" altLang="zh-CN"/>
          </a:p>
        </p:txBody>
      </p:sp>
    </p:spTree>
    <p:extLst>
      <p:ext uri="{BB962C8B-B14F-4D97-AF65-F5344CB8AC3E}">
        <p14:creationId xmlns:p14="http://schemas.microsoft.com/office/powerpoint/2010/main" val="90422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CSS</a:t>
            </a:r>
            <a:r>
              <a:rPr kumimoji="1" lang="en-US" altLang="en-US"/>
              <a:t>布局 – position属性</a:t>
            </a:r>
            <a:endParaRPr kumimoji="1" lang="zh-CN" altLang="en-US"/>
          </a:p>
        </p:txBody>
      </p:sp>
      <p:pic>
        <p:nvPicPr>
          <p:cNvPr id="5" name="图片 4" descr="QQ20140924-11@2x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12" y="1505172"/>
            <a:ext cx="8431989" cy="364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477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JavaScript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50977"/>
            <a:ext cx="8128599" cy="4941500"/>
          </a:xfrm>
        </p:spPr>
        <p:txBody>
          <a:bodyPr/>
          <a:lstStyle/>
          <a:p>
            <a:r>
              <a:rPr kumimoji="1" lang="zh-CN" altLang="en-US" dirty="0"/>
              <a:t>什么是</a:t>
            </a:r>
            <a:r>
              <a:rPr kumimoji="1" lang="en-US" altLang="zh-CN" dirty="0"/>
              <a:t>JavaScript</a:t>
            </a:r>
          </a:p>
          <a:p>
            <a:pPr>
              <a:buFont typeface="Wingdings" charset="2"/>
              <a:buChar char="p"/>
            </a:pPr>
            <a:r>
              <a:rPr kumimoji="1" lang="en-US" altLang="zh-CN" dirty="0"/>
              <a:t>JavaScript</a:t>
            </a:r>
            <a:r>
              <a:rPr kumimoji="1" lang="zh-CN" altLang="en-US" dirty="0"/>
              <a:t>是一门广泛用于</a:t>
            </a:r>
            <a:r>
              <a:rPr kumimoji="1" lang="zh-CN" altLang="en-US" dirty="0">
                <a:solidFill>
                  <a:srgbClr val="FF0000"/>
                </a:solidFill>
              </a:rPr>
              <a:t>浏览器客户端</a:t>
            </a:r>
            <a:r>
              <a:rPr kumimoji="1" lang="zh-CN" altLang="en-US" dirty="0"/>
              <a:t>的</a:t>
            </a:r>
            <a:r>
              <a:rPr kumimoji="1" lang="zh-CN" altLang="en-US" dirty="0">
                <a:solidFill>
                  <a:srgbClr val="0000FF"/>
                </a:solidFill>
              </a:rPr>
              <a:t>脚本</a:t>
            </a:r>
            <a:r>
              <a:rPr kumimoji="1" lang="zh-CN" altLang="en-US" dirty="0"/>
              <a:t>语言</a:t>
            </a:r>
            <a:endParaRPr kumimoji="1" lang="en-US" altLang="zh-CN" dirty="0"/>
          </a:p>
          <a:p>
            <a:pPr>
              <a:buFont typeface="Wingdings" charset="2"/>
              <a:buChar char="p"/>
            </a:pPr>
            <a:r>
              <a:rPr kumimoji="1" lang="zh-CN" altLang="en-US" dirty="0"/>
              <a:t>由</a:t>
            </a:r>
            <a:r>
              <a:rPr kumimoji="1" lang="en-US" altLang="zh-CN" dirty="0"/>
              <a:t>Netspace</a:t>
            </a:r>
            <a:r>
              <a:rPr kumimoji="1" lang="zh-CN" altLang="en-US" dirty="0"/>
              <a:t>公司设计，当时跟</a:t>
            </a:r>
            <a:r>
              <a:rPr kumimoji="1" lang="en-US" altLang="zh-CN" dirty="0"/>
              <a:t>Sun</a:t>
            </a:r>
            <a:r>
              <a:rPr kumimoji="1" lang="zh-CN" altLang="en-US" dirty="0"/>
              <a:t>公司合作，所以名字起得像</a:t>
            </a:r>
            <a:r>
              <a:rPr kumimoji="1" lang="en-US" altLang="zh-CN" dirty="0"/>
              <a:t>Java</a:t>
            </a:r>
          </a:p>
          <a:p>
            <a:pPr>
              <a:buFont typeface="Wingdings" charset="2"/>
              <a:buChar char="p"/>
            </a:pPr>
            <a:r>
              <a:rPr kumimoji="1" lang="zh-CN" altLang="en-US" dirty="0"/>
              <a:t>业内一般简称</a:t>
            </a:r>
            <a:r>
              <a:rPr kumimoji="1" lang="en-US" altLang="zh-CN" dirty="0"/>
              <a:t>JS</a:t>
            </a:r>
          </a:p>
          <a:p>
            <a:pPr>
              <a:buFont typeface="Wingdings" charset="2"/>
              <a:buChar char="p"/>
            </a:pPr>
            <a:endParaRPr kumimoji="1" lang="en-US" altLang="zh-CN" dirty="0"/>
          </a:p>
          <a:p>
            <a:r>
              <a:rPr kumimoji="1" lang="en-US" altLang="zh-CN" dirty="0"/>
              <a:t>JS</a:t>
            </a:r>
            <a:r>
              <a:rPr kumimoji="1" lang="zh-CN" altLang="en-US" dirty="0"/>
              <a:t>的常见用途</a:t>
            </a:r>
            <a:endParaRPr kumimoji="1" lang="en-US" altLang="zh-CN" dirty="0"/>
          </a:p>
          <a:p>
            <a:pPr>
              <a:buFont typeface="Wingdings" charset="2"/>
              <a:buChar char="ü"/>
            </a:pPr>
            <a:r>
              <a:rPr kumimoji="1" lang="en-US" altLang="zh-CN" dirty="0"/>
              <a:t>HTML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00FF"/>
                </a:solidFill>
              </a:rPr>
              <a:t>DOM</a:t>
            </a:r>
            <a:r>
              <a:rPr kumimoji="1" lang="zh-CN" altLang="en-US" dirty="0">
                <a:solidFill>
                  <a:srgbClr val="0000FF"/>
                </a:solidFill>
              </a:rPr>
              <a:t>操作</a:t>
            </a:r>
            <a:r>
              <a:rPr kumimoji="1" lang="zh-CN" altLang="en-US" dirty="0"/>
              <a:t>（节点操作，比如添加、修改、删除节点）</a:t>
            </a:r>
            <a:endParaRPr kumimoji="1" lang="en-US" altLang="zh-CN" dirty="0"/>
          </a:p>
          <a:p>
            <a:pPr>
              <a:buFont typeface="Wingdings" charset="2"/>
              <a:buChar char="ü"/>
            </a:pPr>
            <a:r>
              <a:rPr kumimoji="1" lang="zh-CN" altLang="en-US" dirty="0"/>
              <a:t>给</a:t>
            </a:r>
            <a:r>
              <a:rPr kumimoji="1" lang="en-US" altLang="zh-CN" dirty="0"/>
              <a:t>HTML</a:t>
            </a:r>
            <a:r>
              <a:rPr kumimoji="1" lang="zh-CN" altLang="en-US" dirty="0"/>
              <a:t>网页增加</a:t>
            </a:r>
            <a:r>
              <a:rPr kumimoji="1" lang="zh-CN" altLang="en-US" dirty="0">
                <a:solidFill>
                  <a:srgbClr val="0000FF"/>
                </a:solidFill>
              </a:rPr>
              <a:t>动态</a:t>
            </a:r>
            <a:r>
              <a:rPr kumimoji="1" lang="zh-CN" altLang="en-US" dirty="0"/>
              <a:t>功能，比如动画</a:t>
            </a:r>
            <a:endParaRPr kumimoji="1" lang="en-US" altLang="zh-CN" dirty="0"/>
          </a:p>
          <a:p>
            <a:pPr>
              <a:buFont typeface="Wingdings" charset="2"/>
              <a:buChar char="ü"/>
            </a:pPr>
            <a:r>
              <a:rPr kumimoji="1" lang="zh-CN" altLang="en-US" dirty="0">
                <a:solidFill>
                  <a:srgbClr val="0000FF"/>
                </a:solidFill>
              </a:rPr>
              <a:t>事件</a:t>
            </a:r>
            <a:r>
              <a:rPr kumimoji="1" lang="zh-CN" altLang="en-US" dirty="0"/>
              <a:t>处理：比如监听鼠标点击、鼠标滑动、键盘输入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397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Node.js</a:t>
            </a:r>
            <a:endParaRPr kumimoji="1"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241599" y="1301301"/>
            <a:ext cx="8773962" cy="4941500"/>
          </a:xfrm>
        </p:spPr>
        <p:txBody>
          <a:bodyPr/>
          <a:lstStyle/>
          <a:p>
            <a:r>
              <a:rPr kumimoji="1" lang="zh-CN" altLang="en-US" dirty="0"/>
              <a:t>什么是</a:t>
            </a:r>
            <a:r>
              <a:rPr kumimoji="1" lang="en-US" altLang="zh-CN" dirty="0"/>
              <a:t>Node.js</a:t>
            </a:r>
          </a:p>
          <a:p>
            <a:pPr>
              <a:buFont typeface="Wingdings" charset="2"/>
              <a:buChar char="p"/>
            </a:pPr>
            <a:r>
              <a:rPr lang="en-US" altLang="zh-CN" dirty="0"/>
              <a:t>Node</a:t>
            </a:r>
            <a:r>
              <a:rPr lang="zh-CN" altLang="en-US" dirty="0"/>
              <a:t>是一个</a:t>
            </a:r>
            <a:r>
              <a:rPr lang="en-US" altLang="zh-CN" dirty="0"/>
              <a:t>JavaScript</a:t>
            </a:r>
            <a:r>
              <a:rPr lang="zh-CN" altLang="en-US" dirty="0"/>
              <a:t>运行环境</a:t>
            </a:r>
            <a:r>
              <a:rPr lang="en-US" altLang="zh-CN" dirty="0"/>
              <a:t>(runtime)</a:t>
            </a:r>
            <a:r>
              <a:rPr lang="zh-CN" altLang="en-US" dirty="0"/>
              <a:t>，是对</a:t>
            </a:r>
            <a:r>
              <a:rPr lang="en-US" altLang="zh-CN" dirty="0"/>
              <a:t>Google V8</a:t>
            </a:r>
            <a:r>
              <a:rPr lang="zh-CN" altLang="en-US" dirty="0"/>
              <a:t>引擎进行了封装</a:t>
            </a:r>
            <a:endParaRPr lang="en-US" altLang="zh-CN" dirty="0"/>
          </a:p>
          <a:p>
            <a:pPr>
              <a:buFont typeface="Wingdings" charset="2"/>
              <a:buChar char="p"/>
            </a:pPr>
            <a:r>
              <a:rPr lang="en-US" altLang="zh-CN" dirty="0"/>
              <a:t>V8</a:t>
            </a:r>
            <a:r>
              <a:rPr lang="zh-CN" altLang="en-US" dirty="0"/>
              <a:t>引擎执行</a:t>
            </a:r>
            <a:r>
              <a:rPr lang="en-US" altLang="zh-CN" dirty="0"/>
              <a:t>JavaScript</a:t>
            </a:r>
            <a:r>
              <a:rPr lang="zh-CN" altLang="en-US" dirty="0"/>
              <a:t>的速度非常快，性能非常好</a:t>
            </a:r>
            <a:endParaRPr lang="en-US" altLang="zh-CN" dirty="0"/>
          </a:p>
          <a:p>
            <a:pPr>
              <a:buFont typeface="Wingdings" charset="2"/>
              <a:buChar char="p"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kumimoji="1" lang="en-US" altLang="zh-CN" dirty="0"/>
              <a:t>Node.js</a:t>
            </a:r>
            <a:r>
              <a:rPr kumimoji="1" lang="zh-CN" altLang="en-US" dirty="0"/>
              <a:t>的优势</a:t>
            </a:r>
            <a:endParaRPr kumimoji="1" lang="en-US" altLang="zh-CN" dirty="0"/>
          </a:p>
          <a:p>
            <a:pPr>
              <a:buFont typeface="Wingdings" charset="2"/>
              <a:buChar char="ü"/>
            </a:pPr>
            <a:r>
              <a:rPr kumimoji="1" lang="zh-CN" altLang="en-US" dirty="0"/>
              <a:t>可以作为</a:t>
            </a:r>
            <a:r>
              <a:rPr kumimoji="1" lang="zh-CN" altLang="en-US" dirty="0">
                <a:solidFill>
                  <a:srgbClr val="FF0000"/>
                </a:solidFill>
              </a:rPr>
              <a:t>后台语言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>
              <a:buFont typeface="Wingdings" charset="2"/>
              <a:buChar char="ü"/>
            </a:pPr>
            <a:r>
              <a:rPr kumimoji="1" lang="zh-CN" altLang="en-US" dirty="0"/>
              <a:t>单线程 </a:t>
            </a:r>
            <a:endParaRPr kumimoji="1" lang="en-US" altLang="zh-CN" dirty="0"/>
          </a:p>
          <a:p>
            <a:pPr>
              <a:buFont typeface="Wingdings" charset="2"/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不新增额外线程的情况下，依然可以对任务进行并行处理（采用事件轮询）</a:t>
            </a:r>
            <a:endParaRPr kumimoji="1" lang="en-US" altLang="zh-CN" dirty="0"/>
          </a:p>
          <a:p>
            <a:pPr>
              <a:buFont typeface="Wingdings" charset="2"/>
              <a:buChar char="ü"/>
            </a:pPr>
            <a:r>
              <a:rPr kumimoji="1" lang="zh-CN" altLang="en-US" dirty="0"/>
              <a:t>非阻塞</a:t>
            </a:r>
            <a:r>
              <a:rPr kumimoji="1" lang="en-US" altLang="zh-CN" dirty="0"/>
              <a:t>I/O</a:t>
            </a:r>
            <a:r>
              <a:rPr kumimoji="1" lang="zh-CN" altLang="en-US" dirty="0"/>
              <a:t>、</a:t>
            </a:r>
            <a:r>
              <a:rPr kumimoji="1" lang="en-US" altLang="zh-CN" dirty="0"/>
              <a:t>V8</a:t>
            </a:r>
            <a:r>
              <a:rPr kumimoji="1" lang="zh-CN" altLang="en-US" dirty="0"/>
              <a:t>虚拟机</a:t>
            </a:r>
            <a:r>
              <a:rPr kumimoji="1" lang="zh-CN" altLang="zh-CN" dirty="0"/>
              <a:t>、</a:t>
            </a:r>
            <a:r>
              <a:rPr kumimoji="1" lang="zh-CN" altLang="en-US" dirty="0"/>
              <a:t>事件驱动</a:t>
            </a:r>
            <a:endParaRPr kumimoji="1" lang="en-US" altLang="zh-CN" dirty="0"/>
          </a:p>
          <a:p>
            <a:pPr>
              <a:buFont typeface="Wingdings" charset="2"/>
              <a:buChar char="p"/>
            </a:pPr>
            <a:endParaRPr kumimoji="1" lang="en-US" altLang="zh-CN" dirty="0"/>
          </a:p>
          <a:p>
            <a:pPr>
              <a:buFont typeface="Wingdings" charset="2"/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845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JavaScript</a:t>
            </a:r>
            <a:r>
              <a:rPr kumimoji="1" lang="zh-CN" altLang="en-US" dirty="0"/>
              <a:t>的书写方式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50977"/>
            <a:ext cx="8128599" cy="4941500"/>
          </a:xfrm>
        </p:spPr>
        <p:txBody>
          <a:bodyPr>
            <a:normAutofit/>
          </a:bodyPr>
          <a:lstStyle/>
          <a:p>
            <a:r>
              <a:rPr kumimoji="1" lang="en-US" altLang="zh-CN" sz="1800" dirty="0"/>
              <a:t>JS</a:t>
            </a:r>
            <a:r>
              <a:rPr kumimoji="1" lang="zh-CN" altLang="en-US" sz="1800" dirty="0"/>
              <a:t>常见的书写方式有</a:t>
            </a:r>
            <a:r>
              <a:rPr kumimoji="1" lang="en-US" altLang="zh-CN" sz="1800" dirty="0"/>
              <a:t>2</a:t>
            </a:r>
            <a:r>
              <a:rPr kumimoji="1" lang="zh-CN" altLang="en-US" sz="1800" dirty="0"/>
              <a:t>种</a:t>
            </a:r>
            <a:endParaRPr kumimoji="1" lang="en-US" altLang="zh-CN" sz="1800" dirty="0"/>
          </a:p>
          <a:p>
            <a:pPr>
              <a:buFont typeface="Wingdings" charset="2"/>
              <a:buChar char="p"/>
            </a:pPr>
            <a:r>
              <a:rPr kumimoji="1" lang="zh-CN" altLang="en-US" sz="1800" dirty="0"/>
              <a:t>页内</a:t>
            </a:r>
            <a:r>
              <a:rPr kumimoji="1" lang="en-US" altLang="zh-CN" sz="1800" dirty="0"/>
              <a:t>JS</a:t>
            </a:r>
            <a:r>
              <a:rPr kumimoji="1" lang="zh-CN" altLang="en-US" sz="1800" dirty="0"/>
              <a:t>：在当前网页的</a:t>
            </a:r>
            <a:r>
              <a:rPr kumimoji="1" lang="en-US" altLang="zh-CN" sz="1800" dirty="0"/>
              <a:t>script</a:t>
            </a:r>
            <a:r>
              <a:rPr kumimoji="1" lang="zh-CN" altLang="en-US" sz="1800" dirty="0"/>
              <a:t>标签中编写</a:t>
            </a:r>
            <a:endParaRPr kumimoji="1" lang="en-US" altLang="zh-CN" sz="1800" dirty="0"/>
          </a:p>
          <a:p>
            <a:pPr marL="0" indent="0">
              <a:buNone/>
            </a:pPr>
            <a:r>
              <a:rPr lang="en-US" altLang="zh-CN" sz="1800" dirty="0">
                <a:solidFill>
                  <a:srgbClr val="AA0D91"/>
                </a:solidFill>
                <a:latin typeface="Menlo-Regular"/>
              </a:rPr>
              <a:t>&lt;script </a:t>
            </a:r>
            <a:r>
              <a:rPr lang="en-US" altLang="zh-CN" sz="1800" dirty="0">
                <a:solidFill>
                  <a:srgbClr val="836C28"/>
                </a:solidFill>
                <a:latin typeface="Menlo-Regular"/>
              </a:rPr>
              <a:t>type</a:t>
            </a:r>
            <a:r>
              <a:rPr lang="en-US" altLang="zh-CN" sz="1800" dirty="0">
                <a:solidFill>
                  <a:srgbClr val="AA0D91"/>
                </a:solidFill>
                <a:latin typeface="Menlo-Regular"/>
              </a:rPr>
              <a:t>=</a:t>
            </a:r>
            <a:r>
              <a:rPr lang="en-US" altLang="zh-CN" sz="1800" dirty="0">
                <a:solidFill>
                  <a:srgbClr val="C41A16"/>
                </a:solidFill>
                <a:latin typeface="Menlo-Regular"/>
              </a:rPr>
              <a:t>"text/</a:t>
            </a:r>
            <a:r>
              <a:rPr lang="en-US" altLang="zh-CN" sz="1800" dirty="0" err="1">
                <a:solidFill>
                  <a:srgbClr val="C41A16"/>
                </a:solidFill>
                <a:latin typeface="Menlo-Regular"/>
              </a:rPr>
              <a:t>javascript</a:t>
            </a:r>
            <a:r>
              <a:rPr lang="en-US" altLang="zh-CN" sz="1800" dirty="0">
                <a:solidFill>
                  <a:srgbClr val="C41A16"/>
                </a:solidFill>
                <a:latin typeface="Menlo-Regular"/>
              </a:rPr>
              <a:t>"</a:t>
            </a:r>
            <a:r>
              <a:rPr lang="en-US" altLang="zh-CN" sz="1800" dirty="0">
                <a:solidFill>
                  <a:srgbClr val="AA0D91"/>
                </a:solidFill>
                <a:latin typeface="Menlo-Regular"/>
              </a:rPr>
              <a:t>&gt;</a:t>
            </a:r>
            <a:endParaRPr lang="en-US" altLang="zh-CN" sz="1800" dirty="0">
              <a:solidFill>
                <a:srgbClr val="000000"/>
              </a:solidFill>
              <a:latin typeface="Menlo-Regular"/>
            </a:endParaRPr>
          </a:p>
          <a:p>
            <a:pPr marL="0" indent="0">
              <a:buNone/>
            </a:pPr>
            <a:r>
              <a:rPr lang="ro-RO" altLang="zh-CN" sz="1800" dirty="0">
                <a:solidFill>
                  <a:srgbClr val="AA0D91"/>
                </a:solidFill>
                <a:latin typeface="Menlo-Regular"/>
              </a:rPr>
              <a:t>&lt;/</a:t>
            </a:r>
            <a:r>
              <a:rPr lang="en-US" altLang="zh-CN" sz="1800" dirty="0">
                <a:solidFill>
                  <a:srgbClr val="AA0D91"/>
                </a:solidFill>
                <a:latin typeface="Menlo-Regular"/>
              </a:rPr>
              <a:t>script</a:t>
            </a:r>
            <a:r>
              <a:rPr lang="ro-RO" altLang="zh-CN" sz="1800" dirty="0">
                <a:solidFill>
                  <a:srgbClr val="AA0D91"/>
                </a:solidFill>
                <a:latin typeface="Menlo-Regular"/>
              </a:rPr>
              <a:t>&gt;</a:t>
            </a:r>
            <a:endParaRPr kumimoji="1" lang="en-US" altLang="zh-CN" sz="1800" dirty="0"/>
          </a:p>
          <a:p>
            <a:pPr marL="0" indent="0">
              <a:buNone/>
            </a:pPr>
            <a:endParaRPr kumimoji="1" lang="en-US" altLang="zh-CN" sz="1800" dirty="0"/>
          </a:p>
          <a:p>
            <a:pPr>
              <a:buFont typeface="Wingdings" charset="2"/>
              <a:buChar char="p"/>
            </a:pPr>
            <a:r>
              <a:rPr kumimoji="1" lang="zh-CN" altLang="en-US" sz="1800" dirty="0"/>
              <a:t>外部</a:t>
            </a:r>
            <a:r>
              <a:rPr kumimoji="1" lang="en-US" altLang="zh-CN" sz="1800" dirty="0"/>
              <a:t>JS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AA0D91"/>
                </a:solidFill>
                <a:latin typeface="Menlo-Regular"/>
              </a:rPr>
              <a:t>&lt;script </a:t>
            </a:r>
            <a:r>
              <a:rPr lang="en-US" altLang="zh-CN" sz="1800" dirty="0" err="1">
                <a:solidFill>
                  <a:srgbClr val="836C28"/>
                </a:solidFill>
                <a:latin typeface="Menlo-Regular"/>
              </a:rPr>
              <a:t>src</a:t>
            </a:r>
            <a:r>
              <a:rPr lang="en-US" altLang="zh-CN" sz="1800" dirty="0">
                <a:solidFill>
                  <a:srgbClr val="AA0D91"/>
                </a:solidFill>
                <a:latin typeface="Menlo-Regular"/>
              </a:rPr>
              <a:t>=</a:t>
            </a:r>
            <a:r>
              <a:rPr lang="en-US" altLang="zh-CN" sz="1800" dirty="0">
                <a:solidFill>
                  <a:srgbClr val="C41A16"/>
                </a:solidFill>
                <a:latin typeface="Menlo-Regular"/>
              </a:rPr>
              <a:t>"</a:t>
            </a:r>
            <a:r>
              <a:rPr lang="en-US" altLang="zh-CN" sz="1800" dirty="0" err="1">
                <a:solidFill>
                  <a:srgbClr val="C41A16"/>
                </a:solidFill>
                <a:latin typeface="Menlo-Regular"/>
              </a:rPr>
              <a:t>index.js</a:t>
            </a:r>
            <a:r>
              <a:rPr lang="en-US" altLang="zh-CN" sz="1800" dirty="0">
                <a:solidFill>
                  <a:srgbClr val="C41A16"/>
                </a:solidFill>
                <a:latin typeface="Menlo-Regular"/>
              </a:rPr>
              <a:t>"</a:t>
            </a:r>
            <a:r>
              <a:rPr lang="en-US" altLang="zh-CN" sz="1800" dirty="0">
                <a:solidFill>
                  <a:srgbClr val="AA0D91"/>
                </a:solidFill>
                <a:latin typeface="Menlo-Regular"/>
              </a:rPr>
              <a:t>&gt;</a:t>
            </a:r>
            <a:r>
              <a:rPr lang="ro-RO" altLang="zh-CN" sz="1800" dirty="0">
                <a:solidFill>
                  <a:srgbClr val="AA0D91"/>
                </a:solidFill>
                <a:latin typeface="Menlo-Regular"/>
              </a:rPr>
              <a:t>&lt;/</a:t>
            </a:r>
            <a:r>
              <a:rPr lang="en-US" altLang="zh-CN" sz="1800" dirty="0">
                <a:solidFill>
                  <a:srgbClr val="AA0D91"/>
                </a:solidFill>
                <a:latin typeface="Menlo-Regular"/>
              </a:rPr>
              <a:t>script</a:t>
            </a:r>
            <a:r>
              <a:rPr lang="ro-RO" altLang="zh-CN" sz="1800" dirty="0">
                <a:solidFill>
                  <a:srgbClr val="AA0D91"/>
                </a:solidFill>
                <a:latin typeface="Menlo-Regular"/>
              </a:rPr>
              <a:t>&gt;</a:t>
            </a:r>
            <a:endParaRPr kumimoji="1"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74133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Canvas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158" y="1355278"/>
            <a:ext cx="8128599" cy="4675188"/>
          </a:xfrm>
        </p:spPr>
        <p:txBody>
          <a:bodyPr/>
          <a:lstStyle/>
          <a:p>
            <a:r>
              <a:rPr kumimoji="1" lang="en-US" altLang="zh-CN" dirty="0"/>
              <a:t>HTML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</a:t>
            </a:r>
            <a:r>
              <a:rPr kumimoji="1" lang="en-US" altLang="zh-CN" dirty="0"/>
              <a:t>&lt;canvas id="canvas"&gt;&lt;/canvas&gt;</a:t>
            </a:r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JS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</a:t>
            </a:r>
            <a:r>
              <a:rPr kumimoji="1" lang="en-US" altLang="zh-CN" dirty="0"/>
              <a:t> </a:t>
            </a:r>
            <a:r>
              <a:rPr kumimoji="1" lang="zh-CN" altLang="en-US" dirty="0"/>
              <a:t>  </a:t>
            </a:r>
            <a:r>
              <a:rPr kumimoji="1" lang="en-US" altLang="zh-CN" dirty="0"/>
              <a:t>var canvas = document.getElementById('canvas');</a:t>
            </a:r>
          </a:p>
          <a:p>
            <a:pPr marL="0" indent="0">
              <a:buNone/>
            </a:pPr>
            <a:r>
              <a:rPr kumimoji="1" lang="en-US" altLang="zh-CN" dirty="0"/>
              <a:t>   var context = canvas.getContext('2d');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context</a:t>
            </a:r>
            <a:r>
              <a:rPr kumimoji="1" lang="zh-CN" altLang="en-US" dirty="0">
                <a:solidFill>
                  <a:srgbClr val="FF0000"/>
                </a:solidFill>
              </a:rPr>
              <a:t>是一个绘图的上下文环境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zh-CN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rgbClr val="FF0000"/>
                </a:solidFill>
              </a:rPr>
              <a:t>   </a:t>
            </a:r>
            <a:r>
              <a:rPr kumimoji="1" lang="en-US" altLang="zh-CN" dirty="0">
                <a:solidFill>
                  <a:srgbClr val="FF0000"/>
                </a:solidFill>
              </a:rPr>
              <a:t>2d</a:t>
            </a:r>
            <a:r>
              <a:rPr kumimoji="1" lang="zh-CN" altLang="en-US" dirty="0">
                <a:solidFill>
                  <a:srgbClr val="FF0000"/>
                </a:solidFill>
              </a:rPr>
              <a:t>是二维图形</a:t>
            </a:r>
          </a:p>
        </p:txBody>
      </p:sp>
    </p:spTree>
    <p:extLst>
      <p:ext uri="{BB962C8B-B14F-4D97-AF65-F5344CB8AC3E}">
        <p14:creationId xmlns:p14="http://schemas.microsoft.com/office/powerpoint/2010/main" val="93814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Canvas</a:t>
            </a:r>
            <a:r>
              <a:rPr kumimoji="1" lang="zh-CN" altLang="en-US" dirty="0"/>
              <a:t>绘制直线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8" y="1450976"/>
            <a:ext cx="8128599" cy="4970038"/>
          </a:xfrm>
        </p:spPr>
        <p:txBody>
          <a:bodyPr/>
          <a:lstStyle/>
          <a:p>
            <a:r>
              <a:rPr kumimoji="1" lang="zh-CN" altLang="en-US" dirty="0"/>
              <a:t>起点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</a:t>
            </a:r>
            <a:r>
              <a:rPr kumimoji="1" lang="en-US" altLang="zh-CN" dirty="0"/>
              <a:t>context.moveTo(100,</a:t>
            </a:r>
            <a:r>
              <a:rPr kumimoji="1" lang="zh-CN" altLang="en-US" dirty="0"/>
              <a:t>1</a:t>
            </a:r>
            <a:r>
              <a:rPr kumimoji="1" lang="en-US" altLang="zh-CN" dirty="0"/>
              <a:t>00);</a:t>
            </a:r>
          </a:p>
          <a:p>
            <a:r>
              <a:rPr kumimoji="1" lang="zh-CN" altLang="en-US" dirty="0"/>
              <a:t>终点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  </a:t>
            </a:r>
            <a:r>
              <a:rPr kumimoji="1" lang="en-US" altLang="zh-CN" dirty="0"/>
              <a:t>context.lineTo(400,</a:t>
            </a:r>
            <a:r>
              <a:rPr kumimoji="1" lang="zh-CN" altLang="en-US" dirty="0"/>
              <a:t> </a:t>
            </a:r>
            <a:r>
              <a:rPr kumimoji="1" lang="en-US" altLang="zh-CN" dirty="0"/>
              <a:t>400);</a:t>
            </a:r>
          </a:p>
          <a:p>
            <a:r>
              <a:rPr kumimoji="1" lang="zh-CN" altLang="en-US" dirty="0"/>
              <a:t>绘制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</a:t>
            </a:r>
            <a:r>
              <a:rPr kumimoji="1" lang="en-US" altLang="zh-CN" dirty="0"/>
              <a:t>context.stroke();</a:t>
            </a:r>
          </a:p>
          <a:p>
            <a:pPr>
              <a:lnSpc>
                <a:spcPct val="120000"/>
              </a:lnSpc>
            </a:pPr>
            <a:r>
              <a:rPr kumimoji="1" lang="zh-CN" altLang="en-US" dirty="0"/>
              <a:t>设置线条颜色和宽度</a:t>
            </a:r>
            <a:endParaRPr kumimoji="1"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</a:t>
            </a:r>
            <a:r>
              <a:rPr kumimoji="1" lang="en-US" altLang="zh-CN" dirty="0"/>
              <a:t>context.strokeStyle = 'red';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zh-CN" altLang="en-US" dirty="0"/>
              <a:t>   </a:t>
            </a:r>
            <a:r>
              <a:rPr kumimoji="1" lang="en-US" altLang="zh-CN" dirty="0"/>
              <a:t>context.lineWidth = 5;</a:t>
            </a:r>
          </a:p>
          <a:p>
            <a:pPr>
              <a:lnSpc>
                <a:spcPct val="120000"/>
              </a:lnSpc>
            </a:pPr>
            <a:r>
              <a:rPr kumimoji="1" lang="zh-CN" altLang="en-US" dirty="0"/>
              <a:t>设置填充色</a:t>
            </a:r>
            <a:endParaRPr kumimoji="1"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</a:t>
            </a:r>
            <a:r>
              <a:rPr kumimoji="1" lang="en-US" altLang="zh-CN" dirty="0"/>
              <a:t>context.fillStyle = 'blue';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4838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Canvas</a:t>
            </a:r>
            <a:r>
              <a:rPr kumimoji="1" lang="zh-CN" altLang="en-US" dirty="0"/>
              <a:t>绘制</a:t>
            </a:r>
            <a:r>
              <a:rPr kumimoji="1" lang="en-US" altLang="en-US" dirty="0"/>
              <a:t>弧线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8" y="1143001"/>
            <a:ext cx="8128599" cy="4983164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 context.arc(</a:t>
            </a:r>
          </a:p>
          <a:p>
            <a:pPr marL="0" indent="0">
              <a:buNone/>
            </a:pPr>
            <a:r>
              <a:rPr kumimoji="1" lang="en-US" altLang="zh-CN" dirty="0"/>
              <a:t>          centerX, centerY, radius,</a:t>
            </a:r>
          </a:p>
          <a:p>
            <a:pPr marL="0" indent="0">
              <a:buNone/>
            </a:pPr>
            <a:r>
              <a:rPr kumimoji="1" lang="en-US" altLang="zh-CN" dirty="0"/>
              <a:t>          startingAngle, endingAngle, </a:t>
            </a:r>
          </a:p>
          <a:p>
            <a:pPr marL="0" indent="0">
              <a:buNone/>
            </a:pPr>
            <a:r>
              <a:rPr kumimoji="1" lang="en-US" altLang="zh-CN" dirty="0"/>
              <a:t>          anticlockwise=false     </a:t>
            </a:r>
          </a:p>
          <a:p>
            <a:pPr marL="0" indent="0">
              <a:buNone/>
            </a:pPr>
            <a:r>
              <a:rPr kumimoji="1" lang="en-US" altLang="zh-CN" dirty="0"/>
              <a:t>       )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>
                <a:solidFill>
                  <a:srgbClr val="FF0000"/>
                </a:solidFill>
              </a:rPr>
              <a:t>centerX, centerY: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zh-CN" altLang="en-US" dirty="0"/>
              <a:t>圆心的坐标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>
                <a:solidFill>
                  <a:srgbClr val="FF0000"/>
                </a:solidFill>
              </a:rPr>
              <a:t>radius: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zh-CN" altLang="en-US" dirty="0"/>
              <a:t>半径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>
                <a:solidFill>
                  <a:srgbClr val="FF0000"/>
                </a:solidFill>
              </a:rPr>
              <a:t>startingAngle, endingAngle: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zh-CN" altLang="en-US" dirty="0"/>
              <a:t>开始角度</a:t>
            </a:r>
            <a:r>
              <a:rPr kumimoji="1" lang="en-US" altLang="zh-CN" dirty="0"/>
              <a:t>,</a:t>
            </a:r>
            <a:r>
              <a:rPr kumimoji="1" lang="zh-CN" altLang="en-US" dirty="0"/>
              <a:t>结束角度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>
                <a:solidFill>
                  <a:srgbClr val="FF0000"/>
                </a:solidFill>
              </a:rPr>
              <a:t>anticlockwise:</a:t>
            </a:r>
            <a:r>
              <a:rPr kumimoji="1" lang="zh-CN" altLang="en-US" dirty="0"/>
              <a:t> </a:t>
            </a:r>
            <a:r>
              <a:rPr kumimoji="1" lang="en-US" altLang="zh-CN" dirty="0"/>
              <a:t>false</a:t>
            </a:r>
            <a:r>
              <a:rPr kumimoji="1" lang="zh-CN" altLang="en-US" dirty="0"/>
              <a:t>顺时针 </a:t>
            </a:r>
            <a:r>
              <a:rPr kumimoji="1" lang="en-US" altLang="zh-CN" dirty="0"/>
              <a:t>true</a:t>
            </a:r>
            <a:r>
              <a:rPr kumimoji="1" lang="zh-CN" altLang="en-US" dirty="0"/>
              <a:t>逆时针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333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Canvas</a:t>
            </a:r>
            <a:r>
              <a:rPr kumimoji="1" lang="zh-CN" altLang="en-US" dirty="0"/>
              <a:t>绘制</a:t>
            </a:r>
            <a:r>
              <a:rPr kumimoji="1" lang="en-US" altLang="en-US" dirty="0"/>
              <a:t>弧线</a:t>
            </a:r>
            <a:endParaRPr kumimoji="1" lang="zh-CN" altLang="en-US" dirty="0"/>
          </a:p>
        </p:txBody>
      </p:sp>
      <p:grpSp>
        <p:nvGrpSpPr>
          <p:cNvPr id="16" name="组 15"/>
          <p:cNvGrpSpPr/>
          <p:nvPr/>
        </p:nvGrpSpPr>
        <p:grpSpPr>
          <a:xfrm>
            <a:off x="1569967" y="1472039"/>
            <a:ext cx="5086916" cy="4435916"/>
            <a:chOff x="693667" y="927100"/>
            <a:chExt cx="6314244" cy="5506175"/>
          </a:xfrm>
        </p:grpSpPr>
        <p:sp>
          <p:nvSpPr>
            <p:cNvPr id="4" name="椭圆 3"/>
            <p:cNvSpPr/>
            <p:nvPr/>
          </p:nvSpPr>
          <p:spPr>
            <a:xfrm>
              <a:off x="1536700" y="1301301"/>
              <a:ext cx="4699000" cy="46990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6" name="直线箭头连接符 5"/>
            <p:cNvCxnSpPr/>
            <p:nvPr/>
          </p:nvCxnSpPr>
          <p:spPr>
            <a:xfrm>
              <a:off x="1079500" y="3632200"/>
              <a:ext cx="57277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箭头连接符 9"/>
            <p:cNvCxnSpPr/>
            <p:nvPr/>
          </p:nvCxnSpPr>
          <p:spPr>
            <a:xfrm flipV="1">
              <a:off x="3860800" y="927100"/>
              <a:ext cx="0" cy="52705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6289022" y="3262868"/>
              <a:ext cx="718889" cy="458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2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pi</a:t>
              </a:r>
              <a:endParaRPr kumimoji="1" lang="zh-CN" altLang="en-US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289022" y="3632200"/>
              <a:ext cx="718889" cy="458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0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pi</a:t>
              </a:r>
              <a:endParaRPr kumimoji="1" lang="zh-CN" altLang="en-US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14122" y="5974834"/>
              <a:ext cx="957847" cy="458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0.5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pi</a:t>
              </a:r>
              <a:endParaRPr kumimoji="1" lang="zh-CN" altLang="en-US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93667" y="3262868"/>
              <a:ext cx="718889" cy="458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1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pi</a:t>
              </a:r>
              <a:endParaRPr kumimoji="1" lang="zh-CN" altLang="en-US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876022" y="943704"/>
              <a:ext cx="957847" cy="458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1.5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pi</a:t>
              </a:r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0920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优势">
      <a:majorFont>
        <a:latin typeface="Rockwel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Rockwell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优势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第三方框架的设计" id="{BAB9735E-70C8-7645-B8C4-F0D1F81AAAEC}" vid="{95387043-0F1D-4E4A-9BD9-6B8FBC39FF44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默认主题.thmx</Template>
  <TotalTime>18975</TotalTime>
  <Words>2403</Words>
  <Application>Microsoft Macintosh PowerPoint</Application>
  <PresentationFormat>全屏显示(4:3)</PresentationFormat>
  <Paragraphs>376</Paragraphs>
  <Slides>56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70" baseType="lpstr">
      <vt:lpstr>黑体</vt:lpstr>
      <vt:lpstr>华文细黑</vt:lpstr>
      <vt:lpstr>宋体</vt:lpstr>
      <vt:lpstr>微软雅黑</vt:lpstr>
      <vt:lpstr>新細明體</vt:lpstr>
      <vt:lpstr>Calibri</vt:lpstr>
      <vt:lpstr>Consolas</vt:lpstr>
      <vt:lpstr>Eurostile</vt:lpstr>
      <vt:lpstr>Helvetica</vt:lpstr>
      <vt:lpstr>Menlo-Regular</vt:lpstr>
      <vt:lpstr>Rockwell</vt:lpstr>
      <vt:lpstr>Times New Roman</vt:lpstr>
      <vt:lpstr>Wingdings</vt:lpstr>
      <vt:lpstr>默认主题</vt:lpstr>
      <vt:lpstr>HTML5+CSS3</vt:lpstr>
      <vt:lpstr>HTML5前言</vt:lpstr>
      <vt:lpstr>HTML5前言</vt:lpstr>
      <vt:lpstr>HTML5前言</vt:lpstr>
      <vt:lpstr>HTML5前言</vt:lpstr>
      <vt:lpstr>Web开发新时代</vt:lpstr>
      <vt:lpstr>网页的组成</vt:lpstr>
      <vt:lpstr>HTML</vt:lpstr>
      <vt:lpstr>常见的HTML标签</vt:lpstr>
      <vt:lpstr>HTML5新增标签</vt:lpstr>
      <vt:lpstr>HTML5新增标签</vt:lpstr>
      <vt:lpstr>HTML5新增标签</vt:lpstr>
      <vt:lpstr>HTML5新增标签</vt:lpstr>
      <vt:lpstr>CSS</vt:lpstr>
      <vt:lpstr>CSS的3种书写形式</vt:lpstr>
      <vt:lpstr>CSS的两大重点</vt:lpstr>
      <vt:lpstr>CSS选择器 – 标签选择器</vt:lpstr>
      <vt:lpstr>CSS选择器 – 类选择器</vt:lpstr>
      <vt:lpstr>CSS选择器 – id选择器</vt:lpstr>
      <vt:lpstr>CSS选择器 – 并列选择器</vt:lpstr>
      <vt:lpstr>CSS选择器 – 复合选择器</vt:lpstr>
      <vt:lpstr>CSS选择器 – 后代选择器</vt:lpstr>
      <vt:lpstr>CSS选择器 – 直接后代选择器</vt:lpstr>
      <vt:lpstr>CSS选择器 – 相邻兄弟选择器</vt:lpstr>
      <vt:lpstr>CSS选择器 – 属性选择器</vt:lpstr>
      <vt:lpstr>CSS选择器 – 属性选择器</vt:lpstr>
      <vt:lpstr>CSS选择器 – 属性选择器</vt:lpstr>
      <vt:lpstr>CSS选择器 – 伪类</vt:lpstr>
      <vt:lpstr>CSS选择器 – 伪元素</vt:lpstr>
      <vt:lpstr>CSS选择器 – 选择器优先级</vt:lpstr>
      <vt:lpstr>CSS选择器 – 选择器优先级</vt:lpstr>
      <vt:lpstr>HTML标签类型</vt:lpstr>
      <vt:lpstr>修改标签的显示类型</vt:lpstr>
      <vt:lpstr>CSS属性</vt:lpstr>
      <vt:lpstr>CSS属性 – 可继承属性（红色表示常用）</vt:lpstr>
      <vt:lpstr>CSS属性 – 不可继承属性（红色表示常用）</vt:lpstr>
      <vt:lpstr>盒子模型</vt:lpstr>
      <vt:lpstr>标准盒子模型</vt:lpstr>
      <vt:lpstr>IE盒子模型</vt:lpstr>
      <vt:lpstr>内容（content） – 属性</vt:lpstr>
      <vt:lpstr>填充（padding，内边距） – 属性</vt:lpstr>
      <vt:lpstr>填充（padding，内边距） – 属性</vt:lpstr>
      <vt:lpstr>边框（border） – 属性</vt:lpstr>
      <vt:lpstr>边界（margin，外边距） – 属性</vt:lpstr>
      <vt:lpstr>边界（margin，外边距） – 属性</vt:lpstr>
      <vt:lpstr>CSS3新增特性</vt:lpstr>
      <vt:lpstr>CSS布局</vt:lpstr>
      <vt:lpstr>CSS布局 – float属性</vt:lpstr>
      <vt:lpstr>CSS布局 – position属性</vt:lpstr>
      <vt:lpstr>JavaScript</vt:lpstr>
      <vt:lpstr>Node.js</vt:lpstr>
      <vt:lpstr>JavaScript的书写方式</vt:lpstr>
      <vt:lpstr>Canvas</vt:lpstr>
      <vt:lpstr>Canvas绘制直线</vt:lpstr>
      <vt:lpstr>Canvas绘制弧线</vt:lpstr>
      <vt:lpstr>Canvas绘制弧线</vt:lpstr>
    </vt:vector>
  </TitlesOfParts>
  <Company>北京帷幄昊合数字娱乐科技有限公司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史上最牛的游戏</dc:title>
  <dc:creator>刘凡</dc:creator>
  <cp:lastModifiedBy>翁 恒丛</cp:lastModifiedBy>
  <cp:revision>6051</cp:revision>
  <dcterms:created xsi:type="dcterms:W3CDTF">2013-07-22T07:36:09Z</dcterms:created>
  <dcterms:modified xsi:type="dcterms:W3CDTF">2019-01-09T06:31:09Z</dcterms:modified>
</cp:coreProperties>
</file>