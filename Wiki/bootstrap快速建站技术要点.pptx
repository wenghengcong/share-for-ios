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zh-C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104" y="7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interSettings" Target="printerSettings/printerSettings1.bin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-4763" y="2501266"/>
            <a:ext cx="9148763" cy="1386840"/>
          </a:xfrm>
          <a:prstGeom prst="rect">
            <a:avLst/>
          </a:prstGeom>
          <a:gradFill rotWithShape="1">
            <a:gsLst>
              <a:gs pos="0">
                <a:srgbClr val="F7F7F7"/>
              </a:gs>
              <a:gs pos="31000">
                <a:srgbClr val="F7F7F7"/>
              </a:gs>
              <a:gs pos="75000">
                <a:srgbClr val="F7F7F7"/>
              </a:gs>
              <a:gs pos="100000">
                <a:srgbClr val="EFEFEF"/>
              </a:gs>
            </a:gsLst>
            <a:path path="rect">
              <a:fillToRect l="50000" t="129999" r="50000" b="129999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AF5C06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宋体" charset="0"/>
              <a:sym typeface="宋体" charset="0"/>
            </a:endParaRPr>
          </a:p>
        </p:txBody>
      </p:sp>
      <p:sp>
        <p:nvSpPr>
          <p:cNvPr id="17" name="矩形 25"/>
          <p:cNvSpPr>
            <a:spLocks noChangeArrowheads="1"/>
          </p:cNvSpPr>
          <p:nvPr/>
        </p:nvSpPr>
        <p:spPr bwMode="auto">
          <a:xfrm>
            <a:off x="2972846" y="6141720"/>
            <a:ext cx="3198311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1300" b="1">
                <a:latin typeface="黑体" charset="0"/>
                <a:ea typeface="黑体" charset="0"/>
                <a:cs typeface="黑体" charset="0"/>
                <a:sym typeface="黑体" charset="0"/>
              </a:rPr>
              <a:t>领先业内</a:t>
            </a:r>
            <a:r>
              <a:rPr lang="en-US" altLang="zh-CN" sz="1300" b="1">
                <a:latin typeface="黑体" charset="0"/>
                <a:ea typeface="黑体" charset="0"/>
                <a:cs typeface="黑体" charset="0"/>
                <a:sym typeface="黑体" charset="0"/>
              </a:rPr>
              <a:t>IT</a:t>
            </a:r>
            <a:r>
              <a:rPr lang="zh-CN" altLang="en-US" sz="1300" b="1">
                <a:latin typeface="黑体" charset="0"/>
                <a:ea typeface="黑体" charset="0"/>
                <a:cs typeface="黑体" charset="0"/>
                <a:sym typeface="黑体" charset="0"/>
              </a:rPr>
              <a:t>教育培训行业 </a:t>
            </a:r>
            <a:r>
              <a:rPr lang="en-US" altLang="zh-CN" sz="1300" b="1">
                <a:latin typeface="黑体" charset="0"/>
                <a:ea typeface="黑体" charset="0"/>
                <a:cs typeface="黑体" charset="0"/>
                <a:sym typeface="黑体" charset="0"/>
              </a:rPr>
              <a:t>www.520it.com</a:t>
            </a:r>
            <a:endParaRPr lang="zh-CN" altLang="en-US" sz="1300" b="1">
              <a:latin typeface="黑体" charset="0"/>
              <a:ea typeface="黑体" charset="0"/>
              <a:cs typeface="黑体" charset="0"/>
              <a:sym typeface="黑体" charset="0"/>
            </a:endParaRPr>
          </a:p>
        </p:txBody>
      </p:sp>
      <p:pic>
        <p:nvPicPr>
          <p:cNvPr id="18" name="图片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25" y="659131"/>
            <a:ext cx="7620000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矩形 19"/>
          <p:cNvSpPr>
            <a:spLocks noChangeArrowheads="1"/>
          </p:cNvSpPr>
          <p:nvPr/>
        </p:nvSpPr>
        <p:spPr bwMode="auto">
          <a:xfrm>
            <a:off x="-4763" y="1"/>
            <a:ext cx="9148763" cy="240030"/>
          </a:xfrm>
          <a:prstGeom prst="rect">
            <a:avLst/>
          </a:prstGeom>
          <a:solidFill>
            <a:srgbClr val="FFFFFF">
              <a:alpha val="3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AF5C06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宋体" charset="0"/>
              <a:sym typeface="宋体" charset="0"/>
            </a:endParaRPr>
          </a:p>
        </p:txBody>
      </p:sp>
      <p:pic>
        <p:nvPicPr>
          <p:cNvPr id="22" name="Picture 9" descr="上色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6850" y="5644516"/>
            <a:ext cx="1055688" cy="468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0746" y="2733323"/>
            <a:ext cx="8498454" cy="93345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0746" y="3929784"/>
            <a:ext cx="8498454" cy="7485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1156" y="473830"/>
            <a:ext cx="8128599" cy="82747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Eurostile"/>
              </a:defRPr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476" y="1450976"/>
            <a:ext cx="8128599" cy="4675188"/>
          </a:xfrm>
          <a:prstGeom prst="rect">
            <a:avLst/>
          </a:prstGeom>
          <a:ln>
            <a:noFill/>
          </a:ln>
        </p:spPr>
        <p:txBody>
          <a:bodyPr/>
          <a:lstStyle>
            <a:lvl1pPr marL="228600" indent="-228600">
              <a:buClrTx/>
              <a:buFont typeface="Wingdings" charset="2"/>
              <a:buChar char="l"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Eurostile"/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Eurostile"/>
                <a:cs typeface="Eurostile"/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Eurostile"/>
                <a:cs typeface="Eurostile"/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Eurostile"/>
                <a:cs typeface="Eurostile"/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Eurostile"/>
                <a:cs typeface="Eurostile"/>
              </a:defRPr>
            </a:lvl5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40659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>
            <a:off x="179390" y="188913"/>
            <a:ext cx="8823325" cy="5449888"/>
          </a:xfrm>
          <a:prstGeom prst="roundRect">
            <a:avLst>
              <a:gd name="adj" fmla="val 12843"/>
            </a:avLst>
          </a:prstGeom>
          <a:noFill/>
          <a:ln w="57150" cmpd="thickThin">
            <a:solidFill>
              <a:srgbClr val="33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sz="2400">
              <a:latin typeface="Times New Roman" charset="0"/>
            </a:endParaRP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1439863" y="4059151"/>
            <a:ext cx="6400800" cy="184158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50800">
            <a:solidFill>
              <a:srgbClr val="CCCC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019176"/>
            <a:ext cx="7772400" cy="3039976"/>
          </a:xfrm>
          <a:prstGeom prst="rect">
            <a:avLst/>
          </a:prstGeom>
        </p:spPr>
        <p:txBody>
          <a:bodyPr anchor="ctr"/>
          <a:lstStyle>
            <a:lvl1pPr algn="ctr">
              <a:defRPr sz="4800">
                <a:latin typeface="Helvetica"/>
                <a:cs typeface="Helvetica"/>
              </a:defRPr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08521" y="4150809"/>
            <a:ext cx="6400800" cy="163675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rgbClr val="333333"/>
                </a:solidFill>
                <a:latin typeface="Helvetica"/>
                <a:ea typeface="微软雅黑"/>
                <a:cs typeface="Helvetic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 dirty="0"/>
          </a:p>
        </p:txBody>
      </p:sp>
      <p:pic>
        <p:nvPicPr>
          <p:cNvPr id="10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7215" y="345383"/>
            <a:ext cx="1582737" cy="609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5"/>
          <p:cNvSpPr txBox="1">
            <a:spLocks noChangeArrowheads="1"/>
          </p:cNvSpPr>
          <p:nvPr/>
        </p:nvSpPr>
        <p:spPr bwMode="auto">
          <a:xfrm>
            <a:off x="3073400" y="6400800"/>
            <a:ext cx="299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l" defTabSz="457200" rtl="0" eaLnBrk="1" latinLnBrk="0" hangingPunct="1">
              <a:defRPr sz="1400" kern="1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zh-CN" altLang="en-US" dirty="0" smtClean="0"/>
              <a:t>北京传智播客教育 </a:t>
            </a:r>
            <a:r>
              <a:rPr lang="en-US" dirty="0" smtClean="0">
                <a:latin typeface="Consolas"/>
                <a:cs typeface="Consolas"/>
              </a:rPr>
              <a:t>www.itcast.cn</a:t>
            </a:r>
            <a:endParaRPr lang="en-US" dirty="0">
              <a:latin typeface="Consolas"/>
              <a:cs typeface="Consolas"/>
            </a:endParaRPr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2136775" y="333376"/>
            <a:ext cx="57610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342900" indent="-342900"/>
            <a:r>
              <a:rPr lang="en-US" altLang="zh-CN" sz="2400" b="1" dirty="0" smtClean="0">
                <a:solidFill>
                  <a:srgbClr val="DF3333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lang="zh-CN" altLang="en-US" sz="2400" b="1" dirty="0" smtClean="0">
                <a:solidFill>
                  <a:srgbClr val="DF3333"/>
                </a:solidFill>
                <a:latin typeface="微软雅黑"/>
                <a:ea typeface="微软雅黑"/>
                <a:cs typeface="微软雅黑"/>
              </a:rPr>
              <a:t>高级软件人才实作培训专家</a:t>
            </a:r>
            <a:r>
              <a:rPr lang="en-US" altLang="zh-CN" sz="2400" b="1" dirty="0">
                <a:solidFill>
                  <a:srgbClr val="DF3333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5" name="Line 9"/>
          <p:cNvSpPr>
            <a:spLocks noChangeShapeType="1"/>
          </p:cNvSpPr>
          <p:nvPr/>
        </p:nvSpPr>
        <p:spPr bwMode="auto">
          <a:xfrm>
            <a:off x="457200" y="1019176"/>
            <a:ext cx="8229600" cy="0"/>
          </a:xfrm>
          <a:prstGeom prst="line">
            <a:avLst/>
          </a:prstGeom>
          <a:noFill/>
          <a:ln w="38100">
            <a:solidFill>
              <a:srgbClr val="33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日期占位符 19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C5C966A0-9483-284C-A32B-8CE58E339E92}" type="datetimeFigureOut">
              <a:rPr kumimoji="1" lang="zh-CN" altLang="en-US" smtClean="0"/>
              <a:t>15/9/7</a:t>
            </a:fld>
            <a:endParaRPr kumimoji="1" lang="zh-CN" altLang="en-US"/>
          </a:p>
        </p:txBody>
      </p:sp>
      <p:sp>
        <p:nvSpPr>
          <p:cNvPr id="21" name="页脚占位符 20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22" name="幻灯片编号占位符 21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5680428D-6C26-234A-9B8F-3F889FB893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8468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-9526"/>
            <a:ext cx="9167813" cy="6869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图片 1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12" r="786" b="49559"/>
          <a:stretch>
            <a:fillRect/>
          </a:stretch>
        </p:blipFill>
        <p:spPr bwMode="auto">
          <a:xfrm>
            <a:off x="419101" y="4509136"/>
            <a:ext cx="7559675" cy="1592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矩形 29"/>
          <p:cNvSpPr>
            <a:spLocks noChangeArrowheads="1"/>
          </p:cNvSpPr>
          <p:nvPr/>
        </p:nvSpPr>
        <p:spPr bwMode="auto">
          <a:xfrm>
            <a:off x="-4763" y="1289686"/>
            <a:ext cx="9148763" cy="20954"/>
          </a:xfrm>
          <a:prstGeom prst="rect">
            <a:avLst/>
          </a:prstGeom>
          <a:solidFill>
            <a:srgbClr val="EAEAEA">
              <a:alpha val="3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AF5C06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en-US" b="1">
              <a:solidFill>
                <a:srgbClr val="FFFFFF"/>
              </a:solidFill>
              <a:latin typeface="宋体" charset="0"/>
              <a:sym typeface="宋体" charset="0"/>
            </a:endParaRPr>
          </a:p>
        </p:txBody>
      </p:sp>
      <p:pic>
        <p:nvPicPr>
          <p:cNvPr id="24" name="Picture 8" descr="上色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1" y="6109336"/>
            <a:ext cx="1057275" cy="468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5" name="矩形 25"/>
          <p:cNvSpPr>
            <a:spLocks noChangeArrowheads="1"/>
          </p:cNvSpPr>
          <p:nvPr/>
        </p:nvSpPr>
        <p:spPr bwMode="auto">
          <a:xfrm>
            <a:off x="3620546" y="6278880"/>
            <a:ext cx="3198311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1300" b="1">
                <a:latin typeface="黑体" charset="0"/>
                <a:ea typeface="黑体" charset="0"/>
                <a:cs typeface="黑体" charset="0"/>
                <a:sym typeface="黑体" charset="0"/>
              </a:rPr>
              <a:t>领先业内</a:t>
            </a:r>
            <a:r>
              <a:rPr lang="en-US" altLang="zh-CN" sz="1300" b="1">
                <a:latin typeface="黑体" charset="0"/>
                <a:ea typeface="黑体" charset="0"/>
                <a:cs typeface="黑体" charset="0"/>
                <a:sym typeface="黑体" charset="0"/>
              </a:rPr>
              <a:t>IT</a:t>
            </a:r>
            <a:r>
              <a:rPr lang="zh-CN" altLang="en-US" sz="1300" b="1">
                <a:latin typeface="黑体" charset="0"/>
                <a:ea typeface="黑体" charset="0"/>
                <a:cs typeface="黑体" charset="0"/>
                <a:sym typeface="黑体" charset="0"/>
              </a:rPr>
              <a:t>教育培训行业 </a:t>
            </a:r>
            <a:r>
              <a:rPr lang="en-US" altLang="zh-CN" sz="1300" b="1">
                <a:latin typeface="黑体" charset="0"/>
                <a:ea typeface="黑体" charset="0"/>
                <a:cs typeface="黑体" charset="0"/>
                <a:sym typeface="黑体" charset="0"/>
              </a:rPr>
              <a:t>www.520it.com</a:t>
            </a:r>
            <a:endParaRPr lang="zh-CN" altLang="en-US" sz="1300" b="1">
              <a:latin typeface="黑体" charset="0"/>
              <a:ea typeface="黑体" charset="0"/>
              <a:cs typeface="黑体" charset="0"/>
              <a:sym typeface="黑体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3200" b="0" kern="1200">
          <a:solidFill>
            <a:schemeClr val="accent1"/>
          </a:solidFill>
          <a:latin typeface="Eurostile"/>
          <a:ea typeface="微软雅黑"/>
          <a:cs typeface="Eurostile"/>
        </a:defRPr>
      </a:lvl1pPr>
    </p:titleStyle>
    <p:bodyStyle>
      <a:lvl1pPr marL="228600" indent="-228600" algn="l" defTabSz="914400" rtl="0" eaLnBrk="1" latinLnBrk="0" hangingPunct="1">
        <a:spcBef>
          <a:spcPts val="8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65000"/>
              <a:lumOff val="35000"/>
            </a:schemeClr>
          </a:solidFill>
          <a:latin typeface="Eurostile"/>
          <a:ea typeface="华文细黑"/>
          <a:cs typeface="Eurostile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Eurostile"/>
          <a:ea typeface="华文细黑"/>
          <a:cs typeface="Eurostile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Eurostile"/>
          <a:ea typeface="华文细黑"/>
          <a:cs typeface="Eurostile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Eurostile"/>
          <a:ea typeface="华文细黑"/>
          <a:cs typeface="Eurostile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Eurostile"/>
          <a:ea typeface="华文细黑"/>
          <a:cs typeface="Eurostile"/>
        </a:defRPr>
      </a:lvl5pPr>
      <a:lvl6pPr marL="1377950" indent="-228600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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Eurostile"/>
          <a:ea typeface="微软雅黑"/>
          <a:cs typeface="Eurostile"/>
        </a:defRPr>
      </a:lvl6pPr>
      <a:lvl7pPr marL="1603375" indent="-228600" algn="l" defTabSz="914400" rtl="0" eaLnBrk="1" latinLnBrk="0" hangingPunct="1">
        <a:spcBef>
          <a:spcPct val="20000"/>
        </a:spcBef>
        <a:buClr>
          <a:schemeClr val="accent1"/>
        </a:buClr>
        <a:buSzPct val="75000"/>
        <a:buFont typeface="Wingdings" pitchFamily="2" charset="2"/>
        <a:buChar char=""/>
        <a:defRPr lang="en-US" sz="1800" kern="1200" baseline="0" dirty="0" smtClean="0">
          <a:solidFill>
            <a:schemeClr val="tx1">
              <a:lumMod val="65000"/>
              <a:lumOff val="35000"/>
            </a:schemeClr>
          </a:solidFill>
          <a:latin typeface="Eurostile"/>
          <a:ea typeface="微软雅黑"/>
          <a:cs typeface="Eurostile"/>
        </a:defRPr>
      </a:lvl7pPr>
      <a:lvl8pPr marL="1830388" indent="-228600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"/>
        <a:defRPr lang="en-US" sz="1800" kern="1200" baseline="0" dirty="0" smtClean="0">
          <a:solidFill>
            <a:schemeClr val="tx1">
              <a:lumMod val="65000"/>
              <a:lumOff val="35000"/>
            </a:schemeClr>
          </a:solidFill>
          <a:latin typeface="Eurostile"/>
          <a:ea typeface="微软雅黑"/>
          <a:cs typeface="Eurostile"/>
        </a:defRPr>
      </a:lvl8pPr>
      <a:lvl9pPr marL="2057400" indent="-228600" algn="l" defTabSz="914400" rtl="0" eaLnBrk="1" latinLnBrk="0" hangingPunct="1">
        <a:spcBef>
          <a:spcPct val="20000"/>
        </a:spcBef>
        <a:buClr>
          <a:schemeClr val="accent1"/>
        </a:buClr>
        <a:buSzPct val="75000"/>
        <a:buFont typeface="Wingdings" pitchFamily="2" charset="2"/>
        <a:buChar char=""/>
        <a:defRPr lang="en-US" sz="1800" kern="1200" baseline="0" dirty="0">
          <a:solidFill>
            <a:schemeClr val="tx1">
              <a:lumMod val="65000"/>
              <a:lumOff val="35000"/>
            </a:schemeClr>
          </a:solidFill>
          <a:latin typeface="Eurostile"/>
          <a:ea typeface="微软雅黑"/>
          <a:cs typeface="Eurostile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 smtClean="0"/>
              <a:t>结合</a:t>
            </a:r>
            <a:r>
              <a:rPr kumimoji="1" lang="en-US" altLang="zh-CN" dirty="0" smtClean="0"/>
              <a:t>bootstrap</a:t>
            </a:r>
            <a:r>
              <a:rPr kumimoji="1" lang="zh-CN" altLang="en-US" dirty="0" smtClean="0"/>
              <a:t>快速开发技术要点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 smtClean="0"/>
              <a:t>iOS</a:t>
            </a:r>
            <a:r>
              <a:rPr kumimoji="1" lang="zh-CN" altLang="en-US" dirty="0" smtClean="0"/>
              <a:t>学院  叶建华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1428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 smtClean="0"/>
              <a:t>导航条</a:t>
            </a:r>
            <a:endParaRPr kumimoji="1"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1156" y="1450976"/>
            <a:ext cx="8622844" cy="4675188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kumimoji="1" lang="zh-CN" altLang="en-US" dirty="0" smtClean="0"/>
              <a:t>添加</a:t>
            </a:r>
            <a:r>
              <a:rPr kumimoji="1" lang="zh-CN" altLang="zh-CN" dirty="0"/>
              <a:t> </a:t>
            </a:r>
            <a:r>
              <a:rPr kumimoji="1" lang="en-US" altLang="zh-CN" dirty="0" smtClean="0">
                <a:solidFill>
                  <a:srgbClr val="FF0000"/>
                </a:solidFill>
              </a:rPr>
              <a:t>.navbar-fixed-top</a:t>
            </a:r>
            <a:r>
              <a:rPr kumimoji="1" lang="zh-CN" altLang="en-US" dirty="0" smtClean="0">
                <a:solidFill>
                  <a:srgbClr val="FF0000"/>
                </a:solidFill>
              </a:rPr>
              <a:t> </a:t>
            </a:r>
            <a:r>
              <a:rPr kumimoji="1" lang="zh-CN" altLang="en-US" dirty="0" smtClean="0"/>
              <a:t>类可以让导航条固定在顶部</a:t>
            </a:r>
            <a:endParaRPr kumimoji="1" lang="en-US" altLang="zh-CN" dirty="0" smtClean="0"/>
          </a:p>
          <a:p>
            <a:pPr marL="0" indent="0">
              <a:lnSpc>
                <a:spcPct val="130000"/>
              </a:lnSpc>
              <a:buNone/>
            </a:pPr>
            <a:r>
              <a:rPr kumimoji="1" lang="zh-CN" altLang="en-US" sz="2400" dirty="0" smtClean="0"/>
              <a:t>  </a:t>
            </a:r>
            <a:r>
              <a:rPr kumimoji="1" lang="zh-CN" altLang="en-US" sz="1800" dirty="0" smtClean="0"/>
              <a:t>注意</a:t>
            </a:r>
            <a:r>
              <a:rPr kumimoji="1" lang="en-US" altLang="zh-CN" sz="1800" dirty="0" smtClean="0"/>
              <a:t>:</a:t>
            </a:r>
            <a:r>
              <a:rPr kumimoji="1" lang="zh-CN" altLang="en-US" sz="1800" dirty="0" smtClean="0"/>
              <a:t>固定的导航条会遮住页面上的其他内容</a:t>
            </a:r>
            <a:r>
              <a:rPr kumimoji="1" lang="en-US" altLang="zh-CN" sz="1800" dirty="0" smtClean="0"/>
              <a:t>,</a:t>
            </a:r>
            <a:r>
              <a:rPr kumimoji="1" lang="zh-CN" altLang="en-US" sz="1800" dirty="0" smtClean="0"/>
              <a:t>可给</a:t>
            </a:r>
            <a:r>
              <a:rPr kumimoji="1" lang="en-US" altLang="zh-CN" sz="1800" dirty="0" smtClean="0">
                <a:solidFill>
                  <a:srgbClr val="FF0000"/>
                </a:solidFill>
              </a:rPr>
              <a:t>&lt;body&gt;</a:t>
            </a:r>
            <a:r>
              <a:rPr kumimoji="1" lang="zh-CN" altLang="en-US" sz="1800" dirty="0" smtClean="0"/>
              <a:t>设置</a:t>
            </a:r>
            <a:r>
              <a:rPr kumimoji="1" lang="en-US" altLang="zh-CN" sz="1800" dirty="0" smtClean="0">
                <a:solidFill>
                  <a:srgbClr val="FF0000"/>
                </a:solidFill>
              </a:rPr>
              <a:t>padding</a:t>
            </a:r>
          </a:p>
          <a:p>
            <a:pPr>
              <a:lnSpc>
                <a:spcPct val="130000"/>
              </a:lnSpc>
            </a:pPr>
            <a:r>
              <a:rPr kumimoji="1" lang="zh-CN" altLang="en-US" dirty="0"/>
              <a:t>包含一个</a:t>
            </a:r>
            <a:r>
              <a:rPr kumimoji="1" lang="en-US" altLang="zh-CN" dirty="0"/>
              <a:t>.container</a:t>
            </a:r>
            <a:r>
              <a:rPr kumimoji="1" lang="zh-CN" altLang="en-US" dirty="0"/>
              <a:t>或</a:t>
            </a:r>
            <a:r>
              <a:rPr kumimoji="1" lang="en-US" altLang="zh-CN" dirty="0"/>
              <a:t>.container-fluid</a:t>
            </a:r>
            <a:r>
              <a:rPr kumimoji="1" lang="zh-CN" altLang="en-US" dirty="0"/>
              <a:t>容器</a:t>
            </a:r>
            <a:r>
              <a:rPr kumimoji="1" lang="en-US" altLang="zh-CN" dirty="0"/>
              <a:t>,</a:t>
            </a:r>
            <a:r>
              <a:rPr kumimoji="1" lang="zh-CN" altLang="en-US" dirty="0"/>
              <a:t>从而让导航条居中显示或者自适应显示</a:t>
            </a:r>
            <a:endParaRPr kumimoji="1" lang="en-US" altLang="zh-CN" dirty="0"/>
          </a:p>
          <a:p>
            <a:pPr>
              <a:lnSpc>
                <a:spcPct val="130000"/>
              </a:lnSpc>
            </a:pPr>
            <a:r>
              <a:rPr kumimoji="1" lang="zh-CN" altLang="en-US" dirty="0"/>
              <a:t>添加</a:t>
            </a:r>
            <a:r>
              <a:rPr kumimoji="1" lang="en-US" altLang="zh-CN" dirty="0"/>
              <a:t>.navbar-inverse</a:t>
            </a:r>
            <a:r>
              <a:rPr kumimoji="1" lang="zh-CN" altLang="en-US" dirty="0"/>
              <a:t>可以改变导航栏显示的背景颜色</a:t>
            </a:r>
          </a:p>
        </p:txBody>
      </p:sp>
    </p:spTree>
    <p:extLst>
      <p:ext uri="{BB962C8B-B14F-4D97-AF65-F5344CB8AC3E}">
        <p14:creationId xmlns:p14="http://schemas.microsoft.com/office/powerpoint/2010/main" val="1613676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栅格系统布局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7656" y="1338607"/>
            <a:ext cx="8737444" cy="4675188"/>
          </a:xfrm>
        </p:spPr>
        <p:txBody>
          <a:bodyPr/>
          <a:lstStyle/>
          <a:p>
            <a:r>
              <a:rPr kumimoji="1" lang="zh-CN" altLang="en-US" dirty="0" smtClean="0"/>
              <a:t>一个典型的栅格系统布局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en-US" dirty="0" smtClean="0"/>
              <a:t>  </a:t>
            </a:r>
            <a:r>
              <a:rPr kumimoji="1" lang="en-US" altLang="zh-CN" dirty="0"/>
              <a:t>&lt;div</a:t>
            </a:r>
            <a:r>
              <a:rPr kumimoji="1" lang="zh-CN" altLang="en-US" dirty="0"/>
              <a:t> </a:t>
            </a:r>
            <a:r>
              <a:rPr kumimoji="1" lang="en-US" altLang="zh-CN" dirty="0"/>
              <a:t>class=“container”&gt;</a:t>
            </a:r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  </a:t>
            </a:r>
            <a:r>
              <a:rPr kumimoji="1" lang="en-US" altLang="zh-CN" dirty="0"/>
              <a:t>&lt;div</a:t>
            </a:r>
            <a:r>
              <a:rPr kumimoji="1" lang="zh-CN" altLang="en-US" dirty="0"/>
              <a:t> </a:t>
            </a:r>
            <a:r>
              <a:rPr kumimoji="1" lang="en-US" altLang="zh-CN" dirty="0"/>
              <a:t>class=“row”&gt;</a:t>
            </a:r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      </a:t>
            </a:r>
            <a:r>
              <a:rPr kumimoji="1" lang="en-US" altLang="zh-CN" dirty="0"/>
              <a:t>&lt;div</a:t>
            </a:r>
            <a:r>
              <a:rPr kumimoji="1" lang="zh-CN" altLang="en-US" dirty="0"/>
              <a:t> </a:t>
            </a:r>
            <a:r>
              <a:rPr kumimoji="1" lang="en-US" altLang="zh-CN" dirty="0"/>
              <a:t>class=“col-md-4”&gt;.col-md-4&lt;/div&gt;</a:t>
            </a:r>
          </a:p>
          <a:p>
            <a:pPr marL="0" indent="0">
              <a:buNone/>
            </a:pPr>
            <a:r>
              <a:rPr kumimoji="1" lang="zh-CN" altLang="en-US" dirty="0"/>
              <a:t>       </a:t>
            </a:r>
            <a:r>
              <a:rPr kumimoji="1" lang="en-US" altLang="zh-CN" dirty="0"/>
              <a:t>&lt;div</a:t>
            </a:r>
            <a:r>
              <a:rPr kumimoji="1" lang="zh-CN" altLang="en-US" dirty="0"/>
              <a:t> </a:t>
            </a:r>
            <a:r>
              <a:rPr kumimoji="1" lang="en-US" altLang="zh-CN" dirty="0"/>
              <a:t>class=“col-md-4”&gt;.col-md-4&lt;/div&gt;</a:t>
            </a:r>
          </a:p>
          <a:p>
            <a:pPr marL="0" indent="0">
              <a:buNone/>
            </a:pPr>
            <a:r>
              <a:rPr kumimoji="1" lang="zh-CN" altLang="en-US" dirty="0"/>
              <a:t>       </a:t>
            </a:r>
            <a:r>
              <a:rPr kumimoji="1" lang="en-US" altLang="zh-CN" dirty="0"/>
              <a:t>&lt;div</a:t>
            </a:r>
            <a:r>
              <a:rPr kumimoji="1" lang="zh-CN" altLang="en-US" dirty="0"/>
              <a:t> </a:t>
            </a:r>
            <a:r>
              <a:rPr kumimoji="1" lang="en-US" altLang="zh-CN" dirty="0"/>
              <a:t>class=“col-md-4”&gt;.col-md-4&lt;/div&gt;</a:t>
            </a:r>
          </a:p>
          <a:p>
            <a:pPr marL="0" indent="0">
              <a:buNone/>
            </a:pPr>
            <a:r>
              <a:rPr kumimoji="1" lang="zh-CN" altLang="zh-CN" dirty="0"/>
              <a:t> </a:t>
            </a:r>
            <a:r>
              <a:rPr kumimoji="1" lang="zh-CN" altLang="en-US" dirty="0"/>
              <a:t>  </a:t>
            </a:r>
            <a:r>
              <a:rPr kumimoji="1" lang="zh-CN" altLang="zh-CN" dirty="0"/>
              <a:t> </a:t>
            </a:r>
            <a:r>
              <a:rPr kumimoji="1" lang="en-US" altLang="zh-CN" dirty="0"/>
              <a:t>&lt;/div&gt;</a:t>
            </a:r>
          </a:p>
          <a:p>
            <a:pPr marL="0" indent="0">
              <a:buNone/>
            </a:pPr>
            <a:r>
              <a:rPr kumimoji="1" lang="zh-CN" altLang="zh-CN" dirty="0"/>
              <a:t>&lt;</a:t>
            </a:r>
            <a:r>
              <a:rPr kumimoji="1" lang="en-US" altLang="zh-CN" dirty="0"/>
              <a:t>/div</a:t>
            </a:r>
            <a:r>
              <a:rPr kumimoji="1" lang="en-US" altLang="zh-CN" dirty="0" smtClean="0"/>
              <a:t>&gt;</a:t>
            </a:r>
          </a:p>
          <a:p>
            <a:r>
              <a:rPr kumimoji="1" lang="zh-CN" altLang="en-US" dirty="0" smtClean="0"/>
              <a:t>行</a:t>
            </a:r>
            <a:r>
              <a:rPr kumimoji="1" lang="en-US" altLang="zh-CN" dirty="0" smtClean="0"/>
              <a:t>(row)</a:t>
            </a:r>
            <a:r>
              <a:rPr kumimoji="1" lang="zh-CN" altLang="en-US" dirty="0" smtClean="0"/>
              <a:t>必须包含在</a:t>
            </a:r>
            <a:r>
              <a:rPr kumimoji="1" lang="en-US" altLang="zh-CN" dirty="0" smtClean="0"/>
              <a:t>.container(</a:t>
            </a:r>
            <a:r>
              <a:rPr kumimoji="1" lang="zh-CN" altLang="en-US" dirty="0" smtClean="0"/>
              <a:t>固定宽度</a:t>
            </a:r>
            <a:r>
              <a:rPr kumimoji="1" lang="en-US" altLang="zh-CN" dirty="0" smtClean="0"/>
              <a:t>)</a:t>
            </a:r>
            <a:r>
              <a:rPr kumimoji="1" lang="zh-CN" altLang="en-US" dirty="0" smtClean="0"/>
              <a:t>或</a:t>
            </a:r>
            <a:r>
              <a:rPr kumimoji="1" lang="en-US" altLang="zh-CN" dirty="0" smtClean="0"/>
              <a:t>.container-fluid(100%)</a:t>
            </a:r>
            <a:r>
              <a:rPr kumimoji="1" lang="zh-CN" altLang="en-US" dirty="0" smtClean="0"/>
              <a:t>中</a:t>
            </a:r>
            <a:endParaRPr kumimoji="1" lang="en-US" altLang="zh-CN" dirty="0" smtClean="0"/>
          </a:p>
          <a:p>
            <a:r>
              <a:rPr kumimoji="1" lang="zh-CN" altLang="en-US" dirty="0" smtClean="0"/>
              <a:t>使用</a:t>
            </a:r>
            <a:r>
              <a:rPr kumimoji="1" lang="en-US" altLang="zh-CN" dirty="0" smtClean="0"/>
              <a:t>.col-md-</a:t>
            </a:r>
            <a:r>
              <a:rPr kumimoji="1" lang="zh-CN" altLang="en-US" dirty="0" smtClean="0"/>
              <a:t>*栅格类</a:t>
            </a:r>
            <a:r>
              <a:rPr kumimoji="1" lang="en-US" altLang="zh-CN" dirty="0" smtClean="0"/>
              <a:t>,</a:t>
            </a:r>
            <a:r>
              <a:rPr kumimoji="1" lang="zh-CN" altLang="en-US" dirty="0" smtClean="0"/>
              <a:t>就可以创建一个基本的栅格系统</a:t>
            </a:r>
            <a:r>
              <a:rPr kumimoji="1" lang="en-US" altLang="zh-CN" dirty="0" smtClean="0"/>
              <a:t>,</a:t>
            </a:r>
            <a:r>
              <a:rPr kumimoji="1" lang="zh-CN" altLang="en-US" dirty="0" smtClean="0"/>
              <a:t>在手机和平板设备一开始是堆叠在一起</a:t>
            </a:r>
            <a:r>
              <a:rPr kumimoji="1" lang="en-US" altLang="zh-CN" dirty="0" smtClean="0"/>
              <a:t>,</a:t>
            </a:r>
            <a:r>
              <a:rPr kumimoji="1" lang="zh-CN" altLang="en-US" dirty="0" smtClean="0"/>
              <a:t>在屏幕</a:t>
            </a:r>
            <a:r>
              <a:rPr kumimoji="1" lang="en-US" altLang="zh-CN" dirty="0" smtClean="0"/>
              <a:t>(&gt;970px)</a:t>
            </a:r>
            <a:r>
              <a:rPr kumimoji="1" lang="zh-CN" altLang="en-US" dirty="0" smtClean="0"/>
              <a:t>的设备上水平排列</a:t>
            </a:r>
            <a:endParaRPr kumimoji="1" lang="en-US" altLang="zh-CN" dirty="0" smtClean="0"/>
          </a:p>
          <a:p>
            <a:pPr marL="0" indent="0">
              <a:buNone/>
            </a:pPr>
            <a:r>
              <a:rPr kumimoji="1" lang="zh-CN" altLang="zh-CN" dirty="0" smtClean="0"/>
              <a:t> </a:t>
            </a:r>
            <a:r>
              <a:rPr kumimoji="1" lang="zh-CN" altLang="en-US" dirty="0" smtClean="0"/>
              <a:t> </a:t>
            </a:r>
            <a:r>
              <a:rPr kumimoji="1" lang="zh-CN" altLang="zh-CN" dirty="0" smtClean="0"/>
              <a:t> </a:t>
            </a:r>
            <a:endParaRPr kumimoji="1" lang="zh-CN" altLang="en-US" sz="1800" dirty="0"/>
          </a:p>
        </p:txBody>
      </p:sp>
      <p:pic>
        <p:nvPicPr>
          <p:cNvPr id="8" name="图片 7" descr="x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399" y="4010619"/>
            <a:ext cx="6262155" cy="47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696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交叉布局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6376" y="1450976"/>
            <a:ext cx="8709024" cy="214312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通过使用针对平板设备的 </a:t>
            </a:r>
            <a:r>
              <a:rPr lang="en-US" altLang="zh-CN" dirty="0"/>
              <a:t>.col</a:t>
            </a:r>
            <a:r>
              <a:rPr lang="en-US" altLang="zh-CN" dirty="0" smtClean="0"/>
              <a:t>-md-</a:t>
            </a:r>
            <a:r>
              <a:rPr lang="en-US" altLang="zh-CN" dirty="0"/>
              <a:t>*</a:t>
            </a:r>
            <a:r>
              <a:rPr lang="zh-CN" altLang="en-US" dirty="0"/>
              <a:t> 类</a:t>
            </a:r>
            <a:r>
              <a:rPr lang="zh-CN" altLang="en-US" dirty="0" smtClean="0"/>
              <a:t>，可以创建更加动态和强</a:t>
            </a:r>
            <a:r>
              <a:rPr lang="zh-CN" altLang="en-US" dirty="0"/>
              <a:t>大的</a:t>
            </a:r>
            <a:r>
              <a:rPr lang="zh-CN" altLang="en-US" dirty="0" smtClean="0"/>
              <a:t>布局</a:t>
            </a:r>
            <a:r>
              <a:rPr lang="en-US" altLang="zh-CN" dirty="0" smtClean="0"/>
              <a:t>:</a:t>
            </a:r>
            <a:endParaRPr kumimoji="1" lang="en-US" altLang="zh-CN" dirty="0"/>
          </a:p>
          <a:p>
            <a:pPr marL="0" indent="0">
              <a:buNone/>
            </a:pPr>
            <a:r>
              <a:rPr lang="en-US" altLang="zh-CN" sz="1800" dirty="0"/>
              <a:t>&lt;div class="row"&gt;</a:t>
            </a:r>
          </a:p>
          <a:p>
            <a:pPr marL="0" indent="0">
              <a:buNone/>
            </a:pPr>
            <a:r>
              <a:rPr lang="en-US" altLang="zh-CN" sz="1800" dirty="0" smtClean="0"/>
              <a:t> </a:t>
            </a:r>
            <a:r>
              <a:rPr lang="zh-CN" altLang="en-US" sz="1800" dirty="0" smtClean="0"/>
              <a:t> </a:t>
            </a:r>
            <a:r>
              <a:rPr lang="en-US" altLang="zh-CN" sz="1800" dirty="0" smtClean="0"/>
              <a:t>&lt;</a:t>
            </a:r>
            <a:r>
              <a:rPr lang="en-US" altLang="zh-CN" sz="1800" dirty="0"/>
              <a:t>div class</a:t>
            </a:r>
            <a:r>
              <a:rPr lang="en-US" altLang="zh-CN" sz="1800" dirty="0" smtClean="0"/>
              <a:t>=“col</a:t>
            </a:r>
            <a:r>
              <a:rPr lang="en-US" altLang="zh-CN" sz="1800" dirty="0"/>
              <a:t>-md</a:t>
            </a:r>
            <a:r>
              <a:rPr lang="en-US" altLang="zh-CN" sz="1800" dirty="0" smtClean="0"/>
              <a:t>-7”&gt;.</a:t>
            </a:r>
            <a:r>
              <a:rPr lang="en-US" altLang="zh-CN" sz="1800" dirty="0"/>
              <a:t>col-md</a:t>
            </a:r>
            <a:r>
              <a:rPr lang="en-US" altLang="zh-CN" sz="1800" dirty="0" smtClean="0"/>
              <a:t>-7&lt;</a:t>
            </a:r>
            <a:r>
              <a:rPr lang="en-US" altLang="zh-CN" sz="1800" dirty="0"/>
              <a:t>/div&gt;</a:t>
            </a:r>
          </a:p>
          <a:p>
            <a:pPr marL="0" indent="0">
              <a:buNone/>
            </a:pPr>
            <a:r>
              <a:rPr lang="zh-CN" altLang="en-US" sz="1800" dirty="0" smtClean="0"/>
              <a:t>  </a:t>
            </a:r>
            <a:r>
              <a:rPr lang="en-US" altLang="zh-CN" sz="1800" dirty="0" smtClean="0"/>
              <a:t>&lt;</a:t>
            </a:r>
            <a:r>
              <a:rPr lang="en-US" altLang="zh-CN" sz="1800" dirty="0"/>
              <a:t>div class</a:t>
            </a:r>
            <a:r>
              <a:rPr lang="en-US" altLang="zh-CN" sz="1800" dirty="0" smtClean="0"/>
              <a:t>=“col</a:t>
            </a:r>
            <a:r>
              <a:rPr lang="en-US" altLang="zh-CN" sz="1800" dirty="0"/>
              <a:t>-md</a:t>
            </a:r>
            <a:r>
              <a:rPr lang="en-US" altLang="zh-CN" sz="1800" dirty="0" smtClean="0"/>
              <a:t>-5”&gt;.</a:t>
            </a:r>
            <a:r>
              <a:rPr lang="en-US" altLang="zh-CN" sz="1800" dirty="0"/>
              <a:t>col-md</a:t>
            </a:r>
            <a:r>
              <a:rPr lang="en-US" altLang="zh-CN" sz="1800" dirty="0" smtClean="0"/>
              <a:t>-5&lt;</a:t>
            </a:r>
            <a:r>
              <a:rPr lang="en-US" altLang="zh-CN" sz="1800" dirty="0"/>
              <a:t>/div&gt;</a:t>
            </a:r>
          </a:p>
          <a:p>
            <a:pPr marL="0" indent="0">
              <a:buNone/>
            </a:pPr>
            <a:r>
              <a:rPr lang="en-US" altLang="zh-CN" sz="1800" dirty="0"/>
              <a:t>&lt;/div&gt;</a:t>
            </a:r>
            <a:endParaRPr kumimoji="1" lang="zh-CN" altLang="en-US" sz="1800" dirty="0"/>
          </a:p>
        </p:txBody>
      </p:sp>
      <p:grpSp>
        <p:nvGrpSpPr>
          <p:cNvPr id="6" name="组 5"/>
          <p:cNvGrpSpPr/>
          <p:nvPr/>
        </p:nvGrpSpPr>
        <p:grpSpPr>
          <a:xfrm>
            <a:off x="330656" y="3949700"/>
            <a:ext cx="6057444" cy="469900"/>
            <a:chOff x="330656" y="3949700"/>
            <a:chExt cx="6057444" cy="469900"/>
          </a:xfrm>
        </p:grpSpPr>
        <p:sp>
          <p:nvSpPr>
            <p:cNvPr id="4" name="矩形 3"/>
            <p:cNvSpPr/>
            <p:nvPr/>
          </p:nvSpPr>
          <p:spPr>
            <a:xfrm>
              <a:off x="330656" y="3949700"/>
              <a:ext cx="3568244" cy="4699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zh-CN" dirty="0" smtClean="0"/>
                <a:t>.</a:t>
              </a:r>
              <a:r>
                <a:rPr kumimoji="1" lang="en-US" altLang="zh-CN" dirty="0" smtClean="0"/>
                <a:t>col-md-7</a:t>
              </a:r>
              <a:endParaRPr kumimoji="1" lang="zh-CN" altLang="en-US" dirty="0"/>
            </a:p>
          </p:txBody>
        </p:sp>
        <p:sp>
          <p:nvSpPr>
            <p:cNvPr id="5" name="矩形 4"/>
            <p:cNvSpPr/>
            <p:nvPr/>
          </p:nvSpPr>
          <p:spPr>
            <a:xfrm>
              <a:off x="3898900" y="3949700"/>
              <a:ext cx="2489200" cy="4699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zh-CN" dirty="0" smtClean="0"/>
                <a:t>.</a:t>
              </a:r>
              <a:r>
                <a:rPr kumimoji="1" lang="en-US" altLang="zh-CN" dirty="0" smtClean="0"/>
                <a:t>col-md-5</a:t>
              </a:r>
              <a:endParaRPr kumimoji="1" lang="zh-CN" altLang="en-US" dirty="0"/>
            </a:p>
          </p:txBody>
        </p:sp>
      </p:grpSp>
      <p:grpSp>
        <p:nvGrpSpPr>
          <p:cNvPr id="12" name="组 11"/>
          <p:cNvGrpSpPr/>
          <p:nvPr/>
        </p:nvGrpSpPr>
        <p:grpSpPr>
          <a:xfrm>
            <a:off x="330656" y="4749800"/>
            <a:ext cx="6057444" cy="444500"/>
            <a:chOff x="330656" y="4749800"/>
            <a:chExt cx="6057444" cy="444500"/>
          </a:xfrm>
        </p:grpSpPr>
        <p:sp>
          <p:nvSpPr>
            <p:cNvPr id="10" name="矩形 9"/>
            <p:cNvSpPr/>
            <p:nvPr/>
          </p:nvSpPr>
          <p:spPr>
            <a:xfrm>
              <a:off x="330656" y="4749800"/>
              <a:ext cx="2171244" cy="4445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smtClean="0"/>
                <a:t>.col-md-5</a:t>
              </a:r>
              <a:endParaRPr kumimoji="1" lang="zh-CN" altLang="en-US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2501900" y="4749800"/>
              <a:ext cx="3886200" cy="4445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smtClean="0"/>
                <a:t>.col-md-7</a:t>
              </a:r>
              <a:endParaRPr kumimoji="1"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4414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标签页</a:t>
            </a:r>
            <a:r>
              <a:rPr kumimoji="1" lang="en-US" altLang="zh-CN" dirty="0" smtClean="0"/>
              <a:t> Tabs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zh-CN" altLang="en-US" dirty="0" smtClean="0"/>
              <a:t>标签页是一个经常使用的组件</a:t>
            </a:r>
            <a:r>
              <a:rPr kumimoji="1" lang="en-US" altLang="zh-CN" dirty="0" smtClean="0"/>
              <a:t>,</a:t>
            </a:r>
            <a:r>
              <a:rPr kumimoji="1" lang="zh-CN" altLang="en-US" dirty="0" smtClean="0"/>
              <a:t>可以放置很多的内容</a:t>
            </a:r>
            <a:r>
              <a:rPr kumimoji="1" lang="en-US" altLang="zh-CN" dirty="0" smtClean="0"/>
              <a:t>,</a:t>
            </a:r>
            <a:r>
              <a:rPr kumimoji="1" lang="zh-CN" altLang="en-US" dirty="0" smtClean="0"/>
              <a:t>最大亮点是</a:t>
            </a:r>
            <a:r>
              <a:rPr kumimoji="1" lang="en-US" altLang="zh-CN" dirty="0" smtClean="0"/>
              <a:t>:</a:t>
            </a:r>
            <a:r>
              <a:rPr kumimoji="1" lang="zh-CN" altLang="en-US" dirty="0" smtClean="0">
                <a:solidFill>
                  <a:srgbClr val="FF0000"/>
                </a:solidFill>
              </a:rPr>
              <a:t>节省页面空间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4" name="图片 3" descr="Snip20150907_96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18" y="2552700"/>
            <a:ext cx="7795781" cy="195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939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Tab</a:t>
            </a:r>
            <a:r>
              <a:rPr kumimoji="1" lang="zh-CN" altLang="en-US" dirty="0" smtClean="0"/>
              <a:t>切换代码实现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476" y="1450976"/>
            <a:ext cx="8128599" cy="2168524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$('#</a:t>
            </a:r>
            <a:r>
              <a:rPr kumimoji="1" lang="en-US" altLang="zh-CN" dirty="0" err="1"/>
              <a:t>myTabs</a:t>
            </a:r>
            <a:r>
              <a:rPr kumimoji="1" lang="en-US" altLang="zh-CN" dirty="0"/>
              <a:t> a[</a:t>
            </a:r>
            <a:r>
              <a:rPr kumimoji="1" lang="en-US" altLang="zh-CN" dirty="0" err="1"/>
              <a:t>href</a:t>
            </a:r>
            <a:r>
              <a:rPr kumimoji="1" lang="en-US" altLang="zh-CN" dirty="0"/>
              <a:t>="#profile"]').tab('show') // Select tab by name</a:t>
            </a:r>
          </a:p>
          <a:p>
            <a:pPr marL="0" indent="0">
              <a:buNone/>
            </a:pPr>
            <a:r>
              <a:rPr kumimoji="1" lang="en-US" altLang="zh-CN" dirty="0"/>
              <a:t>$('#</a:t>
            </a:r>
            <a:r>
              <a:rPr kumimoji="1" lang="en-US" altLang="zh-CN" dirty="0" err="1"/>
              <a:t>myTabs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a:first</a:t>
            </a:r>
            <a:r>
              <a:rPr kumimoji="1" lang="en-US" altLang="zh-CN" dirty="0"/>
              <a:t>').tab('show') // Select first tab</a:t>
            </a:r>
          </a:p>
          <a:p>
            <a:pPr marL="0" indent="0">
              <a:buNone/>
            </a:pPr>
            <a:r>
              <a:rPr kumimoji="1" lang="en-US" altLang="zh-CN" dirty="0"/>
              <a:t>$('#</a:t>
            </a:r>
            <a:r>
              <a:rPr kumimoji="1" lang="en-US" altLang="zh-CN" dirty="0" err="1"/>
              <a:t>myTabs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a:last</a:t>
            </a:r>
            <a:r>
              <a:rPr kumimoji="1" lang="en-US" altLang="zh-CN" dirty="0"/>
              <a:t>').tab('show') // Select last tab</a:t>
            </a:r>
          </a:p>
          <a:p>
            <a:pPr marL="0" indent="0">
              <a:buNone/>
            </a:pPr>
            <a:r>
              <a:rPr kumimoji="1" lang="en-US" altLang="zh-CN" dirty="0"/>
              <a:t>$('#</a:t>
            </a:r>
            <a:r>
              <a:rPr kumimoji="1" lang="en-US" altLang="zh-CN" dirty="0" err="1"/>
              <a:t>myTabs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li:eq</a:t>
            </a:r>
            <a:r>
              <a:rPr kumimoji="1" lang="en-US" altLang="zh-CN" dirty="0"/>
              <a:t>(2) a').tab('show') // Select third tab (0-indexed)</a:t>
            </a:r>
            <a:endParaRPr kumimoji="1" lang="zh-CN" altLang="en-US" dirty="0"/>
          </a:p>
        </p:txBody>
      </p:sp>
      <p:pic>
        <p:nvPicPr>
          <p:cNvPr id="4" name="图片 3" descr="Snip20150907_9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76" y="3975101"/>
            <a:ext cx="7543801" cy="185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197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模态框</a:t>
            </a:r>
            <a:endParaRPr kumimoji="1" lang="zh-CN" altLang="en-US" dirty="0"/>
          </a:p>
        </p:txBody>
      </p:sp>
      <p:pic>
        <p:nvPicPr>
          <p:cNvPr id="4" name="图片 3" descr="Snip20150907_98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36" y="1447801"/>
            <a:ext cx="7940119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049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对应代码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0" y="1101447"/>
            <a:ext cx="9143999" cy="5632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 </a:t>
            </a:r>
            <a:r>
              <a:rPr lang="en-US" altLang="zh-CN" dirty="0"/>
              <a:t> &lt;div class="modal fade" id="about-modal" </a:t>
            </a:r>
            <a:r>
              <a:rPr lang="en-US" altLang="zh-CN" dirty="0" err="1"/>
              <a:t>tabindex</a:t>
            </a:r>
            <a:r>
              <a:rPr lang="en-US" altLang="zh-CN" dirty="0"/>
              <a:t>="-1" role="dialog" aria-</a:t>
            </a:r>
            <a:r>
              <a:rPr lang="en-US" altLang="zh-CN" dirty="0" err="1"/>
              <a:t>labelledby</a:t>
            </a:r>
            <a:r>
              <a:rPr lang="en-US" altLang="zh-CN" dirty="0"/>
              <a:t>="modal-label" aria-hidden="true" style="display: none;"&gt;</a:t>
            </a:r>
          </a:p>
          <a:p>
            <a:r>
              <a:rPr lang="en-US" altLang="zh-CN" dirty="0"/>
              <a:t>        &lt;div class="modal-dialog"&gt;</a:t>
            </a:r>
          </a:p>
          <a:p>
            <a:r>
              <a:rPr lang="en-US" altLang="zh-CN" dirty="0"/>
              <a:t>            &lt;div class="modal-content"&gt;</a:t>
            </a:r>
          </a:p>
          <a:p>
            <a:r>
              <a:rPr lang="en-US" altLang="zh-CN" dirty="0"/>
              <a:t>                &lt;div class="modal-header"&gt;</a:t>
            </a:r>
          </a:p>
          <a:p>
            <a:r>
              <a:rPr lang="en-US" altLang="zh-CN" dirty="0"/>
              <a:t>                    &lt;button type="button" class="close" data-dismiss="modal" aria-label="Close"&gt;&lt;span aria-hidden="true"&gt;&amp;times;&lt;/span&gt;&lt;/button&gt;</a:t>
            </a:r>
          </a:p>
          <a:p>
            <a:r>
              <a:rPr lang="en-US" altLang="zh-CN" dirty="0"/>
              <a:t>                    &lt;h4 class="modal-title"&gt;Modal title&lt;/h4&gt;</a:t>
            </a:r>
          </a:p>
          <a:p>
            <a:r>
              <a:rPr lang="en-US" altLang="zh-CN" dirty="0"/>
              <a:t>                &lt;/div&gt;</a:t>
            </a:r>
          </a:p>
          <a:p>
            <a:r>
              <a:rPr lang="en-US" altLang="zh-CN" dirty="0"/>
              <a:t>                &lt;div class="modal-body"&gt;</a:t>
            </a:r>
          </a:p>
          <a:p>
            <a:r>
              <a:rPr lang="en-US" altLang="zh-CN" dirty="0"/>
              <a:t>                    &lt;p&gt;One fine </a:t>
            </a:r>
            <a:r>
              <a:rPr lang="en-US" altLang="zh-CN" dirty="0" err="1"/>
              <a:t>body&amp;hellip</a:t>
            </a:r>
            <a:r>
              <a:rPr lang="en-US" altLang="zh-CN" dirty="0"/>
              <a:t>;&lt;/p&gt;</a:t>
            </a:r>
          </a:p>
          <a:p>
            <a:r>
              <a:rPr lang="en-US" altLang="zh-CN" dirty="0"/>
              <a:t>                &lt;/div&gt;</a:t>
            </a:r>
          </a:p>
          <a:p>
            <a:r>
              <a:rPr lang="en-US" altLang="zh-CN" dirty="0"/>
              <a:t>                &lt;div class="modal-footer"&gt;</a:t>
            </a:r>
          </a:p>
          <a:p>
            <a:r>
              <a:rPr lang="en-US" altLang="zh-CN" dirty="0"/>
              <a:t>                    &lt;button type="button" class="</a:t>
            </a:r>
            <a:r>
              <a:rPr lang="en-US" altLang="zh-CN" dirty="0" err="1"/>
              <a:t>btn</a:t>
            </a:r>
            <a:r>
              <a:rPr lang="en-US" altLang="zh-CN" dirty="0"/>
              <a:t> </a:t>
            </a:r>
            <a:r>
              <a:rPr lang="en-US" altLang="zh-CN" dirty="0" err="1"/>
              <a:t>btn</a:t>
            </a:r>
            <a:r>
              <a:rPr lang="en-US" altLang="zh-CN" dirty="0"/>
              <a:t>-default" data-dismiss="modal"&gt;Close&lt;/button&gt;</a:t>
            </a:r>
          </a:p>
          <a:p>
            <a:r>
              <a:rPr lang="en-US" altLang="zh-CN" dirty="0"/>
              <a:t>                    &lt;button type="button" class="</a:t>
            </a:r>
            <a:r>
              <a:rPr lang="en-US" altLang="zh-CN" dirty="0" err="1"/>
              <a:t>btn</a:t>
            </a:r>
            <a:r>
              <a:rPr lang="en-US" altLang="zh-CN" dirty="0"/>
              <a:t> </a:t>
            </a:r>
            <a:r>
              <a:rPr lang="en-US" altLang="zh-CN" dirty="0" err="1"/>
              <a:t>btn</a:t>
            </a:r>
            <a:r>
              <a:rPr lang="en-US" altLang="zh-CN" dirty="0"/>
              <a:t>-primary"&gt;Save changes&lt;/button&gt;</a:t>
            </a:r>
          </a:p>
          <a:p>
            <a:r>
              <a:rPr lang="en-US" altLang="zh-CN" dirty="0"/>
              <a:t>                &lt;/div&gt;</a:t>
            </a:r>
          </a:p>
          <a:p>
            <a:r>
              <a:rPr lang="en-US" altLang="zh-CN" dirty="0"/>
              <a:t>            &lt;/div&gt;&lt;!-- /.modal-content --&gt;</a:t>
            </a:r>
          </a:p>
          <a:p>
            <a:r>
              <a:rPr lang="en-US" altLang="zh-CN" dirty="0"/>
              <a:t>        &lt;/div&gt;&lt;!-- /.modal-dialog --&gt;</a:t>
            </a:r>
          </a:p>
          <a:p>
            <a:r>
              <a:rPr lang="en-US" altLang="zh-CN" dirty="0"/>
              <a:t>    &lt;/div&gt;&lt;!-- /.modal --&gt;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6293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theme/theme1.xml><?xml version="1.0" encoding="utf-8"?>
<a:theme xmlns:a="http://schemas.openxmlformats.org/drawingml/2006/main" name="HTML5介绍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优势">
      <a:majorFont>
        <a:latin typeface="Rockwel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Rockwell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优势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HTML5介绍.thmx</Template>
  <TotalTime>488</TotalTime>
  <Words>727</Words>
  <Application>Microsoft Macintosh PowerPoint</Application>
  <PresentationFormat>全屏显示(4:3)</PresentationFormat>
  <Paragraphs>55</Paragraphs>
  <Slides>8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9" baseType="lpstr">
      <vt:lpstr>HTML5介绍</vt:lpstr>
      <vt:lpstr>结合bootstrap快速开发技术要点</vt:lpstr>
      <vt:lpstr>导航条</vt:lpstr>
      <vt:lpstr>栅格系统布局</vt:lpstr>
      <vt:lpstr>交叉布局</vt:lpstr>
      <vt:lpstr>标签页 Tabs</vt:lpstr>
      <vt:lpstr>Tab切换代码实现</vt:lpstr>
      <vt:lpstr>模态框</vt:lpstr>
      <vt:lpstr>对应代码</vt:lpstr>
    </vt:vector>
  </TitlesOfParts>
  <Company>腾讯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结合bootstrap快速开发技术要点</dc:title>
  <dc:creator>建华 叶</dc:creator>
  <cp:lastModifiedBy>建华 叶</cp:lastModifiedBy>
  <cp:revision>13</cp:revision>
  <dcterms:created xsi:type="dcterms:W3CDTF">2015-09-07T00:06:20Z</dcterms:created>
  <dcterms:modified xsi:type="dcterms:W3CDTF">2015-09-07T09:13:21Z</dcterms:modified>
</cp:coreProperties>
</file>