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92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35E4DC2-62B4-BF44-9EB8-E882BDCEB1CF}">
          <p14:sldIdLst>
            <p14:sldId id="292"/>
          </p14:sldIdLst>
        </p14:section>
        <p14:section name="面试题" id="{E2613D14-14A3-1F4B-B0E6-48735BD8A814}">
          <p14:sldIdLst>
            <p14:sldId id="293"/>
          </p14:sldIdLst>
        </p14:section>
        <p14:section name="简介" id="{8EE202EF-D29A-3D49-B04A-083045389AF5}">
          <p14:sldIdLst>
            <p14:sldId id="294"/>
            <p14:sldId id="295"/>
            <p14:sldId id="296"/>
          </p14:sldIdLst>
        </p14:section>
        <p14:section name="RunLoop对象" id="{A24E9000-8C64-C54C-8357-1C94C1396EFA}">
          <p14:sldIdLst>
            <p14:sldId id="297"/>
            <p14:sldId id="298"/>
            <p14:sldId id="299"/>
          </p14:sldIdLst>
        </p14:section>
        <p14:section name="Mode" id="{E7B7AA31-4356-114E-9D44-41912B6E8977}">
          <p14:sldIdLst>
            <p14:sldId id="300"/>
            <p14:sldId id="301"/>
            <p14:sldId id="302"/>
          </p14:sldIdLst>
        </p14:section>
        <p14:section name="RunLoop的运行逻辑" id="{4AB8F76B-8929-C044-B392-6F30103CD5BA}">
          <p14:sldIdLst>
            <p14:sldId id="3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096" userDrawn="1">
          <p15:clr>
            <a:srgbClr val="A4A3A4"/>
          </p15:clr>
        </p15:guide>
        <p15:guide id="4" orient="horz" pos="595" userDrawn="1">
          <p15:clr>
            <a:srgbClr val="A4A3A4"/>
          </p15:clr>
        </p15:guide>
        <p15:guide id="5" orient="horz" pos="822" userDrawn="1">
          <p15:clr>
            <a:srgbClr val="A4A3A4"/>
          </p15:clr>
        </p15:guide>
        <p15:guide id="6" orient="horz" pos="1480" userDrawn="1">
          <p15:clr>
            <a:srgbClr val="A4A3A4"/>
          </p15:clr>
        </p15:guide>
        <p15:guide id="7" orient="horz" pos="2863" userDrawn="1">
          <p15:clr>
            <a:srgbClr val="A4A3A4"/>
          </p15:clr>
        </p15:guide>
        <p15:guide id="8" pos="2547" userDrawn="1">
          <p15:clr>
            <a:srgbClr val="A4A3A4"/>
          </p15:clr>
        </p15:guide>
        <p15:guide id="9" pos="5110" userDrawn="1">
          <p15:clr>
            <a:srgbClr val="A4A3A4"/>
          </p15:clr>
        </p15:guide>
        <p15:guide id="10" pos="511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7A707"/>
    <a:srgbClr val="FEC200"/>
    <a:srgbClr val="31CDA8"/>
    <a:srgbClr val="3498DB"/>
    <a:srgbClr val="192871"/>
    <a:srgbClr val="0037A4"/>
    <a:srgbClr val="002A7E"/>
    <a:srgbClr val="F1A069"/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深色样式 1 - 强调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深色样式 1 - 强调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66" autoAdjust="0"/>
    <p:restoredTop sz="94424" autoAdjust="0"/>
  </p:normalViewPr>
  <p:slideViewPr>
    <p:cSldViewPr snapToGrid="0" showGuides="1">
      <p:cViewPr>
        <p:scale>
          <a:sx n="107" d="100"/>
          <a:sy n="107" d="100"/>
        </p:scale>
        <p:origin x="880" y="328"/>
      </p:cViewPr>
      <p:guideLst>
        <p:guide orient="horz" pos="2160"/>
        <p:guide pos="3840"/>
        <p:guide pos="1096"/>
        <p:guide orient="horz" pos="595"/>
        <p:guide orient="horz" pos="822"/>
        <p:guide orient="horz" pos="1480"/>
        <p:guide orient="horz" pos="2863"/>
        <p:guide pos="2547"/>
        <p:guide pos="5110"/>
        <p:guide pos="511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-114"/>
    </p:cViewPr>
  </p:sorterViewPr>
  <p:notesViewPr>
    <p:cSldViewPr snapToGrid="0">
      <p:cViewPr varScale="1">
        <p:scale>
          <a:sx n="65" d="100"/>
          <a:sy n="65" d="100"/>
        </p:scale>
        <p:origin x="315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37" Type="http://schemas.microsoft.com/office/2015/10/relationships/revisionInfo" Target="revisionInfo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xmlns="" id="{AFCBEEA2-BF04-4625-9D90-F4291A119A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7691C78A-5A0F-4F2E-9C48-9BEEFCC112A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7634C-074B-4260-9010-E574428551B5}" type="datetimeFigureOut">
              <a:rPr lang="zh-CN" altLang="en-US" smtClean="0"/>
              <a:t>2018/3/24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0CD4B301-C1F1-4488-BE41-C37374152C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9927E0BC-A1AC-4B31-B1CD-ECA55CA19D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C4FF-9C5A-4350-A3CE-CE48C6E74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131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5591C1-7BBD-4BAD-9912-0ADD21A74F01}" type="datetimeFigureOut">
              <a:rPr lang="zh-CN" altLang="en-US" smtClean="0"/>
              <a:t>2018/3/24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33780-C451-4576-A162-3E5813E9C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52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6">
            <a:extLst>
              <a:ext uri="{FF2B5EF4-FFF2-40B4-BE49-F238E27FC236}">
                <a16:creationId xmlns:a16="http://schemas.microsoft.com/office/drawing/2014/main" xmlns="" id="{F619AC0B-D093-4B29-BED5-E396B58FD1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32" y="0"/>
            <a:ext cx="12196559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1">
            <a:extLst>
              <a:ext uri="{FF2B5EF4-FFF2-40B4-BE49-F238E27FC236}">
                <a16:creationId xmlns:a16="http://schemas.microsoft.com/office/drawing/2014/main" xmlns="" id="{EC130C9D-3B92-4E92-AF34-4C37ACD515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36557" y="5640180"/>
            <a:ext cx="1531908" cy="56530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矩形 25">
            <a:extLst>
              <a:ext uri="{FF2B5EF4-FFF2-40B4-BE49-F238E27FC236}">
                <a16:creationId xmlns:a16="http://schemas.microsoft.com/office/drawing/2014/main" xmlns="" id="{36BA4FD9-4EAF-40CB-91E3-48F885239803}"/>
              </a:ext>
            </a:extLst>
          </p:cNvPr>
          <p:cNvSpPr/>
          <p:nvPr userDrawn="1"/>
        </p:nvSpPr>
        <p:spPr>
          <a:xfrm>
            <a:off x="4734893" y="6205486"/>
            <a:ext cx="2735236" cy="338554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/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实力</a:t>
            </a:r>
            <a:r>
              <a:rPr lang="en-US" altLang="zh-CN" sz="1600" b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IT</a:t>
            </a:r>
            <a:r>
              <a:rPr lang="zh-CN" altLang="en-US" sz="1600" b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教育 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www.520it.com</a:t>
            </a:r>
            <a:endParaRPr lang="zh-CN" altLang="en-US" sz="1600" b="0" dirty="0"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xmlns="" id="{E772C4B5-AB4E-43B0-B717-25071084F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54114"/>
            <a:ext cx="12192000" cy="1011116"/>
          </a:xfrm>
        </p:spPr>
        <p:txBody>
          <a:bodyPr anchor="ctr">
            <a:normAutofit/>
          </a:bodyPr>
          <a:lstStyle>
            <a:lvl1pPr algn="ctr">
              <a:defRPr sz="7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xmlns="" id="{B401CC44-47BA-4904-A587-245165E74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2234" y="3417401"/>
            <a:ext cx="6327531" cy="43363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063225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5">
            <a:extLst>
              <a:ext uri="{FF2B5EF4-FFF2-40B4-BE49-F238E27FC236}">
                <a16:creationId xmlns:a16="http://schemas.microsoft.com/office/drawing/2014/main" xmlns="" id="{F612FBBA-ABAE-4812-AAB2-77CA48D541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1" y="-728"/>
            <a:ext cx="12200141" cy="68691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矩形 29">
            <a:extLst>
              <a:ext uri="{FF2B5EF4-FFF2-40B4-BE49-F238E27FC236}">
                <a16:creationId xmlns:a16="http://schemas.microsoft.com/office/drawing/2014/main" xmlns="" id="{89038A74-5A1B-45B4-AA7D-C9934D2FDABC}"/>
              </a:ext>
            </a:extLst>
          </p:cNvPr>
          <p:cNvSpPr/>
          <p:nvPr userDrawn="1"/>
        </p:nvSpPr>
        <p:spPr>
          <a:xfrm>
            <a:off x="-6349" y="1139584"/>
            <a:ext cx="12198349" cy="22225"/>
          </a:xfrm>
          <a:prstGeom prst="rect">
            <a:avLst/>
          </a:prstGeom>
          <a:solidFill>
            <a:srgbClr val="EAEAEA">
              <a:alpha val="32155"/>
            </a:srgbClr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en-US" sz="18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12" name="图片 1">
            <a:extLst>
              <a:ext uri="{FF2B5EF4-FFF2-40B4-BE49-F238E27FC236}">
                <a16:creationId xmlns:a16="http://schemas.microsoft.com/office/drawing/2014/main" xmlns="" id="{DB3FFE7C-0303-4D2A-9F24-474FCCD761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1839" y="399965"/>
            <a:ext cx="1531908" cy="56530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标题占位符 1">
            <a:extLst>
              <a:ext uri="{FF2B5EF4-FFF2-40B4-BE49-F238E27FC236}">
                <a16:creationId xmlns:a16="http://schemas.microsoft.com/office/drawing/2014/main" xmlns="" id="{F3C067B8-78E3-4D7C-B8BF-D55591977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4935" y="395532"/>
            <a:ext cx="10081824" cy="7121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kumimoji="1" lang="zh-CN" altLang="en-US"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xmlns="" id="{E8B5E84D-8FAC-4FA6-9CA7-55579F675DF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1193" y="1238066"/>
            <a:ext cx="11866684" cy="5444088"/>
          </a:xfrm>
        </p:spPr>
        <p:txBody>
          <a:bodyPr>
            <a:normAutofit/>
          </a:bodyPr>
          <a:lstStyle>
            <a:lvl1pPr marL="228600" indent="-228600">
              <a:lnSpc>
                <a:spcPts val="2000"/>
              </a:lnSpc>
              <a:buFont typeface="Wingdings" panose="05000000000000000000" pitchFamily="2" charset="2"/>
              <a:buChar char="n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ts val="2000"/>
              </a:lnSpc>
              <a:buFont typeface="Wingdings" panose="05000000000000000000" pitchFamily="2" charset="2"/>
              <a:buChar char="p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2000"/>
              </a:lnSpc>
              <a:buFont typeface="Wingdings" panose="05000000000000000000" pitchFamily="2" charset="2"/>
              <a:buChar char="ü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ts val="2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ts val="2000"/>
              </a:lnSpc>
              <a:buFont typeface="Wingdings" panose="05000000000000000000" pitchFamily="2" charset="2"/>
              <a:buChar char="l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56342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8E73B-0927-45CC-BC19-B5A752C4C781}" type="datetimeFigureOut">
              <a:rPr lang="zh-CN" altLang="en-US" smtClean="0"/>
              <a:t>2018/3/24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11428-941F-4F39-9F0C-B1B29E093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51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pensource.apple.com/tarballs/CF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55D2A8A-4D20-46E7-AB5F-6F0B875B77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RunLoop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F8E18B87-7327-4283-B60A-4EF5B1BB4F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@M</a:t>
            </a:r>
            <a:r>
              <a:rPr lang="zh-CN" altLang="en-US"/>
              <a:t>了个</a:t>
            </a:r>
            <a:r>
              <a:rPr lang="en-US" altLang="zh-CN"/>
              <a:t>J</a:t>
            </a:r>
            <a:endParaRPr lang="zh-CN" altLang="en-US"/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xmlns="" id="{F8E18B87-7327-4283-B60A-4EF5B1BB4F6D}"/>
              </a:ext>
            </a:extLst>
          </p:cNvPr>
          <p:cNvSpPr txBox="1">
            <a:spLocks/>
          </p:cNvSpPr>
          <p:nvPr/>
        </p:nvSpPr>
        <p:spPr>
          <a:xfrm>
            <a:off x="2932234" y="4016115"/>
            <a:ext cx="6327531" cy="433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b="0"/>
              <a:t>https://github.com/CoderMJLee</a:t>
            </a:r>
          </a:p>
        </p:txBody>
      </p:sp>
    </p:spTree>
    <p:extLst>
      <p:ext uri="{BB962C8B-B14F-4D97-AF65-F5344CB8AC3E}">
        <p14:creationId xmlns:p14="http://schemas.microsoft.com/office/powerpoint/2010/main" val="453187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=""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面试题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43592" y="1203432"/>
            <a:ext cx="11501313" cy="5090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讲讲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，项目中有用到吗？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内部实现逻辑？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和线程的关系？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timer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的关系？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程序中添加每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秒响应一次的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NSTimer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，当拖动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tableview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可能无法响应要怎么解决？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是怎么响应用户操作的， 具体流程是什么样的？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说说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的几种状态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作用是什么？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0241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=""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RunLoop</a:t>
            </a:r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43593" y="1357811"/>
            <a:ext cx="3860272" cy="9674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顾名思义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运行循环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在程序运行过程中循环做一些事情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20150704063033561_easyicon_net_12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64" y="2583221"/>
            <a:ext cx="1625600" cy="16256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58096" y="1357811"/>
            <a:ext cx="4715296" cy="18627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应用范畴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定时器（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PerformSelector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Async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Queue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事件响应、手势识别、界面刷新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网络请求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AutoreleasePool</a:t>
            </a:r>
          </a:p>
        </p:txBody>
      </p:sp>
    </p:spTree>
    <p:extLst>
      <p:ext uri="{BB962C8B-B14F-4D97-AF65-F5344CB8AC3E}">
        <p14:creationId xmlns:p14="http://schemas.microsoft.com/office/powerpoint/2010/main" val="1582907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=""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如果</a:t>
            </a:r>
            <a:r>
              <a:rPr lang="zh-CN" altLang="en-US">
                <a:solidFill>
                  <a:srgbClr val="FF0000"/>
                </a:solidFill>
              </a:rPr>
              <a:t>没有</a:t>
            </a:r>
            <a:r>
              <a:rPr lang="en-US" altLang="zh-CN"/>
              <a:t>RunLoop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03" y="1326094"/>
            <a:ext cx="6003099" cy="1737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文本框 10"/>
          <p:cNvSpPr txBox="1"/>
          <p:nvPr/>
        </p:nvSpPr>
        <p:spPr>
          <a:xfrm>
            <a:off x="393803" y="3293490"/>
            <a:ext cx="4866965" cy="5541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执行完第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行代码后，会即将退出程序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3894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=""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如果</a:t>
            </a:r>
            <a:r>
              <a:rPr lang="zh-CN" altLang="en-US">
                <a:solidFill>
                  <a:srgbClr val="FF0000"/>
                </a:solidFill>
              </a:rPr>
              <a:t>有了</a:t>
            </a:r>
            <a:r>
              <a:rPr lang="en-US" altLang="zh-CN"/>
              <a:t>RunLoop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04" y="1248032"/>
            <a:ext cx="8764645" cy="15426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文本框 5"/>
          <p:cNvSpPr txBox="1"/>
          <p:nvPr/>
        </p:nvSpPr>
        <p:spPr>
          <a:xfrm>
            <a:off x="5690198" y="2985093"/>
            <a:ext cx="4866965" cy="45875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程序并不会马上退出，而是保持运行状态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690198" y="3638236"/>
            <a:ext cx="6173251" cy="15275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的基本作用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保持程序的持续运行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中的各种事件（比如触摸事件、定时器事件等）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资源，提高程序性能：该做事时做事，该休息时休息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......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04" y="2985093"/>
            <a:ext cx="5402036" cy="29465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23267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=""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RunLoop</a:t>
            </a:r>
            <a:r>
              <a:rPr lang="zh-CN" altLang="en-US"/>
              <a:t>对象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31718" y="1250933"/>
            <a:ext cx="11484230" cy="52329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中有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套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来访问和使用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Foundation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NSRunLoop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Core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Foundation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CFRunLoopRef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CFRunLoopRef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都代表着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是基于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CFRunLoopRef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的一层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包装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CFRunLoopRef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是开源的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https://opensource.apple.com/tarballs/CF/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7836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=""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RunLoop</a:t>
            </a:r>
            <a:r>
              <a:rPr lang="zh-CN" altLang="en-US"/>
              <a:t>与线程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31718" y="1250933"/>
            <a:ext cx="11484230" cy="52329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每条线程都有唯一的一个与之对应的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保存在一个全局的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Dictionary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里，线程作为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线程刚创建时并没有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会在第一次获取它时创建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会在线程结束时销毁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736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=""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获取</a:t>
            </a:r>
            <a:r>
              <a:rPr lang="en-US" altLang="zh-CN"/>
              <a:t>RunLoop</a:t>
            </a:r>
            <a:r>
              <a:rPr lang="zh-CN" altLang="en-US"/>
              <a:t>对象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31718" y="1250933"/>
            <a:ext cx="11484230" cy="52329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Foundation</a:t>
            </a:r>
          </a:p>
          <a:p>
            <a:pPr marL="285750" indent="-285750">
              <a:buFont typeface="Wingdings" charset="2"/>
              <a:buChar char="p"/>
            </a:pP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[</a:t>
            </a: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NSRunLoop</a:t>
            </a:r>
            <a:r>
              <a:rPr lang="zh-CN" altLang="en-US" sz="16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600">
                <a:solidFill>
                  <a:srgbClr val="2E0D6E"/>
                </a:solidFill>
                <a:latin typeface="Menlo-Regular" charset="0"/>
              </a:rPr>
              <a:t>currentRunLoop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]; </a:t>
            </a:r>
            <a:r>
              <a:rPr lang="en-US" altLang="zh-CN" sz="1600">
                <a:solidFill>
                  <a:srgbClr val="007400"/>
                </a:solidFill>
                <a:latin typeface="Menlo-Regular" charset="0"/>
              </a:rPr>
              <a:t>// </a:t>
            </a:r>
            <a:r>
              <a:rPr lang="zh-CN" altLang="en-US" sz="1600">
                <a:solidFill>
                  <a:srgbClr val="007400"/>
                </a:solidFill>
                <a:latin typeface="Menlo-Regular" charset="0"/>
              </a:rPr>
              <a:t>获得当前线程的</a:t>
            </a:r>
            <a:r>
              <a:rPr lang="en-US" altLang="zh-CN" sz="1600">
                <a:solidFill>
                  <a:srgbClr val="007400"/>
                </a:solidFill>
                <a:latin typeface="Menlo-Regular" charset="0"/>
              </a:rPr>
              <a:t>RunLoop</a:t>
            </a:r>
            <a:r>
              <a:rPr lang="zh-CN" altLang="en-US" sz="1600">
                <a:solidFill>
                  <a:srgbClr val="007400"/>
                </a:solidFill>
                <a:latin typeface="Menlo-Regular" charset="0"/>
              </a:rPr>
              <a:t>对象</a:t>
            </a:r>
            <a:endParaRPr lang="zh-CN" altLang="en-US" sz="1200">
              <a:solidFill>
                <a:prstClr val="black"/>
              </a:solidFill>
              <a:latin typeface="Helvetica" charset="0"/>
            </a:endParaRPr>
          </a:p>
          <a:p>
            <a:pPr marL="285750" indent="-285750">
              <a:buFont typeface="Wingdings" charset="2"/>
              <a:buChar char="p"/>
            </a:pP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[</a:t>
            </a: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NSRunLoop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600">
                <a:solidFill>
                  <a:srgbClr val="2E0D6E"/>
                </a:solidFill>
                <a:latin typeface="Menlo-Regular" charset="0"/>
              </a:rPr>
              <a:t>mainRunLoop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]; </a:t>
            </a:r>
            <a:r>
              <a:rPr lang="en-US" altLang="zh-CN" sz="1600">
                <a:solidFill>
                  <a:srgbClr val="007400"/>
                </a:solidFill>
                <a:latin typeface="Menlo-Regular" charset="0"/>
              </a:rPr>
              <a:t>// </a:t>
            </a:r>
            <a:r>
              <a:rPr lang="zh-CN" altLang="en-US" sz="1600">
                <a:solidFill>
                  <a:srgbClr val="007400"/>
                </a:solidFill>
                <a:latin typeface="Menlo-Regular" charset="0"/>
              </a:rPr>
              <a:t>获得主线程的</a:t>
            </a:r>
            <a:r>
              <a:rPr lang="en-US" altLang="zh-CN" sz="1600">
                <a:solidFill>
                  <a:srgbClr val="007400"/>
                </a:solidFill>
                <a:latin typeface="Menlo-Regular" charset="0"/>
              </a:rPr>
              <a:t>RunLoop</a:t>
            </a:r>
            <a:r>
              <a:rPr lang="zh-CN" altLang="en-US" sz="1600">
                <a:solidFill>
                  <a:srgbClr val="007400"/>
                </a:solidFill>
                <a:latin typeface="Menlo-Regular" charset="0"/>
              </a:rPr>
              <a:t>对象</a:t>
            </a:r>
            <a:endParaRPr lang="en-US" altLang="zh-CN" sz="1600">
              <a:solidFill>
                <a:srgbClr val="0074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600">
              <a:solidFill>
                <a:srgbClr val="007400"/>
              </a:solidFill>
              <a:latin typeface="Menlo-Regular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Core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Foundation</a:t>
            </a:r>
          </a:p>
          <a:p>
            <a:pPr marL="285750" indent="-285750">
              <a:buFont typeface="Wingdings" charset="2"/>
              <a:buChar char="p"/>
            </a:pPr>
            <a:r>
              <a:rPr lang="en-US" altLang="zh-CN" sz="1600">
                <a:solidFill>
                  <a:srgbClr val="2E0D6E"/>
                </a:solidFill>
                <a:latin typeface="Menlo-Regular" charset="0"/>
              </a:rPr>
              <a:t>CFRunLoopGetCurrent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(); </a:t>
            </a:r>
            <a:r>
              <a:rPr lang="en-US" altLang="zh-CN" sz="1600">
                <a:solidFill>
                  <a:srgbClr val="007400"/>
                </a:solidFill>
                <a:latin typeface="Menlo-Regular" charset="0"/>
              </a:rPr>
              <a:t>// </a:t>
            </a:r>
            <a:r>
              <a:rPr lang="zh-CN" altLang="en-US" sz="1600">
                <a:solidFill>
                  <a:srgbClr val="007400"/>
                </a:solidFill>
                <a:latin typeface="Menlo-Regular" charset="0"/>
              </a:rPr>
              <a:t>获得当前线程的</a:t>
            </a:r>
            <a:r>
              <a:rPr lang="en-US" altLang="zh-CN" sz="1600">
                <a:solidFill>
                  <a:srgbClr val="007400"/>
                </a:solidFill>
                <a:latin typeface="Menlo-Regular" charset="0"/>
              </a:rPr>
              <a:t>RunLoop</a:t>
            </a:r>
            <a:r>
              <a:rPr lang="zh-CN" altLang="en-US" sz="1600">
                <a:solidFill>
                  <a:srgbClr val="007400"/>
                </a:solidFill>
                <a:latin typeface="Menlo-Regular" charset="0"/>
              </a:rPr>
              <a:t>对象</a:t>
            </a:r>
            <a:endParaRPr lang="zh-CN" altLang="en-US" sz="1200">
              <a:solidFill>
                <a:prstClr val="black"/>
              </a:solidFill>
              <a:latin typeface="Helvetica" charset="0"/>
            </a:endParaRPr>
          </a:p>
          <a:p>
            <a:pPr marL="285750" indent="-285750">
              <a:buFont typeface="Wingdings" charset="2"/>
              <a:buChar char="p"/>
            </a:pPr>
            <a:r>
              <a:rPr lang="mr-IN" altLang="zh-CN" sz="1600">
                <a:solidFill>
                  <a:srgbClr val="2E0D6E"/>
                </a:solidFill>
                <a:latin typeface="Menlo-Regular" charset="0"/>
              </a:rPr>
              <a:t>CFRunLoopGetMain</a:t>
            </a:r>
            <a:r>
              <a:rPr lang="mr-IN" altLang="zh-CN" sz="1600">
                <a:solidFill>
                  <a:srgbClr val="000000"/>
                </a:solidFill>
                <a:latin typeface="Menlo-Regular" charset="0"/>
              </a:rPr>
              <a:t>(); </a:t>
            </a:r>
            <a:r>
              <a:rPr lang="mr-IN" altLang="zh-CN" sz="1600">
                <a:solidFill>
                  <a:srgbClr val="007400"/>
                </a:solidFill>
                <a:latin typeface="Menlo-Regular" charset="0"/>
              </a:rPr>
              <a:t>// </a:t>
            </a:r>
            <a:r>
              <a:rPr lang="zh-CN" altLang="mr-IN" sz="1600">
                <a:solidFill>
                  <a:srgbClr val="007400"/>
                </a:solidFill>
                <a:latin typeface="Menlo-Regular" charset="0"/>
              </a:rPr>
              <a:t>获得主线程的</a:t>
            </a:r>
            <a:r>
              <a:rPr lang="mr-IN" altLang="zh-CN" sz="1600">
                <a:solidFill>
                  <a:srgbClr val="007400"/>
                </a:solidFill>
                <a:latin typeface="Menlo-Regular" charset="0"/>
              </a:rPr>
              <a:t>RunLoop</a:t>
            </a:r>
            <a:r>
              <a:rPr lang="zh-CN" altLang="mr-IN" sz="1600">
                <a:solidFill>
                  <a:srgbClr val="007400"/>
                </a:solidFill>
                <a:latin typeface="Menlo-Regular" charset="0"/>
              </a:rPr>
              <a:t>对象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7394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=""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RunLoop</a:t>
            </a:r>
            <a:r>
              <a:rPr lang="zh-CN" altLang="en-US"/>
              <a:t>相关的类</a:t>
            </a:r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31718" y="1250933"/>
            <a:ext cx="5000303" cy="184852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Core Foundation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中关于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个类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CFRunLoopRef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CFRunLoopModeRef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CFRunLoopSourceRef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CFRunLoopTimerRef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CFRunLoopObserverRef</a:t>
            </a:r>
          </a:p>
        </p:txBody>
      </p:sp>
      <p:sp>
        <p:nvSpPr>
          <p:cNvPr id="2" name="矩形 1"/>
          <p:cNvSpPr/>
          <p:nvPr/>
        </p:nvSpPr>
        <p:spPr>
          <a:xfrm>
            <a:off x="6958940" y="3372486"/>
            <a:ext cx="4441370" cy="2838202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200"/>
              <a:t>RunLoop</a:t>
            </a:r>
          </a:p>
          <a:p>
            <a:pPr algn="ctr"/>
            <a:endParaRPr kumimoji="1" lang="en-US" altLang="zh-CN" sz="3200"/>
          </a:p>
          <a:p>
            <a:pPr algn="ctr"/>
            <a:endParaRPr kumimoji="1" lang="en-US" altLang="zh-CN" sz="3200"/>
          </a:p>
          <a:p>
            <a:pPr algn="ctr"/>
            <a:endParaRPr kumimoji="1" lang="en-US" altLang="zh-CN" sz="3200"/>
          </a:p>
          <a:p>
            <a:pPr algn="ctr"/>
            <a:endParaRPr kumimoji="1" lang="en-US" altLang="zh-CN" sz="3200"/>
          </a:p>
          <a:p>
            <a:pPr algn="ctr"/>
            <a:endParaRPr kumimoji="1" lang="zh-CN" altLang="en-US" sz="3200"/>
          </a:p>
        </p:txBody>
      </p:sp>
      <p:sp>
        <p:nvSpPr>
          <p:cNvPr id="3" name="矩形 2"/>
          <p:cNvSpPr/>
          <p:nvPr/>
        </p:nvSpPr>
        <p:spPr>
          <a:xfrm>
            <a:off x="7154882" y="4007709"/>
            <a:ext cx="1876301" cy="207235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r>
              <a:rPr kumimoji="1" lang="en-US" altLang="zh-CN"/>
              <a:t>Mode</a:t>
            </a:r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427519" y="5202456"/>
            <a:ext cx="1331026" cy="340699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observers</a:t>
            </a:r>
          </a:p>
        </p:txBody>
      </p:sp>
      <p:sp>
        <p:nvSpPr>
          <p:cNvPr id="8" name="矩形 7"/>
          <p:cNvSpPr/>
          <p:nvPr/>
        </p:nvSpPr>
        <p:spPr>
          <a:xfrm>
            <a:off x="7427519" y="4398743"/>
            <a:ext cx="1331026" cy="340699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sources0</a:t>
            </a:r>
          </a:p>
        </p:txBody>
      </p:sp>
      <p:sp>
        <p:nvSpPr>
          <p:cNvPr id="9" name="矩形 8"/>
          <p:cNvSpPr/>
          <p:nvPr/>
        </p:nvSpPr>
        <p:spPr>
          <a:xfrm>
            <a:off x="7427519" y="4802030"/>
            <a:ext cx="1331026" cy="340699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sources1</a:t>
            </a:r>
          </a:p>
        </p:txBody>
      </p:sp>
      <p:sp>
        <p:nvSpPr>
          <p:cNvPr id="10" name="矩形 9"/>
          <p:cNvSpPr/>
          <p:nvPr/>
        </p:nvSpPr>
        <p:spPr>
          <a:xfrm>
            <a:off x="7427519" y="5607603"/>
            <a:ext cx="1331026" cy="340699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timers</a:t>
            </a:r>
          </a:p>
        </p:txBody>
      </p:sp>
      <p:grpSp>
        <p:nvGrpSpPr>
          <p:cNvPr id="17" name="组 16"/>
          <p:cNvGrpSpPr/>
          <p:nvPr/>
        </p:nvGrpSpPr>
        <p:grpSpPr>
          <a:xfrm>
            <a:off x="9345877" y="4007709"/>
            <a:ext cx="1876301" cy="2072350"/>
            <a:chOff x="9345877" y="4007709"/>
            <a:chExt cx="1876301" cy="2072350"/>
          </a:xfrm>
        </p:grpSpPr>
        <p:sp>
          <p:nvSpPr>
            <p:cNvPr id="11" name="矩形 10"/>
            <p:cNvSpPr/>
            <p:nvPr/>
          </p:nvSpPr>
          <p:spPr>
            <a:xfrm>
              <a:off x="9345877" y="4007709"/>
              <a:ext cx="1876301" cy="207235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CN"/>
            </a:p>
            <a:p>
              <a:pPr algn="ctr"/>
              <a:endParaRPr kumimoji="1" lang="en-US" altLang="zh-CN"/>
            </a:p>
            <a:p>
              <a:pPr algn="ctr"/>
              <a:endParaRPr kumimoji="1" lang="en-US" altLang="zh-CN"/>
            </a:p>
            <a:p>
              <a:pPr algn="ctr"/>
              <a:endParaRPr kumimoji="1" lang="en-US" altLang="zh-CN"/>
            </a:p>
            <a:p>
              <a:pPr algn="ctr"/>
              <a:r>
                <a:rPr kumimoji="1" lang="en-US" altLang="zh-CN"/>
                <a:t>Mode</a:t>
              </a:r>
            </a:p>
            <a:p>
              <a:pPr algn="ctr"/>
              <a:endParaRPr kumimoji="1" lang="en-US" altLang="zh-CN"/>
            </a:p>
            <a:p>
              <a:pPr algn="ctr"/>
              <a:endParaRPr kumimoji="1" lang="en-US" altLang="zh-CN"/>
            </a:p>
            <a:p>
              <a:pPr algn="ctr"/>
              <a:endParaRPr kumimoji="1" lang="en-US" altLang="zh-CN"/>
            </a:p>
            <a:p>
              <a:pPr algn="ctr"/>
              <a:endParaRPr kumimoji="1" lang="en-US" altLang="zh-CN"/>
            </a:p>
            <a:p>
              <a:pPr algn="ctr"/>
              <a:endParaRPr kumimoji="1" lang="en-US" altLang="zh-CN"/>
            </a:p>
            <a:p>
              <a:pPr algn="ctr"/>
              <a:endParaRPr kumimoji="1" lang="en-US" altLang="zh-CN"/>
            </a:p>
            <a:p>
              <a:pPr algn="ctr"/>
              <a:endParaRPr kumimoji="1" lang="en-US" altLang="zh-CN"/>
            </a:p>
            <a:p>
              <a:pPr algn="ctr"/>
              <a:endParaRPr kumimoji="1" lang="en-US" altLang="zh-CN"/>
            </a:p>
            <a:p>
              <a:pPr algn="ctr"/>
              <a:endParaRPr kumimoji="1" lang="en-US" altLang="zh-CN"/>
            </a:p>
            <a:p>
              <a:pPr algn="ctr"/>
              <a:endParaRPr kumimoji="1"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9618514" y="5202456"/>
              <a:ext cx="1331026" cy="340699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/>
                <a:t>observers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9618514" y="4398743"/>
              <a:ext cx="1331026" cy="340699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/>
                <a:t>sources0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9618514" y="4802030"/>
              <a:ext cx="1331026" cy="340699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/>
                <a:t>sources1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9618514" y="5607603"/>
              <a:ext cx="1331026" cy="340699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/>
                <a:t>timers</a:t>
              </a: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11" y="3208680"/>
            <a:ext cx="5156403" cy="1379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11" y="4791587"/>
            <a:ext cx="5787796" cy="18824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04468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=""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CFRunLoopModeRef</a:t>
            </a:r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31718" y="1250933"/>
            <a:ext cx="11484230" cy="52329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CFRunLoopModeRef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的运行模式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包含若干个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，每个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又包含若干个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Source0/Source1/Timer/Observer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启动时只能选择其中一个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，作为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currentMode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如果需要切换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，只能退出当前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，再重新选择一个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不同组的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Source0/Source1/Timer/Observer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能分隔开来，互不影响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里没有任何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Source0/Source1/Timer/Observer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会立马退出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7091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=""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CFRunLoopModeRef</a:t>
            </a:r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31718" y="1215308"/>
            <a:ext cx="11484230" cy="52329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目前已知的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kCFRunLoopDefaultMode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的默认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，通常主线程是在这个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下运行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UITrackingRunLoopMode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：界面跟踪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ScrollView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追踪触摸滑动，保证界面滑动时不受其他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UIInitializationRunLoopMode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：在刚启动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时第进入的第一个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，启动完成后就不再使用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GSEventReceiveRunLoopMode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：接受系统事件的内部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，通常用不到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kCFRunLoopCommonModes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：这是一个占位用的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，不是一种真正的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</a:p>
        </p:txBody>
      </p:sp>
    </p:spTree>
    <p:extLst>
      <p:ext uri="{BB962C8B-B14F-4D97-AF65-F5344CB8AC3E}">
        <p14:creationId xmlns:p14="http://schemas.microsoft.com/office/powerpoint/2010/main" val="69268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=""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RunLoop</a:t>
            </a:r>
            <a:r>
              <a:rPr lang="zh-CN" altLang="en-US"/>
              <a:t>的运行逻辑</a:t>
            </a:r>
          </a:p>
        </p:txBody>
      </p:sp>
      <p:pic>
        <p:nvPicPr>
          <p:cNvPr id="5" name="图片 4" descr="runlo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07" y="1556361"/>
            <a:ext cx="8199286" cy="428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137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7-Seemygo.potx" id="{3322639B-F8FE-4D8E-B95A-689F35BC92D4}" vid="{7BDECA8C-96EE-4475-8611-81F66AB506B9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00-学前须知</Template>
  <TotalTime>10962</TotalTime>
  <Words>550</Words>
  <Application>Microsoft Macintosh PowerPoint</Application>
  <PresentationFormat>宽屏</PresentationFormat>
  <Paragraphs>132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Calibri</vt:lpstr>
      <vt:lpstr>Calibri Light</vt:lpstr>
      <vt:lpstr>Helvetica</vt:lpstr>
      <vt:lpstr>Mangal</vt:lpstr>
      <vt:lpstr>Menlo-Regular</vt:lpstr>
      <vt:lpstr>Wingdings</vt:lpstr>
      <vt:lpstr>等线</vt:lpstr>
      <vt:lpstr>黑体</vt:lpstr>
      <vt:lpstr>宋体</vt:lpstr>
      <vt:lpstr>微软雅黑</vt:lpstr>
      <vt:lpstr>Arial</vt:lpstr>
      <vt:lpstr>Office 主题</vt:lpstr>
      <vt:lpstr>RunLoop</vt:lpstr>
      <vt:lpstr>面试题</vt:lpstr>
      <vt:lpstr>什么是RunLoop</vt:lpstr>
      <vt:lpstr>如果没有RunLoop</vt:lpstr>
      <vt:lpstr>如果有了RunLoop</vt:lpstr>
      <vt:lpstr>RunLoop对象</vt:lpstr>
      <vt:lpstr>RunLoop与线程</vt:lpstr>
      <vt:lpstr>获取RunLoop对象</vt:lpstr>
      <vt:lpstr>RunLoop相关的类</vt:lpstr>
      <vt:lpstr>CFRunLoopModeRef</vt:lpstr>
      <vt:lpstr>CFRunLoopModeRef</vt:lpstr>
      <vt:lpstr>RunLoop的运行逻辑</vt:lpstr>
    </vt:vector>
  </TitlesOfParts>
  <Company/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李明杰</dc:creator>
  <cp:lastModifiedBy>淘5721</cp:lastModifiedBy>
  <cp:revision>637</cp:revision>
  <dcterms:created xsi:type="dcterms:W3CDTF">2017-11-23T13:35:11Z</dcterms:created>
  <dcterms:modified xsi:type="dcterms:W3CDTF">2018-03-26T14:13:02Z</dcterms:modified>
</cp:coreProperties>
</file>