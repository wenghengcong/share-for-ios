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8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-1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interSettings" Target="printerSettings/printerSettings1.bin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-4763" y="2501266"/>
            <a:ext cx="9148763" cy="1386840"/>
          </a:xfrm>
          <a:prstGeom prst="rect">
            <a:avLst/>
          </a:prstGeom>
          <a:gradFill rotWithShape="1">
            <a:gsLst>
              <a:gs pos="0">
                <a:srgbClr val="F7F7F7"/>
              </a:gs>
              <a:gs pos="31000">
                <a:srgbClr val="F7F7F7"/>
              </a:gs>
              <a:gs pos="75000">
                <a:srgbClr val="F7F7F7"/>
              </a:gs>
              <a:gs pos="100000">
                <a:srgbClr val="EFEFEF"/>
              </a:gs>
            </a:gsLst>
            <a:path path="rect">
              <a:fillToRect l="50000" t="129999" r="50000" b="129999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AF5C06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宋体" charset="0"/>
              <a:sym typeface="宋体" charset="0"/>
            </a:endParaRPr>
          </a:p>
        </p:txBody>
      </p:sp>
      <p:sp>
        <p:nvSpPr>
          <p:cNvPr id="17" name="矩形 25"/>
          <p:cNvSpPr>
            <a:spLocks noChangeArrowheads="1"/>
          </p:cNvSpPr>
          <p:nvPr/>
        </p:nvSpPr>
        <p:spPr bwMode="auto">
          <a:xfrm>
            <a:off x="2972846" y="6141720"/>
            <a:ext cx="319831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300" b="1">
                <a:latin typeface="黑体" charset="0"/>
                <a:ea typeface="黑体" charset="0"/>
                <a:cs typeface="黑体" charset="0"/>
                <a:sym typeface="黑体" charset="0"/>
              </a:rPr>
              <a:t>领先业内</a:t>
            </a:r>
            <a:r>
              <a:rPr lang="en-US" altLang="zh-CN" sz="1300" b="1" dirty="0">
                <a:latin typeface="黑体" charset="0"/>
                <a:ea typeface="黑体" charset="0"/>
                <a:cs typeface="黑体" charset="0"/>
                <a:sym typeface="黑体" charset="0"/>
              </a:rPr>
              <a:t>IT</a:t>
            </a:r>
            <a:r>
              <a:rPr lang="zh-CN" altLang="en-US" sz="1300" b="1">
                <a:latin typeface="黑体" charset="0"/>
                <a:ea typeface="黑体" charset="0"/>
                <a:cs typeface="黑体" charset="0"/>
                <a:sym typeface="黑体" charset="0"/>
              </a:rPr>
              <a:t>教育培训行业 </a:t>
            </a:r>
            <a:r>
              <a:rPr lang="en-US" altLang="zh-CN" sz="1300" b="1" dirty="0">
                <a:latin typeface="黑体" charset="0"/>
                <a:ea typeface="黑体" charset="0"/>
                <a:cs typeface="黑体" charset="0"/>
                <a:sym typeface="黑体" charset="0"/>
              </a:rPr>
              <a:t>www.520it.com</a:t>
            </a:r>
            <a:endParaRPr lang="zh-CN" altLang="en-US" sz="1300" b="1">
              <a:latin typeface="黑体" charset="0"/>
              <a:ea typeface="黑体" charset="0"/>
              <a:cs typeface="黑体" charset="0"/>
              <a:sym typeface="黑体" charset="0"/>
            </a:endParaRPr>
          </a:p>
        </p:txBody>
      </p:sp>
      <p:pic>
        <p:nvPicPr>
          <p:cNvPr id="18" name="图片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" y="659131"/>
            <a:ext cx="762000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19"/>
          <p:cNvSpPr>
            <a:spLocks noChangeArrowheads="1"/>
          </p:cNvSpPr>
          <p:nvPr/>
        </p:nvSpPr>
        <p:spPr bwMode="auto">
          <a:xfrm>
            <a:off x="-4763" y="1"/>
            <a:ext cx="9148763" cy="240030"/>
          </a:xfrm>
          <a:prstGeom prst="rect">
            <a:avLst/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AF5C06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宋体" charset="0"/>
              <a:sym typeface="宋体" charset="0"/>
            </a:endParaRPr>
          </a:p>
        </p:txBody>
      </p:sp>
      <p:pic>
        <p:nvPicPr>
          <p:cNvPr id="22" name="Picture 9" descr="上色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850" y="5644516"/>
            <a:ext cx="1055688" cy="468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746" y="2733323"/>
            <a:ext cx="8498454" cy="9334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746" y="3929784"/>
            <a:ext cx="8498454" cy="7485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1156" y="473830"/>
            <a:ext cx="8128599" cy="82747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Eurostile"/>
              </a:defRPr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450976"/>
            <a:ext cx="8128599" cy="4675188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>
              <a:buClrTx/>
              <a:buFont typeface="Wingdings" charset="2"/>
              <a:buChar char="l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Eurostile"/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Eurostile"/>
                <a:cs typeface="Eurostile"/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Eurostile"/>
                <a:cs typeface="Eurostile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Eurostile"/>
                <a:cs typeface="Eurostile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Eurostile"/>
                <a:cs typeface="Eurostile"/>
              </a:defRPr>
            </a:lvl5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065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179390" y="188913"/>
            <a:ext cx="8823325" cy="5449888"/>
          </a:xfrm>
          <a:prstGeom prst="roundRect">
            <a:avLst>
              <a:gd name="adj" fmla="val 12843"/>
            </a:avLst>
          </a:prstGeom>
          <a:noFill/>
          <a:ln w="57150" cmpd="thickThin">
            <a:solidFill>
              <a:srgbClr val="33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Times New Roman" charset="0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1439863" y="4059151"/>
            <a:ext cx="6400800" cy="18415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0800">
            <a:solidFill>
              <a:srgbClr val="CCCC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019176"/>
            <a:ext cx="7772400" cy="3039976"/>
          </a:xfrm>
          <a:prstGeom prst="rect">
            <a:avLst/>
          </a:prstGeom>
        </p:spPr>
        <p:txBody>
          <a:bodyPr anchor="ctr"/>
          <a:lstStyle>
            <a:lvl1pPr algn="ctr">
              <a:defRPr sz="4800">
                <a:latin typeface="Helvetica"/>
                <a:cs typeface="Helvetica"/>
              </a:defRPr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08521" y="4150809"/>
            <a:ext cx="6400800" cy="163675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rgbClr val="333333"/>
                </a:solidFill>
                <a:latin typeface="Helvetica"/>
                <a:ea typeface="微软雅黑"/>
                <a:cs typeface="Helvetic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 dirty="0"/>
          </a:p>
        </p:txBody>
      </p:sp>
      <p:pic>
        <p:nvPicPr>
          <p:cNvPr id="10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7215" y="345383"/>
            <a:ext cx="1582737" cy="609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5"/>
          <p:cNvSpPr txBox="1">
            <a:spLocks noChangeArrowheads="1"/>
          </p:cNvSpPr>
          <p:nvPr/>
        </p:nvSpPr>
        <p:spPr bwMode="auto">
          <a:xfrm>
            <a:off x="3073400" y="6400800"/>
            <a:ext cx="299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457200" rtl="0" eaLnBrk="1" latinLnBrk="0" hangingPunct="1">
              <a:defRPr sz="1400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CN" altLang="en-US" dirty="0" smtClean="0"/>
              <a:t>北京传智播客教育 </a:t>
            </a:r>
            <a:r>
              <a:rPr lang="en-US" dirty="0" smtClean="0">
                <a:latin typeface="Consolas"/>
                <a:cs typeface="Consolas"/>
              </a:rPr>
              <a:t>www.itcast.cn</a:t>
            </a:r>
            <a:endParaRPr lang="en-US" dirty="0">
              <a:latin typeface="Consolas"/>
              <a:cs typeface="Consolas"/>
            </a:endParaRP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2136775" y="333376"/>
            <a:ext cx="57610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/>
            <a:r>
              <a:rPr lang="en-US" altLang="zh-CN" sz="2400" b="1" dirty="0" smtClean="0">
                <a:solidFill>
                  <a:srgbClr val="DF3333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lang="zh-CN" altLang="en-US" sz="2400" b="1" dirty="0" smtClean="0">
                <a:solidFill>
                  <a:srgbClr val="DF3333"/>
                </a:solidFill>
                <a:latin typeface="微软雅黑"/>
                <a:ea typeface="微软雅黑"/>
                <a:cs typeface="微软雅黑"/>
              </a:rPr>
              <a:t>高级软件人才实作培训专家</a:t>
            </a:r>
            <a:r>
              <a:rPr lang="en-US" altLang="zh-CN" sz="2400" b="1" dirty="0">
                <a:solidFill>
                  <a:srgbClr val="DF3333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>
            <a:off x="457200" y="1019176"/>
            <a:ext cx="8229600" cy="0"/>
          </a:xfrm>
          <a:prstGeom prst="line">
            <a:avLst/>
          </a:prstGeom>
          <a:noFill/>
          <a:ln w="38100">
            <a:solidFill>
              <a:srgbClr val="33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日期占位符 19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0A1F3AE0-5916-3346-8479-0FC05A468033}" type="datetimeFigureOut">
              <a:rPr kumimoji="1" lang="zh-CN" altLang="en-US" smtClean="0"/>
              <a:t>15/9/18</a:t>
            </a:fld>
            <a:endParaRPr kumimoji="1"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22" name="幻灯片编号占位符 21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643B8895-DBBF-B34C-A7A8-73BE0B19DD8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846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-9526"/>
            <a:ext cx="9167813" cy="6869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12" r="786" b="49559"/>
          <a:stretch>
            <a:fillRect/>
          </a:stretch>
        </p:blipFill>
        <p:spPr bwMode="auto">
          <a:xfrm>
            <a:off x="419101" y="4509136"/>
            <a:ext cx="7559675" cy="159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29"/>
          <p:cNvSpPr>
            <a:spLocks noChangeArrowheads="1"/>
          </p:cNvSpPr>
          <p:nvPr/>
        </p:nvSpPr>
        <p:spPr bwMode="auto">
          <a:xfrm>
            <a:off x="-4763" y="1289686"/>
            <a:ext cx="9148763" cy="20954"/>
          </a:xfrm>
          <a:prstGeom prst="rect">
            <a:avLst/>
          </a:prstGeom>
          <a:solidFill>
            <a:srgbClr val="EAEAEA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AF5C06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宋体" charset="0"/>
              <a:sym typeface="宋体" charset="0"/>
            </a:endParaRPr>
          </a:p>
        </p:txBody>
      </p:sp>
      <p:pic>
        <p:nvPicPr>
          <p:cNvPr id="24" name="Picture 8" descr="上色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1" y="6109336"/>
            <a:ext cx="1057275" cy="468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5" name="矩形 25"/>
          <p:cNvSpPr>
            <a:spLocks noChangeArrowheads="1"/>
          </p:cNvSpPr>
          <p:nvPr/>
        </p:nvSpPr>
        <p:spPr bwMode="auto">
          <a:xfrm>
            <a:off x="3620546" y="6278880"/>
            <a:ext cx="319831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300" b="1">
                <a:latin typeface="黑体" charset="0"/>
                <a:ea typeface="黑体" charset="0"/>
                <a:cs typeface="黑体" charset="0"/>
                <a:sym typeface="黑体" charset="0"/>
              </a:rPr>
              <a:t>领先业内</a:t>
            </a:r>
            <a:r>
              <a:rPr lang="en-US" altLang="zh-CN" sz="1300" b="1" dirty="0">
                <a:latin typeface="黑体" charset="0"/>
                <a:ea typeface="黑体" charset="0"/>
                <a:cs typeface="黑体" charset="0"/>
                <a:sym typeface="黑体" charset="0"/>
              </a:rPr>
              <a:t>IT</a:t>
            </a:r>
            <a:r>
              <a:rPr lang="zh-CN" altLang="en-US" sz="1300" b="1">
                <a:latin typeface="黑体" charset="0"/>
                <a:ea typeface="黑体" charset="0"/>
                <a:cs typeface="黑体" charset="0"/>
                <a:sym typeface="黑体" charset="0"/>
              </a:rPr>
              <a:t>教育培训行业 </a:t>
            </a:r>
            <a:r>
              <a:rPr lang="en-US" altLang="zh-CN" sz="1300" b="1" dirty="0">
                <a:latin typeface="黑体" charset="0"/>
                <a:ea typeface="黑体" charset="0"/>
                <a:cs typeface="黑体" charset="0"/>
                <a:sym typeface="黑体" charset="0"/>
              </a:rPr>
              <a:t>www.520it.com</a:t>
            </a:r>
            <a:endParaRPr lang="zh-CN" altLang="en-US" sz="1300" b="1">
              <a:latin typeface="黑体" charset="0"/>
              <a:ea typeface="黑体" charset="0"/>
              <a:cs typeface="黑体" charset="0"/>
              <a:sym typeface="黑体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3200" b="0" kern="1200">
          <a:solidFill>
            <a:schemeClr val="accent1"/>
          </a:solidFill>
          <a:latin typeface="Eurostile"/>
          <a:ea typeface="微软雅黑"/>
          <a:cs typeface="Eurostile"/>
        </a:defRPr>
      </a:lvl1pPr>
    </p:titleStyle>
    <p:bodyStyle>
      <a:lvl1pPr marL="228600" indent="-228600" algn="l" defTabSz="914400" rtl="0" eaLnBrk="1" latinLnBrk="0" hangingPunct="1">
        <a:spcBef>
          <a:spcPts val="8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Eurostile"/>
          <a:ea typeface="华文细黑"/>
          <a:cs typeface="Eurostile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Eurostile"/>
          <a:ea typeface="华文细黑"/>
          <a:cs typeface="Eurostile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Eurostile"/>
          <a:ea typeface="华文细黑"/>
          <a:cs typeface="Eurostile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Eurostile"/>
          <a:ea typeface="华文细黑"/>
          <a:cs typeface="Eurostile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Eurostile"/>
          <a:ea typeface="华文细黑"/>
          <a:cs typeface="Eurostile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Eurostile"/>
          <a:ea typeface="微软雅黑"/>
          <a:cs typeface="Eurostile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Eurostile"/>
          <a:ea typeface="微软雅黑"/>
          <a:cs typeface="Eurostile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Eurostile"/>
          <a:ea typeface="微软雅黑"/>
          <a:cs typeface="Eurostile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>
          <a:solidFill>
            <a:schemeClr val="tx1">
              <a:lumMod val="65000"/>
              <a:lumOff val="35000"/>
            </a:schemeClr>
          </a:solidFill>
          <a:latin typeface="Eurostile"/>
          <a:ea typeface="微软雅黑"/>
          <a:cs typeface="Eurostile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w3cschool.com" TargetMode="External"/><Relationship Id="rId3" Type="http://schemas.openxmlformats.org/officeDocument/2006/relationships/hyperlink" Target="http://www.php100.com/manual/jquery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pan.baidu.com/s/1sjkQ5JZ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 smtClean="0"/>
              <a:t>前端知识总结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iOS</a:t>
            </a:r>
            <a:r>
              <a:rPr kumimoji="1" lang="zh-CN" altLang="en-US" dirty="0" smtClean="0"/>
              <a:t>学院   叶建华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984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一、</a:t>
            </a:r>
            <a:r>
              <a:rPr kumimoji="1" lang="en-US" altLang="zh-CN" dirty="0" smtClean="0"/>
              <a:t>HTML+CSS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b="1" dirty="0" smtClean="0"/>
              <a:t>能看懂标签的结构</a:t>
            </a:r>
            <a:endParaRPr kumimoji="1" lang="en-US" altLang="zh-CN" sz="2400" b="1" dirty="0" smtClean="0"/>
          </a:p>
          <a:p>
            <a:pPr marL="0" indent="0">
              <a:buNone/>
            </a:pPr>
            <a:endParaRPr kumimoji="1" lang="en-US" altLang="zh-CN" sz="2400" b="1" dirty="0" smtClean="0"/>
          </a:p>
          <a:p>
            <a:pPr marL="0" indent="0">
              <a:buNone/>
            </a:pPr>
            <a:r>
              <a:rPr kumimoji="1" lang="zh-CN" altLang="en-US" dirty="0" smtClean="0"/>
              <a:t> （一）父子关</a:t>
            </a:r>
            <a:r>
              <a:rPr kumimoji="1" lang="zh-CN" altLang="en-US" dirty="0"/>
              <a:t>系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</a:t>
            </a:r>
            <a:r>
              <a:rPr kumimoji="1" lang="zh-CN" altLang="zh-CN" dirty="0"/>
              <a:t>&lt;</a:t>
            </a:r>
            <a:r>
              <a:rPr kumimoji="1" lang="en-US" altLang="zh-CN" dirty="0"/>
              <a:t>p&gt;&lt;span&gt;123&lt;/span&gt;&lt;/p</a:t>
            </a:r>
            <a:r>
              <a:rPr kumimoji="1" lang="en-US" altLang="zh-CN" dirty="0" smtClean="0"/>
              <a:t>&gt;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</a:t>
            </a:r>
            <a:r>
              <a:rPr kumimoji="1" lang="zh-CN" altLang="zh-CN" dirty="0" smtClean="0"/>
              <a:t>&lt;</a:t>
            </a:r>
            <a:r>
              <a:rPr kumimoji="1" lang="en-US" altLang="zh-CN" dirty="0" smtClean="0"/>
              <a:t>div&gt;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&lt;img</a:t>
            </a:r>
            <a:r>
              <a:rPr kumimoji="1" lang="zh-CN" altLang="en-US" dirty="0" smtClean="0"/>
              <a:t> </a:t>
            </a:r>
            <a:r>
              <a:rPr kumimoji="1" lang="en-US" altLang="zh-CN" dirty="0"/>
              <a:t>src=“images/01.png”</a:t>
            </a:r>
            <a:r>
              <a:rPr kumimoji="1" lang="en-US" altLang="zh-CN" dirty="0" smtClean="0"/>
              <a:t>&gt;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</a:t>
            </a:r>
            <a:r>
              <a:rPr kumimoji="1" lang="zh-CN" altLang="zh-CN" dirty="0" smtClean="0"/>
              <a:t>&lt;</a:t>
            </a:r>
            <a:r>
              <a:rPr kumimoji="1" lang="en-US" altLang="zh-CN" dirty="0" smtClean="0"/>
              <a:t>input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type</a:t>
            </a:r>
            <a:r>
              <a:rPr kumimoji="1" lang="zh-CN" altLang="en-US" dirty="0" smtClean="0"/>
              <a:t>=</a:t>
            </a:r>
            <a:r>
              <a:rPr kumimoji="1" lang="en-US" altLang="zh-CN" dirty="0" smtClean="0"/>
              <a:t>“data”&gt;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&lt;/div&gt;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</a:t>
            </a:r>
            <a:r>
              <a:rPr kumimoji="1" lang="zh-CN" altLang="en-US" dirty="0" smtClean="0"/>
              <a:t>（二）属性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  </a:t>
            </a:r>
            <a:r>
              <a:rPr kumimoji="1" lang="en-US" altLang="zh-CN" dirty="0"/>
              <a:t>&lt;img</a:t>
            </a:r>
            <a:r>
              <a:rPr kumimoji="1" lang="zh-CN" altLang="en-US" dirty="0"/>
              <a:t> </a:t>
            </a:r>
            <a:r>
              <a:rPr kumimoji="1" lang="en-US" altLang="zh-CN" dirty="0"/>
              <a:t>src=“images/01.png”&gt;</a:t>
            </a:r>
          </a:p>
          <a:p>
            <a:pPr marL="0" indent="0">
              <a:buNone/>
            </a:pP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 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 smtClean="0"/>
              <a:t> 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281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508001"/>
            <a:ext cx="8128599" cy="5395914"/>
          </a:xfrm>
        </p:spPr>
        <p:txBody>
          <a:bodyPr/>
          <a:lstStyle/>
          <a:p>
            <a:r>
              <a:rPr kumimoji="1" lang="zh-CN" altLang="en-US" sz="2400" b="1" dirty="0"/>
              <a:t>了解元素（标签的类型</a:t>
            </a:r>
            <a:r>
              <a:rPr kumimoji="1" lang="zh-CN" altLang="en-US" sz="2400" b="1" dirty="0" smtClean="0"/>
              <a:t>）</a:t>
            </a:r>
            <a:endParaRPr kumimoji="1" lang="en-US" altLang="zh-CN" sz="2400" b="1" dirty="0" smtClean="0"/>
          </a:p>
          <a:p>
            <a:pPr marL="0" indent="0">
              <a:buNone/>
            </a:pPr>
            <a:endParaRPr kumimoji="1" lang="en-US" altLang="zh-CN" sz="2400" b="1" dirty="0"/>
          </a:p>
          <a:p>
            <a:pPr marL="0" indent="0">
              <a:buNone/>
            </a:pPr>
            <a:r>
              <a:rPr kumimoji="1" lang="zh-CN" altLang="zh-CN" dirty="0" smtClean="0"/>
              <a:t>（</a:t>
            </a:r>
            <a:r>
              <a:rPr kumimoji="1" lang="zh-CN" altLang="en-US" dirty="0" smtClean="0"/>
              <a:t>一）块级标签（</a:t>
            </a:r>
            <a:r>
              <a:rPr kumimoji="1" lang="en-US" altLang="zh-CN" dirty="0" smtClean="0"/>
              <a:t>block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特点：独占一行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    能任意改变宽度和高度</a:t>
            </a:r>
            <a:endParaRPr kumimoji="1" lang="en-US" altLang="zh-CN" dirty="0" smtClean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（二）行内标签（</a:t>
            </a:r>
            <a:r>
              <a:rPr kumimoji="1" lang="en-US" altLang="zh-CN" dirty="0" smtClean="0"/>
              <a:t>inline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特点：多个标签可以显示在同一行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    不能修改尺寸，尺寸取决于内容的多少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</a:t>
            </a:r>
            <a:r>
              <a:rPr kumimoji="1" lang="zh-CN" altLang="en-US" dirty="0" smtClean="0"/>
              <a:t>（三）行内</a:t>
            </a:r>
            <a:r>
              <a:rPr kumimoji="1" lang="en-US" altLang="zh-CN" dirty="0" smtClean="0"/>
              <a:t>-</a:t>
            </a:r>
            <a:r>
              <a:rPr kumimoji="1" lang="zh-CN" altLang="en-US" dirty="0" smtClean="0"/>
              <a:t>块级标签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特点：多个标签可以显示在同一行，能任意修改尺寸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    不设置尺寸，默认的尺寸取决于内容的多少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525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698501"/>
            <a:ext cx="8128599" cy="5095874"/>
          </a:xfrm>
        </p:spPr>
        <p:txBody>
          <a:bodyPr/>
          <a:lstStyle/>
          <a:p>
            <a:r>
              <a:rPr kumimoji="1" lang="zh-CN" altLang="en-US" sz="2400" b="1" dirty="0" smtClean="0"/>
              <a:t>了解常见的属性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fontSize</a:t>
            </a:r>
            <a:r>
              <a:rPr kumimoji="1" lang="zh-CN" altLang="en-US" dirty="0" smtClean="0"/>
              <a:t> 字体大小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color</a:t>
            </a:r>
            <a:r>
              <a:rPr kumimoji="1" lang="zh-CN" altLang="en-US" dirty="0" smtClean="0"/>
              <a:t>    字体颜色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width</a:t>
            </a:r>
            <a:r>
              <a:rPr kumimoji="1" lang="zh-CN" altLang="en-US" dirty="0" smtClean="0"/>
              <a:t>    设置宽度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height</a:t>
            </a:r>
            <a:r>
              <a:rPr kumimoji="1" lang="zh-CN" altLang="en-US" dirty="0" smtClean="0"/>
              <a:t>   设置高度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background</a:t>
            </a:r>
            <a:r>
              <a:rPr kumimoji="1" lang="zh-CN" altLang="en-US" dirty="0" smtClean="0"/>
              <a:t> 设置背景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display</a:t>
            </a:r>
            <a:r>
              <a:rPr kumimoji="1" lang="zh-CN" altLang="en-US" dirty="0" smtClean="0"/>
              <a:t> 显示类型（</a:t>
            </a:r>
            <a:r>
              <a:rPr kumimoji="1" lang="en-US" altLang="zh-CN" dirty="0" smtClean="0"/>
              <a:t>none</a:t>
            </a:r>
            <a:r>
              <a:rPr kumimoji="1" lang="zh-CN" altLang="en-US" dirty="0" smtClean="0"/>
              <a:t>、</a:t>
            </a:r>
            <a:r>
              <a:rPr kumimoji="1" lang="en-US" altLang="zh-CN" dirty="0" smtClean="0"/>
              <a:t>block</a:t>
            </a:r>
            <a:r>
              <a:rPr kumimoji="1" lang="zh-CN" altLang="en-US" dirty="0" smtClean="0"/>
              <a:t>、</a:t>
            </a:r>
            <a:r>
              <a:rPr kumimoji="1" lang="en-US" altLang="zh-CN" dirty="0" smtClean="0"/>
              <a:t>inline</a:t>
            </a:r>
            <a:r>
              <a:rPr kumimoji="1" lang="zh-CN" altLang="en-US" dirty="0" smtClean="0"/>
              <a:t>、</a:t>
            </a:r>
            <a:r>
              <a:rPr kumimoji="1" lang="en-US" altLang="zh-CN" dirty="0" smtClean="0"/>
              <a:t>inline-block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padding</a:t>
            </a:r>
            <a:r>
              <a:rPr kumimoji="1" lang="zh-CN" altLang="en-US" dirty="0" smtClean="0"/>
              <a:t> 内边距（四种方式）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margin</a:t>
            </a:r>
            <a:r>
              <a:rPr kumimoji="1" lang="zh-CN" altLang="en-US" dirty="0" smtClean="0"/>
              <a:t>  外边距</a:t>
            </a:r>
            <a:r>
              <a:rPr kumimoji="1" lang="zh-CN" altLang="en-US" dirty="0"/>
              <a:t>（四种方式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border</a:t>
            </a:r>
            <a:r>
              <a:rPr kumimoji="1" lang="zh-CN" altLang="en-US" dirty="0" smtClean="0"/>
              <a:t>  设置边框（</a:t>
            </a:r>
            <a:r>
              <a:rPr kumimoji="1" lang="en-US" altLang="zh-CN" dirty="0" smtClean="0"/>
              <a:t>border-size</a:t>
            </a:r>
            <a:r>
              <a:rPr kumimoji="1" lang="zh-CN" altLang="en-US" dirty="0" smtClean="0"/>
              <a:t>、</a:t>
            </a:r>
            <a:r>
              <a:rPr kumimoji="1" lang="en-US" altLang="zh-CN" dirty="0" smtClean="0"/>
              <a:t>border-style</a:t>
            </a:r>
            <a:r>
              <a:rPr kumimoji="1" lang="zh-CN" altLang="en-US" dirty="0" smtClean="0"/>
              <a:t>、</a:t>
            </a:r>
            <a:r>
              <a:rPr kumimoji="1" lang="en-US" altLang="zh-CN" dirty="0" smtClean="0"/>
              <a:t>border-color</a:t>
            </a:r>
            <a:r>
              <a:rPr kumimoji="1" lang="zh-CN" altLang="en-US" dirty="0" smtClean="0"/>
              <a:t>）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223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698501"/>
            <a:ext cx="8645524" cy="5095874"/>
          </a:xfrm>
        </p:spPr>
        <p:txBody>
          <a:bodyPr/>
          <a:lstStyle/>
          <a:p>
            <a:r>
              <a:rPr kumimoji="1" lang="en-US" altLang="en-US" sz="2400" b="1" dirty="0" smtClean="0"/>
              <a:t>脱离标准流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</a:t>
            </a:r>
            <a:r>
              <a:rPr kumimoji="1" lang="zh-CN" altLang="zh-CN" dirty="0" smtClean="0"/>
              <a:t>（</a:t>
            </a:r>
            <a:r>
              <a:rPr kumimoji="1" lang="zh-CN" altLang="en-US" dirty="0"/>
              <a:t>一</a:t>
            </a:r>
            <a:r>
              <a:rPr kumimoji="1" lang="zh-CN" altLang="en-US" dirty="0" smtClean="0"/>
              <a:t>）</a:t>
            </a:r>
            <a:r>
              <a:rPr kumimoji="1" lang="en-US" altLang="zh-CN" dirty="0" smtClean="0"/>
              <a:t>float</a:t>
            </a:r>
          </a:p>
          <a:p>
            <a:pPr marL="0" indent="0">
              <a:buNone/>
            </a:pP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   取值：</a:t>
            </a:r>
            <a:r>
              <a:rPr kumimoji="1" lang="en-US" altLang="zh-CN" dirty="0" smtClean="0"/>
              <a:t>left</a:t>
            </a:r>
            <a:r>
              <a:rPr kumimoji="1" lang="zh-CN" altLang="en-US" dirty="0" smtClean="0"/>
              <a:t>、</a:t>
            </a:r>
            <a:r>
              <a:rPr kumimoji="1" lang="en-US" altLang="zh-CN" dirty="0" smtClean="0"/>
              <a:t>right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（二</a:t>
            </a:r>
            <a:r>
              <a:rPr kumimoji="1" lang="zh-CN" altLang="en-US" dirty="0" smtClean="0"/>
              <a:t>）绝对定位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position</a:t>
            </a:r>
            <a:r>
              <a:rPr kumimoji="1" lang="zh-CN" altLang="en-US" dirty="0" smtClean="0"/>
              <a:t> 和 </a:t>
            </a:r>
            <a:r>
              <a:rPr kumimoji="1" lang="en-US" altLang="zh-CN" dirty="0" smtClean="0"/>
              <a:t>left</a:t>
            </a:r>
            <a:r>
              <a:rPr kumimoji="1" lang="zh-CN" altLang="en-US" dirty="0" smtClean="0"/>
              <a:t>、</a:t>
            </a:r>
            <a:r>
              <a:rPr kumimoji="1" lang="en-US" altLang="zh-CN" dirty="0" smtClean="0"/>
              <a:t>right</a:t>
            </a:r>
            <a:r>
              <a:rPr kumimoji="1" lang="zh-CN" altLang="en-US" dirty="0" smtClean="0"/>
              <a:t>、</a:t>
            </a:r>
            <a:r>
              <a:rPr kumimoji="1" lang="en-US" altLang="zh-CN" dirty="0" smtClean="0"/>
              <a:t>top</a:t>
            </a:r>
            <a:r>
              <a:rPr kumimoji="1" lang="zh-CN" altLang="en-US" dirty="0" smtClean="0"/>
              <a:t>、</a:t>
            </a:r>
            <a:r>
              <a:rPr kumimoji="1" lang="en-US" altLang="zh-CN" dirty="0" smtClean="0"/>
              <a:t>bottom</a:t>
            </a:r>
            <a:r>
              <a:rPr kumimoji="1" lang="zh-CN" altLang="en-US" dirty="0" smtClean="0"/>
              <a:t>结合使用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</a:t>
            </a:r>
            <a:r>
              <a:rPr kumimoji="1" lang="zh-CN" altLang="en-US" dirty="0" smtClean="0">
                <a:solidFill>
                  <a:srgbClr val="FF0000"/>
                </a:solidFill>
              </a:rPr>
              <a:t>如果想定位在右下角？</a:t>
            </a:r>
            <a:endParaRPr kumimoji="1" lang="en-US" altLang="zh-CN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注意点：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（</a:t>
            </a:r>
            <a:r>
              <a:rPr kumimoji="1" lang="en-US" altLang="zh-CN" dirty="0" smtClean="0"/>
              <a:t>1</a:t>
            </a:r>
            <a:r>
              <a:rPr kumimoji="1" lang="zh-CN" altLang="en-US" dirty="0" smtClean="0"/>
              <a:t>）如果想相对父控件进行定位，设置父节点的</a:t>
            </a:r>
            <a:r>
              <a:rPr kumimoji="1" lang="en-US" altLang="zh-CN" dirty="0" smtClean="0"/>
              <a:t>position</a:t>
            </a:r>
            <a:r>
              <a:rPr kumimoji="1" lang="zh-CN" altLang="en-US" dirty="0" smtClean="0"/>
              <a:t>为</a:t>
            </a:r>
            <a:r>
              <a:rPr kumimoji="1" lang="en-US" altLang="zh-CN" dirty="0" smtClean="0"/>
              <a:t>relative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（</a:t>
            </a:r>
            <a:r>
              <a:rPr kumimoji="1" lang="en-US" altLang="zh-CN" dirty="0" smtClean="0"/>
              <a:t>2</a:t>
            </a:r>
            <a:r>
              <a:rPr kumimoji="1" lang="zh-CN" altLang="en-US" dirty="0" smtClean="0"/>
              <a:t>）子绝父相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585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698501"/>
            <a:ext cx="8128599" cy="5585040"/>
          </a:xfrm>
        </p:spPr>
        <p:txBody>
          <a:bodyPr/>
          <a:lstStyle/>
          <a:p>
            <a:r>
              <a:rPr kumimoji="1" lang="zh-CN" altLang="en-US" sz="2400" b="1" dirty="0" smtClean="0"/>
              <a:t>常见的选择器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</a:t>
            </a: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(</a:t>
            </a:r>
            <a:r>
              <a:rPr kumimoji="1" lang="zh-CN" altLang="en-US" dirty="0" smtClean="0"/>
              <a:t>一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 标签选择器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   </a:t>
            </a:r>
            <a:r>
              <a:rPr kumimoji="1" lang="en-US" altLang="zh-CN" dirty="0" smtClean="0"/>
              <a:t>tagName</a:t>
            </a:r>
          </a:p>
          <a:p>
            <a:pPr marL="0" indent="0">
              <a:buNone/>
            </a:pP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(</a:t>
            </a:r>
            <a:r>
              <a:rPr kumimoji="1" lang="zh-CN" altLang="en-US" dirty="0" smtClean="0"/>
              <a:t>二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 类选择器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  </a:t>
            </a:r>
            <a:r>
              <a:rPr kumimoji="1" lang="en-US" altLang="zh-CN" dirty="0" smtClean="0"/>
              <a:t>.className</a:t>
            </a:r>
          </a:p>
          <a:p>
            <a:pPr marL="0" indent="0">
              <a:buNone/>
            </a:pP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(</a:t>
            </a:r>
            <a:r>
              <a:rPr kumimoji="1" lang="zh-CN" altLang="en-US" dirty="0" smtClean="0"/>
              <a:t>三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id</a:t>
            </a:r>
            <a:r>
              <a:rPr kumimoji="1" lang="zh-CN" altLang="en-US" dirty="0" smtClean="0"/>
              <a:t>选择器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   </a:t>
            </a:r>
            <a:r>
              <a:rPr kumimoji="1" lang="zh-CN" altLang="en-US" dirty="0" smtClean="0"/>
              <a:t>  #</a:t>
            </a:r>
            <a:r>
              <a:rPr kumimoji="1" lang="en-US" altLang="zh-CN" dirty="0" smtClean="0"/>
              <a:t>id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</a:t>
            </a:r>
            <a:r>
              <a:rPr kumimoji="1" lang="en-US" altLang="zh-CN" dirty="0" smtClean="0"/>
              <a:t>(</a:t>
            </a:r>
            <a:r>
              <a:rPr kumimoji="1" lang="zh-CN" altLang="en-US" dirty="0" smtClean="0"/>
              <a:t>四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 后代选择器</a:t>
            </a:r>
            <a:r>
              <a:rPr kumimoji="1" lang="en-US" altLang="zh-CN" dirty="0" smtClean="0"/>
              <a:t>(</a:t>
            </a:r>
            <a:r>
              <a:rPr kumimoji="1" lang="zh-CN" altLang="en-US" dirty="0" smtClean="0"/>
              <a:t>多个选择器之间用空格隔开</a:t>
            </a:r>
            <a:r>
              <a:rPr kumimoji="1" lang="en-US" altLang="zh-CN" dirty="0" smtClean="0"/>
              <a:t>)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   </a:t>
            </a:r>
            <a:r>
              <a:rPr kumimoji="1" lang="en-US" altLang="zh-CN" dirty="0" smtClean="0"/>
              <a:t>tagName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.className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    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603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501346"/>
            <a:ext cx="8128599" cy="6032868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</a:t>
            </a: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(</a:t>
            </a:r>
            <a:r>
              <a:rPr kumimoji="1" lang="zh-CN" altLang="en-US" dirty="0" smtClean="0"/>
              <a:t>五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 群组选择器（多个选择器之间用逗号隔开）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   </a:t>
            </a:r>
            <a:r>
              <a:rPr kumimoji="1" lang="en-US" altLang="zh-CN" dirty="0"/>
              <a:t>tagName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.className</a:t>
            </a:r>
          </a:p>
          <a:p>
            <a:pPr marL="0" indent="0">
              <a:buNone/>
            </a:pP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(</a:t>
            </a:r>
            <a:r>
              <a:rPr kumimoji="1" lang="zh-CN" altLang="en-US" dirty="0" smtClean="0"/>
              <a:t>六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 直接后代选择器（多个选择器用之间用</a:t>
            </a:r>
            <a:r>
              <a:rPr kumimoji="1" lang="zh-CN" altLang="zh-CN" dirty="0" smtClean="0"/>
              <a:t>&gt;</a:t>
            </a:r>
            <a:r>
              <a:rPr kumimoji="1" lang="zh-CN" altLang="en-US" dirty="0" smtClean="0"/>
              <a:t>号隔开）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   </a:t>
            </a:r>
            <a:r>
              <a:rPr kumimoji="1" lang="en-US" altLang="zh-CN" dirty="0" smtClean="0"/>
              <a:t>tagName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&gt;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.className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marL="0" indent="0">
              <a:buNone/>
            </a:pP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(</a:t>
            </a:r>
            <a:r>
              <a:rPr kumimoji="1" lang="zh-CN" altLang="en-US" dirty="0" smtClean="0"/>
              <a:t>七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 属性选择器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      </a:t>
            </a:r>
            <a:r>
              <a:rPr kumimoji="1" lang="en-US" altLang="zh-CN" dirty="0" smtClean="0"/>
              <a:t>tagName</a:t>
            </a:r>
            <a:r>
              <a:rPr kumimoji="1" lang="zh-CN" altLang="zh-CN" dirty="0" smtClean="0"/>
              <a:t>[</a:t>
            </a:r>
            <a:r>
              <a:rPr kumimoji="1" lang="en-US" altLang="zh-CN" dirty="0" smtClean="0"/>
              <a:t>attrName=“attrValue”]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</a:t>
            </a:r>
            <a:r>
              <a:rPr kumimoji="1" lang="en-US" altLang="zh-CN" dirty="0" smtClean="0"/>
              <a:t>(</a:t>
            </a:r>
            <a:r>
              <a:rPr kumimoji="1" lang="zh-CN" altLang="en-US" dirty="0" smtClean="0"/>
              <a:t>八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 选择器组合</a:t>
            </a:r>
            <a:r>
              <a:rPr kumimoji="1" lang="en-US" altLang="zh-CN" dirty="0" smtClean="0"/>
              <a:t>(</a:t>
            </a:r>
            <a:r>
              <a:rPr kumimoji="1" lang="zh-CN" altLang="en-US" dirty="0" smtClean="0"/>
              <a:t>多个选择器黏在一起</a:t>
            </a:r>
            <a:r>
              <a:rPr kumimoji="1" lang="en-US" altLang="zh-CN" dirty="0" smtClean="0"/>
              <a:t>)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   </a:t>
            </a:r>
            <a:r>
              <a:rPr kumimoji="1" lang="en-US" altLang="zh-CN" dirty="0" smtClean="0"/>
              <a:t>tagName.className#id</a:t>
            </a:r>
          </a:p>
          <a:p>
            <a:pPr marL="0" indent="0">
              <a:buNone/>
            </a:pP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(</a:t>
            </a:r>
            <a:r>
              <a:rPr kumimoji="1" lang="zh-CN" altLang="en-US" dirty="0" smtClean="0"/>
              <a:t>九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 伪类  </a:t>
            </a:r>
            <a:r>
              <a:rPr kumimoji="1" lang="en-US" altLang="zh-CN" dirty="0" err="1" smtClean="0"/>
              <a:t>tagName:hover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    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223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784226"/>
            <a:ext cx="8128599" cy="4675188"/>
          </a:xfrm>
        </p:spPr>
        <p:txBody>
          <a:bodyPr/>
          <a:lstStyle/>
          <a:p>
            <a:r>
              <a:rPr kumimoji="1" lang="zh-CN" altLang="en-US" sz="2400" b="1" dirty="0"/>
              <a:t>进阶</a:t>
            </a:r>
            <a:endParaRPr kumimoji="1" lang="en-US" altLang="zh-CN" sz="2400" b="1" dirty="0"/>
          </a:p>
          <a:p>
            <a:pPr marL="0" indent="0">
              <a:buNone/>
            </a:pPr>
            <a:endParaRPr kumimoji="1" lang="en-US" altLang="zh-CN" dirty="0" smtClean="0"/>
          </a:p>
          <a:p>
            <a:pPr>
              <a:buFontTx/>
              <a:buChar char="-"/>
            </a:pPr>
            <a:r>
              <a:rPr kumimoji="1" lang="zh-CN" altLang="en-US" dirty="0" smtClean="0"/>
              <a:t>搞定百度</a:t>
            </a:r>
            <a:r>
              <a:rPr kumimoji="1" lang="zh-CN" altLang="en-US" dirty="0" smtClean="0"/>
              <a:t>等四个</a:t>
            </a:r>
            <a:r>
              <a:rPr kumimoji="1" lang="zh-CN" altLang="en-US" dirty="0" smtClean="0"/>
              <a:t>综合小案例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1120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二、</a:t>
            </a:r>
            <a:r>
              <a:rPr kumimoji="1" lang="en-US" altLang="zh-CN" dirty="0" smtClean="0"/>
              <a:t>JS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b="1" dirty="0" smtClean="0"/>
              <a:t>节点的基本操作（</a:t>
            </a:r>
            <a:r>
              <a:rPr kumimoji="1" lang="en-US" altLang="zh-CN" sz="2400" b="1" dirty="0" smtClean="0"/>
              <a:t>CRUD</a:t>
            </a:r>
            <a:r>
              <a:rPr kumimoji="1" lang="zh-CN" altLang="en-US" sz="2400" b="1" dirty="0" smtClean="0"/>
              <a:t>）</a:t>
            </a:r>
            <a:endParaRPr kumimoji="1" lang="en-US" altLang="zh-CN" sz="2400" b="1" dirty="0" smtClean="0"/>
          </a:p>
          <a:p>
            <a:pPr marL="0" indent="0">
              <a:buNone/>
            </a:pPr>
            <a:r>
              <a:rPr kumimoji="1" lang="zh-CN" altLang="en-US" dirty="0" smtClean="0"/>
              <a:t> （一）</a:t>
            </a:r>
            <a:r>
              <a:rPr kumimoji="1" lang="en-US" altLang="zh-CN" dirty="0" smtClean="0"/>
              <a:t>create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(C)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var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div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=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document.createElement</a:t>
            </a:r>
            <a:r>
              <a:rPr kumimoji="1" lang="zh-CN" altLang="zh-CN" dirty="0" smtClean="0"/>
              <a:t>(</a:t>
            </a:r>
            <a:r>
              <a:rPr kumimoji="1" lang="en-US" altLang="zh-CN" dirty="0" smtClean="0"/>
              <a:t>‘div’);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document.body.appendChild(div);</a:t>
            </a:r>
            <a:r>
              <a:rPr kumimoji="1" lang="zh-CN" altLang="en-US" dirty="0" smtClean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</a:t>
            </a:r>
            <a:r>
              <a:rPr kumimoji="1" lang="zh-CN" altLang="en-US" dirty="0" smtClean="0"/>
              <a:t>（二）</a:t>
            </a:r>
            <a:r>
              <a:rPr kumimoji="1" lang="en-US" altLang="zh-CN" dirty="0" smtClean="0"/>
              <a:t>read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(R)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  </a:t>
            </a: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var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div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=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document.getElementById(‘div’);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</a:t>
            </a:r>
            <a:r>
              <a:rPr kumimoji="1" lang="zh-CN" altLang="en-US" dirty="0"/>
              <a:t> </a:t>
            </a:r>
            <a:r>
              <a:rPr kumimoji="1" lang="en-US" altLang="zh-CN" dirty="0"/>
              <a:t>div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document.getElementsByTagName(</a:t>
            </a:r>
            <a:r>
              <a:rPr kumimoji="1" lang="en-US" altLang="zh-CN" dirty="0"/>
              <a:t>‘div’</a:t>
            </a:r>
            <a:r>
              <a:rPr kumimoji="1" lang="en-US" altLang="zh-CN" dirty="0" smtClean="0"/>
              <a:t>)[0];</a:t>
            </a:r>
          </a:p>
          <a:p>
            <a:pPr marL="0" indent="0">
              <a:buNone/>
            </a:pPr>
            <a:r>
              <a:rPr kumimoji="1" lang="zh-CN" altLang="en-US" dirty="0"/>
              <a:t> </a:t>
            </a: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var</a:t>
            </a:r>
            <a:r>
              <a:rPr kumimoji="1" lang="zh-CN" altLang="en-US" dirty="0" smtClean="0"/>
              <a:t> </a:t>
            </a:r>
            <a:r>
              <a:rPr kumimoji="1" lang="en-US" altLang="zh-CN" dirty="0"/>
              <a:t>div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document.getElementsByClassName(</a:t>
            </a:r>
            <a:r>
              <a:rPr kumimoji="1" lang="en-US" altLang="zh-CN" dirty="0"/>
              <a:t>‘div’</a:t>
            </a:r>
            <a:r>
              <a:rPr kumimoji="1" lang="en-US" altLang="zh-CN" dirty="0" smtClean="0"/>
              <a:t>)[0];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 </a:t>
            </a: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var</a:t>
            </a:r>
            <a:r>
              <a:rPr kumimoji="1" lang="zh-CN" altLang="en-US" dirty="0" smtClean="0"/>
              <a:t> </a:t>
            </a:r>
            <a:r>
              <a:rPr kumimoji="1" lang="en-US" altLang="zh-CN" dirty="0"/>
              <a:t>div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document.getElementsByName(</a:t>
            </a:r>
            <a:r>
              <a:rPr kumimoji="1" lang="en-US" altLang="zh-CN" dirty="0"/>
              <a:t>‘div’</a:t>
            </a:r>
            <a:r>
              <a:rPr kumimoji="1" lang="en-US" altLang="zh-CN" dirty="0" smtClean="0"/>
              <a:t>)[0];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 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 smtClean="0"/>
              <a:t> 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8770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847726"/>
            <a:ext cx="8128599" cy="4675188"/>
          </a:xfrm>
        </p:spPr>
        <p:txBody>
          <a:bodyPr/>
          <a:lstStyle/>
          <a:p>
            <a:r>
              <a:rPr kumimoji="1" lang="zh-CN" altLang="en-US" sz="2400" b="1" dirty="0" smtClean="0"/>
              <a:t>节点的基本操作（</a:t>
            </a:r>
            <a:r>
              <a:rPr kumimoji="1" lang="en-US" altLang="zh-CN" sz="2400" b="1" dirty="0" smtClean="0"/>
              <a:t>CRUD</a:t>
            </a:r>
            <a:r>
              <a:rPr kumimoji="1" lang="zh-CN" altLang="en-US" sz="2400" b="1" dirty="0" smtClean="0"/>
              <a:t>）</a:t>
            </a:r>
            <a:endParaRPr kumimoji="1" lang="en-US" altLang="zh-CN" sz="2400" b="1" dirty="0" smtClean="0"/>
          </a:p>
          <a:p>
            <a:pPr marL="0" indent="0">
              <a:buNone/>
            </a:pP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en-US" dirty="0" smtClean="0"/>
              <a:t>（一）</a:t>
            </a:r>
            <a:r>
              <a:rPr kumimoji="1" lang="en-US" altLang="zh-CN" dirty="0" smtClean="0"/>
              <a:t>update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(U)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 smtClean="0"/>
              <a:t>    </a:t>
            </a:r>
            <a:r>
              <a:rPr kumimoji="1" lang="en-US" altLang="zh-CN" dirty="0"/>
              <a:t>var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img</a:t>
            </a:r>
            <a:r>
              <a:rPr kumimoji="1" lang="zh-CN" altLang="en-US" dirty="0" smtClean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document.getElementById(</a:t>
            </a:r>
            <a:r>
              <a:rPr kumimoji="1" lang="en-US" altLang="zh-CN" dirty="0" smtClean="0"/>
              <a:t>‘logo’</a:t>
            </a:r>
            <a:r>
              <a:rPr kumimoji="1" lang="en-US" altLang="zh-CN" dirty="0"/>
              <a:t>)</a:t>
            </a:r>
            <a:r>
              <a:rPr kumimoji="1" lang="en-US" altLang="zh-CN" dirty="0" smtClean="0"/>
              <a:t>;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</a:t>
            </a:r>
            <a:r>
              <a:rPr kumimoji="1" lang="zh-CN" altLang="zh-CN" dirty="0"/>
              <a:t> </a:t>
            </a:r>
            <a:r>
              <a:rPr kumimoji="1" lang="en-US" altLang="zh-CN" dirty="0" smtClean="0"/>
              <a:t>img.src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=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‘images/logo.jpg’;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</a:t>
            </a:r>
            <a:r>
              <a:rPr kumimoji="1" lang="zh-CN" altLang="en-US" dirty="0" smtClean="0"/>
              <a:t>（二）</a:t>
            </a:r>
            <a:r>
              <a:rPr kumimoji="1" lang="en-US" altLang="zh-CN" dirty="0" smtClean="0"/>
              <a:t>delete(D)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  </a:t>
            </a:r>
            <a:r>
              <a:rPr kumimoji="1" lang="zh-CN" altLang="en-US" dirty="0" smtClean="0"/>
              <a:t> </a:t>
            </a:r>
            <a:r>
              <a:rPr kumimoji="1" lang="en-US" altLang="zh-CN" dirty="0"/>
              <a:t>var</a:t>
            </a:r>
            <a:r>
              <a:rPr kumimoji="1" lang="zh-CN" altLang="en-US" dirty="0"/>
              <a:t> </a:t>
            </a:r>
            <a:r>
              <a:rPr kumimoji="1" lang="en-US" altLang="zh-CN" dirty="0"/>
              <a:t>img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document.getElementById(‘logo’);</a:t>
            </a:r>
          </a:p>
          <a:p>
            <a:pPr marL="0" indent="0">
              <a:buNone/>
            </a:pP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 </a:t>
            </a:r>
            <a:r>
              <a:rPr kumimoji="1" lang="zh-CN" altLang="zh-CN" dirty="0"/>
              <a:t> </a:t>
            </a:r>
            <a:r>
              <a:rPr kumimoji="1" lang="en-US" altLang="zh-CN" dirty="0" smtClean="0"/>
              <a:t>img.parentNode.removeChild</a:t>
            </a:r>
            <a:r>
              <a:rPr kumimoji="1" lang="zh-CN" altLang="zh-CN" dirty="0" smtClean="0"/>
              <a:t>(</a:t>
            </a:r>
            <a:r>
              <a:rPr kumimoji="1" lang="en-US" altLang="zh-CN" dirty="0" smtClean="0"/>
              <a:t>img);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或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</a:t>
            </a:r>
            <a:r>
              <a:rPr kumimoji="1" lang="zh-CN" altLang="zh-CN" dirty="0"/>
              <a:t> </a:t>
            </a:r>
            <a:r>
              <a:rPr kumimoji="1" lang="en-US" altLang="zh-CN" dirty="0" smtClean="0"/>
              <a:t>img.remove();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 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 smtClean="0"/>
              <a:t> 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206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847725"/>
            <a:ext cx="8128599" cy="5486399"/>
          </a:xfrm>
        </p:spPr>
        <p:txBody>
          <a:bodyPr/>
          <a:lstStyle/>
          <a:p>
            <a:r>
              <a:rPr kumimoji="1" lang="zh-CN" altLang="en-US" sz="2400" b="1" dirty="0" smtClean="0"/>
              <a:t>事件绑定</a:t>
            </a:r>
            <a:endParaRPr kumimoji="1" lang="en-US" altLang="zh-CN" sz="2400" b="1" dirty="0" smtClean="0"/>
          </a:p>
          <a:p>
            <a:pPr marL="0" indent="0">
              <a:buNone/>
            </a:pP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en-US" dirty="0" smtClean="0"/>
              <a:t>（一）推荐做法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 smtClean="0"/>
              <a:t>    </a:t>
            </a:r>
            <a:r>
              <a:rPr kumimoji="1" lang="en-US" altLang="zh-CN" dirty="0"/>
              <a:t>var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button=</a:t>
            </a:r>
            <a:r>
              <a:rPr kumimoji="1" lang="zh-CN" altLang="en-US" dirty="0" smtClean="0"/>
              <a:t> </a:t>
            </a:r>
            <a:r>
              <a:rPr kumimoji="1" lang="en-US" altLang="zh-CN" dirty="0"/>
              <a:t>document.getElementById(</a:t>
            </a:r>
            <a:r>
              <a:rPr kumimoji="1" lang="en-US" altLang="zh-CN" dirty="0" smtClean="0"/>
              <a:t>‘login’</a:t>
            </a:r>
            <a:r>
              <a:rPr kumimoji="1" lang="en-US" altLang="zh-CN" dirty="0"/>
              <a:t>)</a:t>
            </a:r>
            <a:r>
              <a:rPr kumimoji="1" lang="en-US" altLang="zh-CN" dirty="0" smtClean="0"/>
              <a:t>;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</a:t>
            </a:r>
            <a:r>
              <a:rPr kumimoji="1" lang="zh-CN" altLang="zh-CN" dirty="0"/>
              <a:t> </a:t>
            </a:r>
            <a:r>
              <a:rPr kumimoji="1" lang="en-US" altLang="zh-CN" dirty="0" smtClean="0"/>
              <a:t>button.onclick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=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function(){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 </a:t>
            </a:r>
            <a:r>
              <a:rPr kumimoji="1" lang="en-US" altLang="zh-CN" dirty="0" smtClean="0"/>
              <a:t>//</a:t>
            </a:r>
            <a:r>
              <a:rPr kumimoji="1" lang="zh-CN" altLang="en-US" dirty="0" smtClean="0"/>
              <a:t> 实现点击按钮想做的事情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}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</a:t>
            </a:r>
            <a:r>
              <a:rPr kumimoji="1" lang="zh-CN" altLang="en-US" dirty="0" smtClean="0"/>
              <a:t>（二）直接写到标签的内部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  </a:t>
            </a:r>
            <a:r>
              <a:rPr kumimoji="1" lang="zh-CN" altLang="en-US" dirty="0" smtClean="0"/>
              <a:t> </a:t>
            </a:r>
            <a:r>
              <a:rPr kumimoji="1" lang="zh-CN" altLang="zh-CN" dirty="0" smtClean="0"/>
              <a:t>&lt;</a:t>
            </a:r>
            <a:r>
              <a:rPr kumimoji="1" lang="en-US" altLang="zh-CN" dirty="0" smtClean="0"/>
              <a:t>button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onclick=“var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age</a:t>
            </a:r>
            <a:r>
              <a:rPr kumimoji="1" lang="zh-CN" altLang="en-US" dirty="0" smtClean="0"/>
              <a:t>=</a:t>
            </a:r>
            <a:r>
              <a:rPr kumimoji="1" lang="en-US" altLang="zh-CN" dirty="0" smtClean="0"/>
              <a:t>20;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alter(age);”&gt;</a:t>
            </a:r>
            <a:r>
              <a:rPr kumimoji="1" lang="zh-CN" altLang="en-US" dirty="0" smtClean="0"/>
              <a:t>登录</a:t>
            </a:r>
            <a:r>
              <a:rPr kumimoji="1" lang="zh-CN" altLang="zh-CN" dirty="0" smtClean="0"/>
              <a:t>&lt;</a:t>
            </a:r>
            <a:r>
              <a:rPr kumimoji="1" lang="en-US" altLang="zh-CN" dirty="0" smtClean="0"/>
              <a:t>/button&gt;</a:t>
            </a:r>
          </a:p>
          <a:p>
            <a:pPr marL="0" indent="0">
              <a:buNone/>
            </a:pP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 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 smtClean="0"/>
              <a:t> 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734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847725"/>
            <a:ext cx="8128599" cy="5486399"/>
          </a:xfrm>
        </p:spPr>
        <p:txBody>
          <a:bodyPr/>
          <a:lstStyle/>
          <a:p>
            <a:r>
              <a:rPr kumimoji="1" lang="zh-CN" altLang="en-US" sz="2400" b="1" dirty="0" smtClean="0"/>
              <a:t>事件绑定</a:t>
            </a:r>
            <a:endParaRPr kumimoji="1" lang="en-US" altLang="zh-CN" sz="2400" b="1" dirty="0" smtClean="0"/>
          </a:p>
          <a:p>
            <a:pPr marL="0" indent="0">
              <a:buNone/>
            </a:pP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en-US" dirty="0" smtClean="0"/>
              <a:t>（三）不常用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function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login(){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 </a:t>
            </a:r>
            <a:r>
              <a:rPr kumimoji="1" lang="en-US" altLang="zh-CN" dirty="0" smtClean="0"/>
              <a:t>//</a:t>
            </a:r>
            <a:r>
              <a:rPr kumimoji="1" lang="zh-CN" altLang="en-US" dirty="0" smtClean="0"/>
              <a:t> 实现点击按钮想做的事情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}</a:t>
            </a:r>
          </a:p>
          <a:p>
            <a:pPr marL="0" indent="0">
              <a:buNone/>
            </a:pP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var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button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=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document.getElementById(</a:t>
            </a:r>
            <a:r>
              <a:rPr kumimoji="1" lang="zh-CN" altLang="en-US" dirty="0" smtClean="0"/>
              <a:t>‘</a:t>
            </a:r>
            <a:r>
              <a:rPr kumimoji="1" lang="en-US" altLang="zh-CN" dirty="0" smtClean="0"/>
              <a:t>login</a:t>
            </a:r>
            <a:r>
              <a:rPr kumimoji="1" lang="zh-CN" altLang="en-US" dirty="0" smtClean="0"/>
              <a:t>’</a:t>
            </a:r>
            <a:r>
              <a:rPr kumimoji="1" lang="en-US" altLang="zh-CN" dirty="0" smtClean="0"/>
              <a:t>);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button.onclick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login();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</a:t>
            </a:r>
            <a:r>
              <a:rPr kumimoji="1" lang="zh-CN" altLang="en-US" dirty="0" smtClean="0"/>
              <a:t> 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509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1156" y="298109"/>
            <a:ext cx="8128599" cy="827471"/>
          </a:xfrm>
        </p:spPr>
        <p:txBody>
          <a:bodyPr/>
          <a:lstStyle/>
          <a:p>
            <a:r>
              <a:rPr kumimoji="1" lang="en-US" altLang="en-US" dirty="0" smtClean="0"/>
              <a:t>三</a:t>
            </a:r>
            <a:r>
              <a:rPr kumimoji="1" lang="zh-CN" altLang="en-US" dirty="0" smtClean="0"/>
              <a:t>、</a:t>
            </a:r>
            <a:r>
              <a:rPr kumimoji="1" lang="en-US" altLang="zh-CN" dirty="0" smtClean="0"/>
              <a:t>jQuery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102962"/>
            <a:ext cx="8128599" cy="5023202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zh-CN" dirty="0"/>
              <a:t>（</a:t>
            </a:r>
            <a:r>
              <a:rPr kumimoji="1" lang="zh-CN" altLang="en-US" dirty="0"/>
              <a:t>一</a:t>
            </a:r>
            <a:r>
              <a:rPr kumimoji="1" lang="zh-CN" altLang="en-US" dirty="0" smtClean="0"/>
              <a:t>）通过选择器查找元素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</a:t>
            </a: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a)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$(</a:t>
            </a:r>
            <a:r>
              <a:rPr kumimoji="1" lang="zh-CN" altLang="en-US" dirty="0" smtClean="0"/>
              <a:t>‘选择器’</a:t>
            </a:r>
            <a:r>
              <a:rPr kumimoji="1" lang="en-US" altLang="zh-CN" dirty="0" smtClean="0"/>
              <a:t>)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b)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jQuery</a:t>
            </a:r>
            <a:r>
              <a:rPr kumimoji="1" lang="zh-CN" altLang="en-US" dirty="0" smtClean="0"/>
              <a:t>支持绝大多数</a:t>
            </a:r>
            <a:r>
              <a:rPr kumimoji="1" lang="en-US" altLang="zh-CN" dirty="0" err="1" smtClean="0"/>
              <a:t>css</a:t>
            </a:r>
            <a:r>
              <a:rPr kumimoji="1" lang="zh-CN" altLang="en-US" dirty="0" smtClean="0"/>
              <a:t>选择器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en-US" dirty="0" smtClean="0"/>
              <a:t> 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（二</a:t>
            </a:r>
            <a:r>
              <a:rPr kumimoji="1" lang="zh-CN" altLang="en-US" dirty="0" smtClean="0"/>
              <a:t>）属性操作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a)</a:t>
            </a:r>
            <a:r>
              <a:rPr kumimoji="1" lang="zh-CN" altLang="en-US" dirty="0" smtClean="0"/>
              <a:t> 获得属性    </a:t>
            </a:r>
            <a:r>
              <a:rPr kumimoji="1" lang="en-US" altLang="zh-CN" dirty="0"/>
              <a:t>$(</a:t>
            </a:r>
            <a:r>
              <a:rPr kumimoji="1" lang="zh-CN" altLang="en-US" dirty="0"/>
              <a:t>‘选择器’</a:t>
            </a:r>
            <a:r>
              <a:rPr kumimoji="1" lang="en-US" altLang="zh-CN" dirty="0" smtClean="0"/>
              <a:t>).</a:t>
            </a:r>
            <a:r>
              <a:rPr kumimoji="1" lang="en-US" altLang="zh-CN" dirty="0" err="1" smtClean="0"/>
              <a:t>attr</a:t>
            </a:r>
            <a:r>
              <a:rPr kumimoji="1" lang="en-US" altLang="zh-CN" dirty="0" smtClean="0"/>
              <a:t>(‘</a:t>
            </a:r>
            <a:r>
              <a:rPr kumimoji="1" lang="zh-CN" altLang="en-US" dirty="0" smtClean="0"/>
              <a:t>属性名</a:t>
            </a:r>
            <a:r>
              <a:rPr kumimoji="1" lang="en-US" altLang="zh-CN" dirty="0" smtClean="0"/>
              <a:t>’)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  </a:t>
            </a:r>
            <a:r>
              <a:rPr kumimoji="1" lang="en-US" altLang="zh-CN" dirty="0"/>
              <a:t>b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 设置属性    </a:t>
            </a:r>
            <a:r>
              <a:rPr kumimoji="1" lang="en-US" altLang="zh-CN" dirty="0" smtClean="0"/>
              <a:t>$(‘</a:t>
            </a:r>
            <a:r>
              <a:rPr kumimoji="1" lang="zh-CN" altLang="en-US" dirty="0" smtClean="0"/>
              <a:t>选择器</a:t>
            </a:r>
            <a:r>
              <a:rPr kumimoji="1" lang="en-US" altLang="zh-CN" dirty="0" smtClean="0"/>
              <a:t>’).</a:t>
            </a:r>
            <a:r>
              <a:rPr kumimoji="1" lang="en-US" altLang="zh-CN" dirty="0" err="1" smtClean="0"/>
              <a:t>attr</a:t>
            </a:r>
            <a:r>
              <a:rPr kumimoji="1" lang="en-US" altLang="zh-CN" dirty="0" smtClean="0"/>
              <a:t>(‘</a:t>
            </a:r>
            <a:r>
              <a:rPr kumimoji="1" lang="zh-CN" altLang="en-US" dirty="0" smtClean="0"/>
              <a:t>属性名</a:t>
            </a:r>
            <a:r>
              <a:rPr kumimoji="1" lang="en-US" altLang="zh-CN" dirty="0" smtClean="0"/>
              <a:t>’,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‘</a:t>
            </a:r>
            <a:r>
              <a:rPr kumimoji="1" lang="zh-CN" altLang="en-US" dirty="0" smtClean="0"/>
              <a:t>属性值</a:t>
            </a:r>
            <a:r>
              <a:rPr kumimoji="1" lang="en-US" altLang="zh-CN" dirty="0" smtClean="0"/>
              <a:t>’)</a:t>
            </a:r>
          </a:p>
          <a:p>
            <a:pPr marL="0" indent="0">
              <a:buNone/>
            </a:pP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en-US" dirty="0" smtClean="0"/>
              <a:t>（三）显示和隐藏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  </a:t>
            </a:r>
            <a:r>
              <a:rPr kumimoji="1" lang="en-US" altLang="zh-CN" dirty="0"/>
              <a:t>a)</a:t>
            </a:r>
            <a:r>
              <a:rPr kumimoji="1" lang="zh-CN" altLang="en-US" dirty="0"/>
              <a:t> </a:t>
            </a:r>
            <a:r>
              <a:rPr kumimoji="1" lang="zh-CN" altLang="en-US" dirty="0" smtClean="0"/>
              <a:t>显示    </a:t>
            </a:r>
            <a:r>
              <a:rPr kumimoji="1" lang="en-US" altLang="zh-CN" dirty="0"/>
              <a:t>$(</a:t>
            </a:r>
            <a:r>
              <a:rPr kumimoji="1" lang="zh-CN" altLang="en-US" dirty="0"/>
              <a:t>‘选择器’</a:t>
            </a:r>
            <a:r>
              <a:rPr kumimoji="1" lang="en-US" altLang="zh-CN" dirty="0"/>
              <a:t>)</a:t>
            </a:r>
            <a:r>
              <a:rPr kumimoji="1" lang="en-US" altLang="zh-CN" dirty="0" smtClean="0"/>
              <a:t>.show()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  </a:t>
            </a:r>
            <a:r>
              <a:rPr kumimoji="1" lang="en-US" altLang="zh-CN" dirty="0"/>
              <a:t>b)</a:t>
            </a:r>
            <a:r>
              <a:rPr kumimoji="1" lang="zh-CN" altLang="en-US" dirty="0"/>
              <a:t> </a:t>
            </a:r>
            <a:r>
              <a:rPr kumimoji="1" lang="zh-CN" altLang="en-US" dirty="0" smtClean="0"/>
              <a:t>隐藏    </a:t>
            </a:r>
            <a:r>
              <a:rPr kumimoji="1" lang="en-US" altLang="zh-CN" dirty="0"/>
              <a:t>$(‘</a:t>
            </a:r>
            <a:r>
              <a:rPr kumimoji="1" lang="zh-CN" altLang="en-US" dirty="0"/>
              <a:t>选择器</a:t>
            </a:r>
            <a:r>
              <a:rPr kumimoji="1" lang="en-US" altLang="zh-CN" dirty="0"/>
              <a:t>’)</a:t>
            </a:r>
            <a:r>
              <a:rPr kumimoji="1" lang="en-US" altLang="zh-CN" dirty="0" smtClean="0"/>
              <a:t>.hide()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</a:t>
            </a:r>
            <a:r>
              <a:rPr kumimoji="1" lang="zh-CN" altLang="zh-CN" dirty="0" smtClean="0"/>
              <a:t> </a:t>
            </a:r>
            <a:r>
              <a:rPr kumimoji="1" lang="en-US" altLang="zh-CN" dirty="0" smtClean="0"/>
              <a:t>c)</a:t>
            </a:r>
            <a:r>
              <a:rPr kumimoji="1" lang="zh-CN" altLang="en-US" dirty="0" smtClean="0"/>
              <a:t> 显示和隐藏  </a:t>
            </a:r>
            <a:r>
              <a:rPr kumimoji="1" lang="en-US" altLang="zh-CN" dirty="0" smtClean="0"/>
              <a:t>$(‘</a:t>
            </a:r>
            <a:r>
              <a:rPr kumimoji="1" lang="zh-CN" altLang="en-US" dirty="0" smtClean="0"/>
              <a:t>选择器</a:t>
            </a:r>
            <a:r>
              <a:rPr kumimoji="1" lang="en-US" altLang="zh-CN" dirty="0" smtClean="0"/>
              <a:t>’).toggle()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 smtClean="0"/>
              <a:t> 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25177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768731"/>
            <a:ext cx="8128599" cy="5357433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sz="2400" dirty="0"/>
              <a:t>（</a:t>
            </a:r>
            <a:r>
              <a:rPr kumimoji="1" lang="en-US" altLang="en-US" sz="2400" dirty="0"/>
              <a:t>四</a:t>
            </a:r>
            <a:r>
              <a:rPr kumimoji="1" lang="zh-CN" altLang="en-US" sz="2400" dirty="0"/>
              <a:t>）事件绑定</a:t>
            </a:r>
            <a:endParaRPr kumimoji="1" lang="en-US" altLang="zh-CN" sz="2400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  </a:t>
            </a:r>
            <a:r>
              <a:rPr kumimoji="1" lang="en-US" altLang="zh-CN" dirty="0"/>
              <a:t>a</a:t>
            </a:r>
            <a:r>
              <a:rPr kumimoji="1" lang="en-US" altLang="zh-CN" dirty="0" smtClean="0"/>
              <a:t>)</a:t>
            </a:r>
            <a:r>
              <a:rPr kumimoji="1" lang="zh-CN" altLang="en-US" dirty="0"/>
              <a:t> </a:t>
            </a:r>
            <a:r>
              <a:rPr kumimoji="1" lang="zh-CN" altLang="en-US" dirty="0" smtClean="0"/>
              <a:t>点击事件 （常用）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$(‘</a:t>
            </a:r>
            <a:r>
              <a:rPr kumimoji="1" lang="zh-CN" altLang="en-US" dirty="0" smtClean="0"/>
              <a:t>选择器</a:t>
            </a:r>
            <a:r>
              <a:rPr kumimoji="1" lang="en-US" altLang="zh-CN" dirty="0" smtClean="0"/>
              <a:t>’).click(function(){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   </a:t>
            </a:r>
            <a:r>
              <a:rPr kumimoji="1" lang="en-US" altLang="zh-CN" dirty="0" smtClean="0"/>
              <a:t>//</a:t>
            </a:r>
            <a:r>
              <a:rPr kumimoji="1" lang="zh-CN" altLang="en-US" dirty="0" smtClean="0"/>
              <a:t> 实现点击按钮想做的事情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});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  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b)</a:t>
            </a:r>
            <a:r>
              <a:rPr kumimoji="1" lang="zh-CN" altLang="en-US" dirty="0"/>
              <a:t> </a:t>
            </a:r>
            <a:r>
              <a:rPr kumimoji="1" lang="zh-CN" altLang="en-US" dirty="0" smtClean="0"/>
              <a:t>点击</a:t>
            </a:r>
            <a:r>
              <a:rPr kumimoji="1" lang="zh-CN" altLang="en-US" dirty="0"/>
              <a:t>事件 </a:t>
            </a:r>
            <a:r>
              <a:rPr kumimoji="1" lang="zh-CN" altLang="en-US" dirty="0" smtClean="0"/>
              <a:t>（不常用）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 </a:t>
            </a:r>
            <a:r>
              <a:rPr kumimoji="1" lang="en-US" altLang="zh-CN" dirty="0" smtClean="0"/>
              <a:t>function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login(</a:t>
            </a:r>
            <a:r>
              <a:rPr kumimoji="1" lang="en-US" altLang="zh-CN" dirty="0"/>
              <a:t>){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     </a:t>
            </a:r>
            <a:r>
              <a:rPr kumimoji="1" lang="en-US" altLang="zh-CN" dirty="0"/>
              <a:t>//</a:t>
            </a:r>
            <a:r>
              <a:rPr kumimoji="1" lang="zh-CN" altLang="en-US" dirty="0"/>
              <a:t> 实现点击按钮想做的事情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  </a:t>
            </a:r>
            <a:r>
              <a:rPr kumimoji="1" lang="en-US" altLang="zh-CN" dirty="0"/>
              <a:t>}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  </a:t>
            </a:r>
            <a:r>
              <a:rPr kumimoji="1" lang="en-US" altLang="zh-CN" dirty="0"/>
              <a:t>$(‘</a:t>
            </a:r>
            <a:r>
              <a:rPr kumimoji="1" lang="zh-CN" altLang="en-US" dirty="0"/>
              <a:t>选择器</a:t>
            </a:r>
            <a:r>
              <a:rPr kumimoji="1" lang="en-US" altLang="zh-CN" dirty="0"/>
              <a:t>’).click</a:t>
            </a:r>
            <a:r>
              <a:rPr kumimoji="1" lang="en-US" altLang="zh-CN" dirty="0" smtClean="0"/>
              <a:t>(login)</a:t>
            </a:r>
            <a:r>
              <a:rPr kumimoji="1" lang="en-US" altLang="zh-CN" dirty="0"/>
              <a:t>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930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四、参考手册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en-US" dirty="0" smtClean="0"/>
              <a:t>（一）</a:t>
            </a:r>
            <a:r>
              <a:rPr kumimoji="1" lang="en-US" altLang="zh-CN" dirty="0" smtClean="0">
                <a:hlinkClick r:id="rId2"/>
              </a:rPr>
              <a:t>www.w3cschool.com</a:t>
            </a:r>
            <a:endParaRPr kumimoji="1" lang="en-US" altLang="zh-CN" dirty="0" smtClean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</a:t>
            </a:r>
            <a:r>
              <a:rPr kumimoji="1" lang="zh-CN" altLang="en-US" dirty="0" smtClean="0"/>
              <a:t>（二）</a:t>
            </a:r>
            <a:r>
              <a:rPr kumimoji="1" lang="en-US" altLang="zh-CN" dirty="0">
                <a:hlinkClick r:id="rId3"/>
              </a:rPr>
              <a:t>http://www.php100.com/manual/</a:t>
            </a:r>
            <a:r>
              <a:rPr kumimoji="1" lang="en-US" altLang="zh-CN" dirty="0" err="1">
                <a:hlinkClick r:id="rId3"/>
              </a:rPr>
              <a:t>jquery</a:t>
            </a:r>
            <a:r>
              <a:rPr kumimoji="1" lang="en-US" altLang="zh-CN" dirty="0">
                <a:hlinkClick r:id="rId3"/>
              </a:rPr>
              <a:t>/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 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 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 smtClean="0"/>
              <a:t> 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12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 smtClean="0"/>
              <a:t>五</a:t>
            </a:r>
            <a:r>
              <a:rPr kumimoji="1" lang="zh-CN" altLang="en-US" dirty="0" smtClean="0"/>
              <a:t>、</a:t>
            </a:r>
            <a:r>
              <a:rPr kumimoji="1" lang="en-US" altLang="zh-CN" dirty="0" smtClean="0"/>
              <a:t>HTML5</a:t>
            </a:r>
            <a:r>
              <a:rPr kumimoji="1" lang="zh-CN" altLang="en-US" dirty="0" smtClean="0"/>
              <a:t>框架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2617" y="1450976"/>
            <a:ext cx="8645524" cy="4675188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</a:t>
            </a:r>
            <a:r>
              <a:rPr kumimoji="1" lang="zh-CN" altLang="en-US" sz="2400" dirty="0" smtClean="0">
                <a:solidFill>
                  <a:srgbClr val="FF0000"/>
                </a:solidFill>
              </a:rPr>
              <a:t>大部分框架都是为移动设备而写 </a:t>
            </a:r>
            <a:endParaRPr kumimoji="1" lang="en-US" altLang="zh-CN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kumimoji="1" lang="zh-CN" altLang="en-US" sz="2400" b="1" dirty="0" smtClean="0"/>
              <a:t>  </a:t>
            </a:r>
            <a:r>
              <a:rPr kumimoji="1" lang="zh-CN" altLang="zh-CN" sz="2400" b="1" dirty="0" smtClean="0"/>
              <a:t>1</a:t>
            </a:r>
            <a:r>
              <a:rPr kumimoji="1" lang="en-US" altLang="zh-CN" sz="2400" b="1" dirty="0" smtClean="0"/>
              <a:t>.</a:t>
            </a:r>
            <a:r>
              <a:rPr kumimoji="1" lang="zh-CN" altLang="en-US" sz="2400" b="1" dirty="0" smtClean="0"/>
              <a:t>特点</a:t>
            </a:r>
            <a:endParaRPr kumimoji="1" lang="en-US" altLang="zh-CN" sz="2400" b="1" dirty="0" smtClean="0"/>
          </a:p>
          <a:p>
            <a:pPr marL="0" indent="0">
              <a:buNone/>
            </a:pPr>
            <a:r>
              <a:rPr kumimoji="1" lang="zh-CN" altLang="zh-CN" sz="2400" b="1" dirty="0"/>
              <a:t> </a:t>
            </a:r>
            <a:r>
              <a:rPr kumimoji="1" lang="zh-CN" altLang="en-US" sz="2400" b="1" dirty="0" smtClean="0"/>
              <a:t> </a:t>
            </a:r>
            <a:r>
              <a:rPr kumimoji="1" lang="zh-CN" altLang="en-US" dirty="0"/>
              <a:t>   </a:t>
            </a:r>
            <a:r>
              <a:rPr kumimoji="1" lang="en-US" altLang="zh-CN" dirty="0"/>
              <a:t>a)</a:t>
            </a:r>
            <a:r>
              <a:rPr kumimoji="1" lang="zh-CN" altLang="en-US" dirty="0"/>
              <a:t> 有了</a:t>
            </a:r>
            <a:r>
              <a:rPr kumimoji="1" lang="en-US" altLang="zh-CN" dirty="0"/>
              <a:t>HTML5</a:t>
            </a:r>
            <a:r>
              <a:rPr kumimoji="1" lang="zh-CN" altLang="en-US" dirty="0"/>
              <a:t>框架</a:t>
            </a:r>
            <a:r>
              <a:rPr kumimoji="1" lang="zh-CN" altLang="en-US" dirty="0" smtClean="0"/>
              <a:t>，几行简</a:t>
            </a:r>
            <a:r>
              <a:rPr kumimoji="1" lang="zh-CN" altLang="en-US" dirty="0"/>
              <a:t>易的</a:t>
            </a:r>
            <a:r>
              <a:rPr kumimoji="1" lang="en-US" altLang="zh-CN" dirty="0"/>
              <a:t>js</a:t>
            </a:r>
            <a:r>
              <a:rPr kumimoji="1" lang="zh-CN" altLang="en-US" dirty="0"/>
              <a:t>代码，就能实现非常漂亮的手机</a:t>
            </a:r>
            <a:r>
              <a:rPr kumimoji="1" lang="zh-CN" altLang="en-US" dirty="0" smtClean="0"/>
              <a:t>界面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 </a:t>
            </a:r>
            <a:r>
              <a:rPr kumimoji="1" lang="en-US" altLang="zh-CN" dirty="0" smtClean="0"/>
              <a:t>b)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HTML5</a:t>
            </a:r>
            <a:r>
              <a:rPr kumimoji="1" lang="zh-CN" altLang="en-US" dirty="0" smtClean="0"/>
              <a:t>框架封装了大量的</a:t>
            </a:r>
            <a:r>
              <a:rPr kumimoji="1" lang="en-US" altLang="zh-CN" dirty="0" smtClean="0"/>
              <a:t>DOM</a:t>
            </a:r>
            <a:r>
              <a:rPr kumimoji="1" lang="zh-CN" altLang="en-US" dirty="0" smtClean="0"/>
              <a:t>节点操作，封装了大量的</a:t>
            </a:r>
            <a:r>
              <a:rPr kumimoji="1" lang="en-US" altLang="zh-CN" dirty="0" smtClean="0"/>
              <a:t>CSS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</a:t>
            </a:r>
            <a:r>
              <a:rPr kumimoji="1" lang="zh-CN" altLang="zh-CN" dirty="0"/>
              <a:t> </a:t>
            </a:r>
            <a:r>
              <a:rPr kumimoji="1" lang="en-US" altLang="zh-CN" dirty="0" smtClean="0"/>
              <a:t>c)</a:t>
            </a:r>
            <a:r>
              <a:rPr kumimoji="1" lang="zh-CN" altLang="en-US" dirty="0" smtClean="0"/>
              <a:t> 对</a:t>
            </a:r>
            <a:r>
              <a:rPr kumimoji="1" lang="en-US" altLang="zh-CN" dirty="0" smtClean="0"/>
              <a:t>JS</a:t>
            </a:r>
            <a:r>
              <a:rPr kumimoji="1" lang="zh-CN" altLang="en-US" dirty="0" smtClean="0"/>
              <a:t>要求较高，对</a:t>
            </a:r>
            <a:r>
              <a:rPr kumimoji="1" lang="en-US" altLang="zh-CN" dirty="0" smtClean="0"/>
              <a:t>CSS</a:t>
            </a:r>
            <a:r>
              <a:rPr kumimoji="1" lang="zh-CN" altLang="en-US" dirty="0" smtClean="0"/>
              <a:t>要求相对较低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sz="2400" b="1" dirty="0"/>
              <a:t>   </a:t>
            </a:r>
            <a:r>
              <a:rPr kumimoji="1" lang="en-US" altLang="zh-CN" sz="2400" b="1" dirty="0"/>
              <a:t>2</a:t>
            </a:r>
            <a:r>
              <a:rPr kumimoji="1" lang="en-US" altLang="zh-CN" sz="2400" b="1" dirty="0" smtClean="0"/>
              <a:t>.</a:t>
            </a:r>
            <a:r>
              <a:rPr kumimoji="1" lang="zh-CN" altLang="en-US" sz="2400" b="1" dirty="0" smtClean="0"/>
              <a:t>常见的</a:t>
            </a:r>
            <a:r>
              <a:rPr kumimoji="1" lang="en-US" altLang="zh-CN" sz="2400" b="1" dirty="0" smtClean="0"/>
              <a:t>HTML5</a:t>
            </a:r>
            <a:r>
              <a:rPr kumimoji="1" lang="zh-CN" altLang="en-US" sz="2400" b="1" dirty="0" smtClean="0"/>
              <a:t>框架</a:t>
            </a:r>
            <a:endParaRPr kumimoji="1" lang="en-US" altLang="zh-CN" sz="2400" b="1" dirty="0" smtClean="0"/>
          </a:p>
          <a:p>
            <a:pPr marL="0" indent="0">
              <a:buNone/>
            </a:pPr>
            <a:r>
              <a:rPr kumimoji="1" lang="zh-CN" altLang="zh-CN" sz="2400" b="1" dirty="0"/>
              <a:t> </a:t>
            </a:r>
            <a:r>
              <a:rPr kumimoji="1" lang="zh-CN" altLang="en-US" sz="2400" b="1" dirty="0" smtClean="0"/>
              <a:t>   </a:t>
            </a:r>
            <a:r>
              <a:rPr kumimoji="1" lang="en-US" altLang="zh-CN" dirty="0"/>
              <a:t>a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phoneGap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</a:t>
            </a: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b</a:t>
            </a:r>
            <a:r>
              <a:rPr kumimoji="1" lang="en-US" altLang="zh-CN" dirty="0"/>
              <a:t>)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jQuery</a:t>
            </a:r>
            <a:r>
              <a:rPr kumimoji="1" lang="en-US" altLang="zh-CN" dirty="0"/>
              <a:t>-mobile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</a:t>
            </a:r>
            <a:r>
              <a:rPr kumimoji="1" lang="zh-CN" altLang="en-US" dirty="0" smtClean="0"/>
              <a:t>  </a:t>
            </a: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c</a:t>
            </a:r>
            <a:r>
              <a:rPr kumimoji="1" lang="en-US" altLang="zh-CN" dirty="0"/>
              <a:t>)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bootStrap</a:t>
            </a: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 smtClean="0"/>
              <a:t>  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 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 smtClean="0"/>
              <a:t> 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384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相关补充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21155" y="2111215"/>
            <a:ext cx="63368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dirty="0"/>
              <a:t>链接</a:t>
            </a:r>
            <a:r>
              <a:rPr lang="en-US" altLang="zh-TW" sz="2000" dirty="0"/>
              <a:t>: </a:t>
            </a:r>
            <a:r>
              <a:rPr lang="en-US" altLang="zh-TW" sz="2000" dirty="0">
                <a:hlinkClick r:id="rId2"/>
              </a:rPr>
              <a:t>http://pan.baidu.com/s/1sjkQ5JZ </a:t>
            </a:r>
            <a:r>
              <a:rPr lang="zh-CN" altLang="en-US" sz="2000" dirty="0" smtClean="0"/>
              <a:t>    </a:t>
            </a:r>
            <a:r>
              <a:rPr lang="zh-TW" altLang="en-US" sz="2000" dirty="0" smtClean="0"/>
              <a:t>密码</a:t>
            </a:r>
            <a:r>
              <a:rPr lang="en-US" altLang="zh-TW" sz="2000" dirty="0"/>
              <a:t>: </a:t>
            </a:r>
            <a:r>
              <a:rPr lang="en-US" altLang="zh-TW" sz="2000" dirty="0" err="1"/>
              <a:t>viuw</a:t>
            </a:r>
            <a:endParaRPr lang="zh-CN" altLang="en-US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521156" y="1499382"/>
            <a:ext cx="2635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 smtClean="0"/>
              <a:t>相关项目源代码</a:t>
            </a:r>
            <a:r>
              <a:rPr kumimoji="1" lang="en-US" altLang="zh-CN" sz="2400" dirty="0" smtClean="0"/>
              <a:t>: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0195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Snip20150918_7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2" y="998638"/>
            <a:ext cx="3628570" cy="336037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3271" y="767805"/>
            <a:ext cx="2635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 smtClean="0"/>
              <a:t>微信号</a:t>
            </a:r>
            <a:r>
              <a:rPr kumimoji="1" lang="en-US" altLang="zh-CN" sz="2400" dirty="0" smtClean="0"/>
              <a:t>:</a:t>
            </a:r>
            <a:endParaRPr kumimoji="1"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336098" y="4416450"/>
            <a:ext cx="3673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 smtClean="0"/>
              <a:t>手机</a:t>
            </a:r>
            <a:r>
              <a:rPr kumimoji="1" lang="en-US" altLang="zh-CN" sz="2400" dirty="0" smtClean="0"/>
              <a:t>: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18917286702</a:t>
            </a:r>
            <a:endParaRPr kumimoji="1"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379640" y="5004276"/>
            <a:ext cx="3673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smtClean="0"/>
              <a:t>QQ:</a:t>
            </a:r>
            <a:r>
              <a:rPr kumimoji="1" lang="zh-CN" altLang="en-US" sz="2400" dirty="0" smtClean="0"/>
              <a:t> </a:t>
            </a:r>
            <a:r>
              <a:rPr kumimoji="1" lang="en-US" altLang="zh-CN" sz="2400" dirty="0" smtClean="0"/>
              <a:t>756863517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20299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HTML5介绍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优势">
      <a:majorFont>
        <a:latin typeface="Rockwel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Rockwell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优势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HTML5介绍.thmx</Template>
  <TotalTime>128</TotalTime>
  <Words>986</Words>
  <Application>Microsoft Macintosh PowerPoint</Application>
  <PresentationFormat>全屏显示(4:3)</PresentationFormat>
  <Paragraphs>194</Paragraphs>
  <Slides>18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19" baseType="lpstr">
      <vt:lpstr>HTML5介绍</vt:lpstr>
      <vt:lpstr>前端知识总结</vt:lpstr>
      <vt:lpstr>一、HTML+CSS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二、JS</vt:lpstr>
      <vt:lpstr>PowerPoint 演示文稿</vt:lpstr>
      <vt:lpstr>PowerPoint 演示文稿</vt:lpstr>
      <vt:lpstr>PowerPoint 演示文稿</vt:lpstr>
      <vt:lpstr>三、jQuery</vt:lpstr>
      <vt:lpstr>PowerPoint 演示文稿</vt:lpstr>
      <vt:lpstr>四、参考手册</vt:lpstr>
      <vt:lpstr>五、HTML5框架</vt:lpstr>
      <vt:lpstr>相关补充</vt:lpstr>
      <vt:lpstr>PowerPoint 演示文稿</vt:lpstr>
    </vt:vector>
  </TitlesOfParts>
  <Company>腾讯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前端知识总结</dc:title>
  <dc:creator>建华 叶</dc:creator>
  <cp:lastModifiedBy>建华 叶</cp:lastModifiedBy>
  <cp:revision>14</cp:revision>
  <dcterms:created xsi:type="dcterms:W3CDTF">2015-08-24T23:01:33Z</dcterms:created>
  <dcterms:modified xsi:type="dcterms:W3CDTF">2015-09-18T13:20:14Z</dcterms:modified>
</cp:coreProperties>
</file>