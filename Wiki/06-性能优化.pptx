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92" r:id="rId2"/>
    <p:sldId id="293" r:id="rId3"/>
    <p:sldId id="296" r:id="rId4"/>
    <p:sldId id="295" r:id="rId5"/>
    <p:sldId id="297" r:id="rId6"/>
    <p:sldId id="298" r:id="rId7"/>
    <p:sldId id="299" r:id="rId8"/>
    <p:sldId id="300" r:id="rId9"/>
    <p:sldId id="294" r:id="rId10"/>
    <p:sldId id="301" r:id="rId11"/>
    <p:sldId id="302" r:id="rId12"/>
    <p:sldId id="303" r:id="rId13"/>
    <p:sldId id="304" r:id="rId14"/>
    <p:sldId id="309" r:id="rId15"/>
    <p:sldId id="310" r:id="rId16"/>
    <p:sldId id="311" r:id="rId17"/>
    <p:sldId id="312" r:id="rId18"/>
    <p:sldId id="313" r:id="rId19"/>
    <p:sldId id="305" r:id="rId20"/>
    <p:sldId id="31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35E4DC2-62B4-BF44-9EB8-E882BDCEB1CF}">
          <p14:sldIdLst>
            <p14:sldId id="292"/>
          </p14:sldIdLst>
        </p14:section>
        <p14:section name="面试题" id="{E2613D14-14A3-1F4B-B0E6-48735BD8A814}">
          <p14:sldIdLst>
            <p14:sldId id="293"/>
            <p14:sldId id="296"/>
            <p14:sldId id="295"/>
            <p14:sldId id="297"/>
            <p14:sldId id="298"/>
            <p14:sldId id="299"/>
            <p14:sldId id="300"/>
            <p14:sldId id="294"/>
          </p14:sldIdLst>
        </p14:section>
        <p14:section name="耗电优化" id="{574F8290-EA46-6C41-8782-987B3309CACA}">
          <p14:sldIdLst>
            <p14:sldId id="301"/>
            <p14:sldId id="302"/>
            <p14:sldId id="303"/>
          </p14:sldIdLst>
        </p14:section>
        <p14:section name="启动优化" id="{1D62A764-8C60-CF43-B058-B2D1176D9987}">
          <p14:sldIdLst>
            <p14:sldId id="304"/>
            <p14:sldId id="309"/>
            <p14:sldId id="310"/>
            <p14:sldId id="311"/>
            <p14:sldId id="312"/>
            <p14:sldId id="313"/>
          </p14:sldIdLst>
        </p14:section>
        <p14:section name="安装包优化" id="{5EB51854-2E77-5645-B607-BAB6005E783C}">
          <p14:sldIdLst>
            <p14:sldId id="305"/>
            <p14:sldId id="314"/>
          </p14:sldIdLst>
        </p14:section>
        <p14:section name="内存优化" id="{8143ADF5-FFA2-2044-B309-CF4E8EAA191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096" userDrawn="1">
          <p15:clr>
            <a:srgbClr val="A4A3A4"/>
          </p15:clr>
        </p15:guide>
        <p15:guide id="4" orient="horz" pos="595" userDrawn="1">
          <p15:clr>
            <a:srgbClr val="A4A3A4"/>
          </p15:clr>
        </p15:guide>
        <p15:guide id="5" orient="horz" pos="822" userDrawn="1">
          <p15:clr>
            <a:srgbClr val="A4A3A4"/>
          </p15:clr>
        </p15:guide>
        <p15:guide id="6" orient="horz" pos="1480" userDrawn="1">
          <p15:clr>
            <a:srgbClr val="A4A3A4"/>
          </p15:clr>
        </p15:guide>
        <p15:guide id="7" orient="horz" pos="2863" userDrawn="1">
          <p15:clr>
            <a:srgbClr val="A4A3A4"/>
          </p15:clr>
        </p15:guide>
        <p15:guide id="8" pos="2547" userDrawn="1">
          <p15:clr>
            <a:srgbClr val="A4A3A4"/>
          </p15:clr>
        </p15:guide>
        <p15:guide id="9" pos="5110" userDrawn="1">
          <p15:clr>
            <a:srgbClr val="A4A3A4"/>
          </p15:clr>
        </p15:guide>
        <p15:guide id="10" pos="51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7A707"/>
    <a:srgbClr val="FEC200"/>
    <a:srgbClr val="31CDA8"/>
    <a:srgbClr val="3498DB"/>
    <a:srgbClr val="192871"/>
    <a:srgbClr val="0037A4"/>
    <a:srgbClr val="002A7E"/>
    <a:srgbClr val="F1A069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67" autoAdjust="0"/>
    <p:restoredTop sz="86379" autoAdjust="0"/>
  </p:normalViewPr>
  <p:slideViewPr>
    <p:cSldViewPr snapToGrid="0" showGuides="1">
      <p:cViewPr varScale="1">
        <p:scale>
          <a:sx n="95" d="100"/>
          <a:sy n="95" d="100"/>
        </p:scale>
        <p:origin x="208" y="280"/>
      </p:cViewPr>
      <p:guideLst>
        <p:guide orient="horz" pos="2160"/>
        <p:guide pos="3840"/>
        <p:guide pos="1096"/>
        <p:guide orient="horz" pos="595"/>
        <p:guide orient="horz" pos="822"/>
        <p:guide orient="horz" pos="1480"/>
        <p:guide orient="horz" pos="2863"/>
        <p:guide pos="2547"/>
        <p:guide pos="5110"/>
        <p:guide pos="51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12"/>
    </p:cViewPr>
  </p:sorter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FCBEEA2-BF04-4625-9D90-F4291A119A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1C78A-5A0F-4F2E-9C48-9BEEFCC112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7634C-074B-4260-9010-E574428551B5}" type="datetimeFigureOut">
              <a:rPr lang="zh-CN" altLang="en-US" smtClean="0"/>
              <a:t>2019/1/2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D4B301-C1F1-4488-BE41-C37374152C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27E0BC-A1AC-4B31-B1CD-ECA55CA19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C4FF-9C5A-4350-A3CE-CE48C6E74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31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591C1-7BBD-4BAD-9912-0ADD21A74F01}" type="datetimeFigureOut">
              <a:rPr lang="zh-CN" altLang="en-US" smtClean="0"/>
              <a:t>2019/1/2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33780-C451-4576-A162-3E5813E9C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52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6">
            <a:extLst>
              <a:ext uri="{FF2B5EF4-FFF2-40B4-BE49-F238E27FC236}">
                <a16:creationId xmlns:a16="http://schemas.microsoft.com/office/drawing/2014/main" id="{F619AC0B-D093-4B29-BED5-E396B58FD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32" y="0"/>
            <a:ext cx="12196559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1">
            <a:extLst>
              <a:ext uri="{FF2B5EF4-FFF2-40B4-BE49-F238E27FC236}">
                <a16:creationId xmlns:a16="http://schemas.microsoft.com/office/drawing/2014/main" id="{EC130C9D-3B92-4E92-AF34-4C37ACD515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6557" y="5640180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5">
            <a:extLst>
              <a:ext uri="{FF2B5EF4-FFF2-40B4-BE49-F238E27FC236}">
                <a16:creationId xmlns:a16="http://schemas.microsoft.com/office/drawing/2014/main" id="{36BA4FD9-4EAF-40CB-91E3-48F885239803}"/>
              </a:ext>
            </a:extLst>
          </p:cNvPr>
          <p:cNvSpPr/>
          <p:nvPr userDrawn="1"/>
        </p:nvSpPr>
        <p:spPr>
          <a:xfrm>
            <a:off x="4734893" y="6205486"/>
            <a:ext cx="2735236" cy="33855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实力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IT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教育 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www.520it.com</a:t>
            </a:r>
            <a:endParaRPr lang="zh-CN" altLang="en-US" sz="1600" b="0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772C4B5-AB4E-43B0-B717-25071084F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54114"/>
            <a:ext cx="12192000" cy="1011116"/>
          </a:xfrm>
        </p:spPr>
        <p:txBody>
          <a:bodyPr anchor="ctr">
            <a:normAutofit/>
          </a:bodyPr>
          <a:lstStyle>
            <a:lvl1pPr algn="ctr">
              <a:defRPr sz="7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B401CC44-47BA-4904-A587-245165E74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234" y="3417401"/>
            <a:ext cx="6327531" cy="4336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6322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>
            <a:extLst>
              <a:ext uri="{FF2B5EF4-FFF2-40B4-BE49-F238E27FC236}">
                <a16:creationId xmlns:a16="http://schemas.microsoft.com/office/drawing/2014/main" id="{F612FBBA-ABAE-4812-AAB2-77CA48D541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" y="-728"/>
            <a:ext cx="12200141" cy="6869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9">
            <a:extLst>
              <a:ext uri="{FF2B5EF4-FFF2-40B4-BE49-F238E27FC236}">
                <a16:creationId xmlns:a16="http://schemas.microsoft.com/office/drawing/2014/main" id="{89038A74-5A1B-45B4-AA7D-C9934D2FDABC}"/>
              </a:ext>
            </a:extLst>
          </p:cNvPr>
          <p:cNvSpPr/>
          <p:nvPr userDrawn="1"/>
        </p:nvSpPr>
        <p:spPr>
          <a:xfrm>
            <a:off x="-6349" y="1139584"/>
            <a:ext cx="12198349" cy="22225"/>
          </a:xfrm>
          <a:prstGeom prst="rect">
            <a:avLst/>
          </a:prstGeom>
          <a:solidFill>
            <a:srgbClr val="EAEAEA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en-US" sz="1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2" name="图片 1">
            <a:extLst>
              <a:ext uri="{FF2B5EF4-FFF2-40B4-BE49-F238E27FC236}">
                <a16:creationId xmlns:a16="http://schemas.microsoft.com/office/drawing/2014/main" id="{DB3FFE7C-0303-4D2A-9F24-474FCCD761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1839" y="399965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F3C067B8-78E3-4D7C-B8BF-D5559197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935" y="395532"/>
            <a:ext cx="10081824" cy="712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kumimoji="1" lang="zh-CN" altLang="en-US"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E8B5E84D-8FAC-4FA6-9CA7-55579F675DF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193" y="1238066"/>
            <a:ext cx="11866684" cy="5444088"/>
          </a:xfrm>
        </p:spPr>
        <p:txBody>
          <a:bodyPr>
            <a:normAutofit/>
          </a:bodyPr>
          <a:lstStyle>
            <a:lvl1pPr marL="228600" indent="-228600">
              <a:lnSpc>
                <a:spcPts val="2000"/>
              </a:lnSpc>
              <a:buFont typeface="Wingdings" panose="05000000000000000000" pitchFamily="2" charset="2"/>
              <a:buChar char="n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ts val="2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2000"/>
              </a:lnSpc>
              <a:buFont typeface="Wingdings" panose="05000000000000000000" pitchFamily="2" charset="2"/>
              <a:buChar char="ü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ts val="2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ts val="2000"/>
              </a:lnSpc>
              <a:buFont typeface="Wingdings" panose="05000000000000000000" pitchFamily="2" charset="2"/>
              <a:buChar char="l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634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8E73B-0927-45CC-BC19-B5A752C4C781}" type="datetimeFigureOut">
              <a:rPr lang="zh-CN" altLang="en-US" smtClean="0"/>
              <a:t>2019/1/2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11428-941F-4F39-9F0C-B1B29E09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5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objc/" TargetMode="External"/><Relationship Id="rId2" Type="http://schemas.openxmlformats.org/officeDocument/2006/relationships/hyperlink" Target="https://github.com/tinymind/LSUnusedResource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anxsd/LinkMap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D2A8A-4D20-46E7-AB5F-6F0B875B7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性能优化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E18B87-7327-4283-B60A-4EF5B1BB4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@M</a:t>
            </a:r>
            <a:r>
              <a:rPr lang="zh-CN" altLang="en-US"/>
              <a:t>了个</a:t>
            </a:r>
            <a:r>
              <a:rPr lang="en-US" altLang="zh-CN"/>
              <a:t>J</a:t>
            </a:r>
            <a:endParaRPr lang="zh-CN" altLang="en-US"/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F8E18B87-7327-4283-B60A-4EF5B1BB4F6D}"/>
              </a:ext>
            </a:extLst>
          </p:cNvPr>
          <p:cNvSpPr txBox="1">
            <a:spLocks/>
          </p:cNvSpPr>
          <p:nvPr/>
        </p:nvSpPr>
        <p:spPr>
          <a:xfrm>
            <a:off x="2932234" y="4016115"/>
            <a:ext cx="6327531" cy="433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0"/>
              <a:t>https://github.com/CoderMJLee</a:t>
            </a:r>
          </a:p>
        </p:txBody>
      </p:sp>
    </p:spTree>
    <p:extLst>
      <p:ext uri="{BB962C8B-B14F-4D97-AF65-F5344CB8AC3E}">
        <p14:creationId xmlns:p14="http://schemas.microsoft.com/office/powerpoint/2010/main" val="45318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面试题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5090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你在项目中是怎么优化内存的？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优化你是从哪几方面着手？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列表卡顿的原因可能有哪些？你平时是怎么优化的？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tableView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卡顿嘛？会造成卡顿的原因大致有哪些？</a:t>
            </a:r>
          </a:p>
        </p:txBody>
      </p:sp>
    </p:spTree>
    <p:extLst>
      <p:ext uri="{BB962C8B-B14F-4D97-AF65-F5344CB8AC3E}">
        <p14:creationId xmlns:p14="http://schemas.microsoft.com/office/powerpoint/2010/main" val="175024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CPU</a:t>
            </a:r>
            <a:r>
              <a:rPr lang="zh-CN" altLang="en-US"/>
              <a:t>和</a:t>
            </a:r>
            <a:r>
              <a:rPr lang="en-US" altLang="zh-CN"/>
              <a:t>GPU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166255" y="1203432"/>
            <a:ext cx="11830503" cy="1801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在屏幕成像的过程中，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起着至关重要的作用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Central Processing Unit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，中央处理器）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对象的创建和销毁、对象属性的调整、布局计算、文本的计算和排版、图片的格式转换和解码、图像的绘制（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Graphics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Graphics Processing Unit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，图形处理器）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纹理的渲染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24286" y="3503221"/>
            <a:ext cx="890649" cy="68876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/>
              <a:t>CPU</a:t>
            </a:r>
            <a:endParaRPr kumimoji="1" lang="zh-CN" altLang="en-US" sz="2400"/>
          </a:p>
        </p:txBody>
      </p:sp>
      <p:sp>
        <p:nvSpPr>
          <p:cNvPr id="5" name="矩形 4"/>
          <p:cNvSpPr/>
          <p:nvPr/>
        </p:nvSpPr>
        <p:spPr>
          <a:xfrm>
            <a:off x="2815482" y="3503221"/>
            <a:ext cx="890649" cy="68876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/>
              <a:t>GPU</a:t>
            </a:r>
            <a:endParaRPr kumimoji="1" lang="zh-CN" altLang="en-US" sz="2400"/>
          </a:p>
        </p:txBody>
      </p:sp>
      <p:sp>
        <p:nvSpPr>
          <p:cNvPr id="6" name="矩形 5"/>
          <p:cNvSpPr/>
          <p:nvPr/>
        </p:nvSpPr>
        <p:spPr>
          <a:xfrm>
            <a:off x="4413023" y="3503221"/>
            <a:ext cx="1346510" cy="68876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/>
              <a:t>帧缓存</a:t>
            </a:r>
          </a:p>
        </p:txBody>
      </p:sp>
      <p:sp>
        <p:nvSpPr>
          <p:cNvPr id="7" name="矩形 6"/>
          <p:cNvSpPr/>
          <p:nvPr/>
        </p:nvSpPr>
        <p:spPr>
          <a:xfrm>
            <a:off x="4413023" y="4690752"/>
            <a:ext cx="1346510" cy="68876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视频控制器</a:t>
            </a:r>
          </a:p>
        </p:txBody>
      </p:sp>
      <p:sp>
        <p:nvSpPr>
          <p:cNvPr id="8" name="矩形 7"/>
          <p:cNvSpPr/>
          <p:nvPr/>
        </p:nvSpPr>
        <p:spPr>
          <a:xfrm>
            <a:off x="6603710" y="4690752"/>
            <a:ext cx="890649" cy="68876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/>
              <a:t>屏幕</a:t>
            </a:r>
          </a:p>
        </p:txBody>
      </p:sp>
      <p:cxnSp>
        <p:nvCxnSpPr>
          <p:cNvPr id="9" name="直线箭头连接符 8"/>
          <p:cNvCxnSpPr>
            <a:stCxn id="2" idx="3"/>
            <a:endCxn id="5" idx="1"/>
          </p:cNvCxnSpPr>
          <p:nvPr/>
        </p:nvCxnSpPr>
        <p:spPr>
          <a:xfrm>
            <a:off x="1914935" y="3847605"/>
            <a:ext cx="9005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/>
          <p:cNvCxnSpPr>
            <a:stCxn id="5" idx="3"/>
            <a:endCxn id="6" idx="1"/>
          </p:cNvCxnSpPr>
          <p:nvPr/>
        </p:nvCxnSpPr>
        <p:spPr>
          <a:xfrm>
            <a:off x="3706131" y="3847605"/>
            <a:ext cx="706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/>
          <p:cNvCxnSpPr>
            <a:stCxn id="6" idx="2"/>
            <a:endCxn id="7" idx="0"/>
          </p:cNvCxnSpPr>
          <p:nvPr/>
        </p:nvCxnSpPr>
        <p:spPr>
          <a:xfrm>
            <a:off x="5086278" y="4191989"/>
            <a:ext cx="0" cy="498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>
            <a:stCxn id="7" idx="3"/>
            <a:endCxn id="8" idx="1"/>
          </p:cNvCxnSpPr>
          <p:nvPr/>
        </p:nvCxnSpPr>
        <p:spPr>
          <a:xfrm>
            <a:off x="5759533" y="5035136"/>
            <a:ext cx="8441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5115363" y="425670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读取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746306" y="34420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渲染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042043" y="34420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计算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858455" y="46295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显示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66254" y="5723523"/>
            <a:ext cx="11830503" cy="404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中是双缓冲机制，有前帧缓存、后帧缓存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12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20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屏幕成像原理</a:t>
            </a:r>
          </a:p>
        </p:txBody>
      </p:sp>
      <p:sp>
        <p:nvSpPr>
          <p:cNvPr id="2" name="矩形 1"/>
          <p:cNvSpPr/>
          <p:nvPr/>
        </p:nvSpPr>
        <p:spPr>
          <a:xfrm>
            <a:off x="2470068" y="2458192"/>
            <a:ext cx="3966358" cy="142503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箭头连接符 4"/>
          <p:cNvCxnSpPr/>
          <p:nvPr/>
        </p:nvCxnSpPr>
        <p:spPr>
          <a:xfrm>
            <a:off x="2470068" y="2612571"/>
            <a:ext cx="39663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/>
          <p:cNvCxnSpPr/>
          <p:nvPr/>
        </p:nvCxnSpPr>
        <p:spPr>
          <a:xfrm>
            <a:off x="2470068" y="2848098"/>
            <a:ext cx="39663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/>
          <p:cNvCxnSpPr/>
          <p:nvPr/>
        </p:nvCxnSpPr>
        <p:spPr>
          <a:xfrm>
            <a:off x="2470068" y="3071750"/>
            <a:ext cx="39663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/>
          <p:cNvCxnSpPr/>
          <p:nvPr/>
        </p:nvCxnSpPr>
        <p:spPr>
          <a:xfrm>
            <a:off x="2470068" y="3301339"/>
            <a:ext cx="39663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/>
          <p:cNvCxnSpPr/>
          <p:nvPr/>
        </p:nvCxnSpPr>
        <p:spPr>
          <a:xfrm>
            <a:off x="2470068" y="3536866"/>
            <a:ext cx="39663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/>
          <p:cNvCxnSpPr/>
          <p:nvPr/>
        </p:nvCxnSpPr>
        <p:spPr>
          <a:xfrm>
            <a:off x="2470068" y="3760518"/>
            <a:ext cx="39663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483926" y="2422631"/>
            <a:ext cx="2602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水平同步信号（</a:t>
            </a:r>
            <a:r>
              <a:rPr kumimoji="1" lang="en-US" altLang="zh-CN"/>
              <a:t>HSync</a:t>
            </a:r>
            <a:r>
              <a:rPr kumimoji="1" lang="zh-CN" altLang="en-US"/>
              <a:t>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686652" y="1938843"/>
            <a:ext cx="258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垂直同步信号（</a:t>
            </a:r>
            <a:r>
              <a:rPr kumimoji="1" lang="en-US" altLang="zh-CN"/>
              <a:t>VSync</a:t>
            </a:r>
            <a:r>
              <a:rPr kumimoji="1" lang="zh-CN" altLang="en-US"/>
              <a:t>）</a:t>
            </a:r>
          </a:p>
        </p:txBody>
      </p:sp>
      <p:cxnSp>
        <p:nvCxnSpPr>
          <p:cNvPr id="15" name="直线箭头连接符 14"/>
          <p:cNvCxnSpPr/>
          <p:nvPr/>
        </p:nvCxnSpPr>
        <p:spPr>
          <a:xfrm>
            <a:off x="2339440" y="2458256"/>
            <a:ext cx="0" cy="14606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01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卡顿产生的原因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08758" y="1401289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rgbClr val="FF0000"/>
                </a:solidFill>
              </a:rPr>
              <a:t>CPU</a:t>
            </a:r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21178" y="1401289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rgbClr val="00B0F0"/>
                </a:solidFill>
              </a:rPr>
              <a:t>GPU</a:t>
            </a:r>
            <a:endParaRPr kumimoji="1" lang="zh-CN" altLang="en-US">
              <a:solidFill>
                <a:srgbClr val="00B0F0"/>
              </a:solidFill>
            </a:endParaRPr>
          </a:p>
        </p:txBody>
      </p:sp>
      <p:cxnSp>
        <p:nvCxnSpPr>
          <p:cNvPr id="13" name="直线箭头连接符 12"/>
          <p:cNvCxnSpPr/>
          <p:nvPr/>
        </p:nvCxnSpPr>
        <p:spPr>
          <a:xfrm>
            <a:off x="1019297" y="3348842"/>
            <a:ext cx="69375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/>
          <p:nvPr/>
        </p:nvCxnSpPr>
        <p:spPr>
          <a:xfrm>
            <a:off x="1713054" y="3346862"/>
            <a:ext cx="693757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 26"/>
          <p:cNvGrpSpPr/>
          <p:nvPr/>
        </p:nvGrpSpPr>
        <p:grpSpPr>
          <a:xfrm>
            <a:off x="2059932" y="2327629"/>
            <a:ext cx="741806" cy="1339864"/>
            <a:chOff x="2261813" y="1757613"/>
            <a:chExt cx="741806" cy="1339864"/>
          </a:xfrm>
        </p:grpSpPr>
        <p:cxnSp>
          <p:nvCxnSpPr>
            <p:cNvPr id="20" name="直线箭头连接符 19"/>
            <p:cNvCxnSpPr/>
            <p:nvPr/>
          </p:nvCxnSpPr>
          <p:spPr>
            <a:xfrm>
              <a:off x="2628564" y="2254052"/>
              <a:ext cx="1" cy="8434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2261813" y="1757613"/>
              <a:ext cx="7418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VSync</a:t>
              </a:r>
            </a:p>
          </p:txBody>
        </p:sp>
      </p:grpSp>
      <p:cxnSp>
        <p:nvCxnSpPr>
          <p:cNvPr id="28" name="直线箭头连接符 27"/>
          <p:cNvCxnSpPr/>
          <p:nvPr/>
        </p:nvCxnSpPr>
        <p:spPr>
          <a:xfrm>
            <a:off x="2442984" y="3344884"/>
            <a:ext cx="76826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/>
          <p:cNvCxnSpPr/>
          <p:nvPr/>
        </p:nvCxnSpPr>
        <p:spPr>
          <a:xfrm>
            <a:off x="3231117" y="3344884"/>
            <a:ext cx="390857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 34"/>
          <p:cNvGrpSpPr/>
          <p:nvPr/>
        </p:nvGrpSpPr>
        <p:grpSpPr>
          <a:xfrm>
            <a:off x="3641847" y="2327629"/>
            <a:ext cx="741806" cy="1339864"/>
            <a:chOff x="2261813" y="1757613"/>
            <a:chExt cx="741806" cy="1339864"/>
          </a:xfrm>
        </p:grpSpPr>
        <p:cxnSp>
          <p:nvCxnSpPr>
            <p:cNvPr id="36" name="直线箭头连接符 35"/>
            <p:cNvCxnSpPr/>
            <p:nvPr/>
          </p:nvCxnSpPr>
          <p:spPr>
            <a:xfrm>
              <a:off x="2628564" y="2254052"/>
              <a:ext cx="1" cy="8434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2261813" y="1757613"/>
              <a:ext cx="7418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VSync</a:t>
              </a:r>
            </a:p>
          </p:txBody>
        </p:sp>
      </p:grpSp>
      <p:cxnSp>
        <p:nvCxnSpPr>
          <p:cNvPr id="38" name="直线箭头连接符 37"/>
          <p:cNvCxnSpPr/>
          <p:nvPr/>
        </p:nvCxnSpPr>
        <p:spPr>
          <a:xfrm>
            <a:off x="4032298" y="3344884"/>
            <a:ext cx="76826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/>
          <p:cNvCxnSpPr/>
          <p:nvPr/>
        </p:nvCxnSpPr>
        <p:spPr>
          <a:xfrm>
            <a:off x="4820431" y="3344884"/>
            <a:ext cx="1022229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 40"/>
          <p:cNvGrpSpPr/>
          <p:nvPr/>
        </p:nvGrpSpPr>
        <p:grpSpPr>
          <a:xfrm>
            <a:off x="5203888" y="2327629"/>
            <a:ext cx="741806" cy="1339864"/>
            <a:chOff x="2261813" y="1757613"/>
            <a:chExt cx="741806" cy="1339864"/>
          </a:xfrm>
        </p:grpSpPr>
        <p:cxnSp>
          <p:nvCxnSpPr>
            <p:cNvPr id="42" name="直线箭头连接符 41"/>
            <p:cNvCxnSpPr/>
            <p:nvPr/>
          </p:nvCxnSpPr>
          <p:spPr>
            <a:xfrm>
              <a:off x="2628564" y="2254052"/>
              <a:ext cx="1" cy="8434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2261813" y="1757613"/>
              <a:ext cx="7418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VSync</a:t>
              </a:r>
            </a:p>
          </p:txBody>
        </p:sp>
      </p:grpSp>
      <p:grpSp>
        <p:nvGrpSpPr>
          <p:cNvPr id="44" name="组 43"/>
          <p:cNvGrpSpPr/>
          <p:nvPr/>
        </p:nvGrpSpPr>
        <p:grpSpPr>
          <a:xfrm>
            <a:off x="6765929" y="2327629"/>
            <a:ext cx="741806" cy="1339864"/>
            <a:chOff x="2261813" y="1757613"/>
            <a:chExt cx="741806" cy="1339864"/>
          </a:xfrm>
        </p:grpSpPr>
        <p:cxnSp>
          <p:nvCxnSpPr>
            <p:cNvPr id="45" name="直线箭头连接符 44"/>
            <p:cNvCxnSpPr/>
            <p:nvPr/>
          </p:nvCxnSpPr>
          <p:spPr>
            <a:xfrm>
              <a:off x="2628564" y="2254052"/>
              <a:ext cx="1" cy="8434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2261813" y="1757613"/>
              <a:ext cx="7418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VSync</a:t>
              </a:r>
            </a:p>
          </p:txBody>
        </p:sp>
      </p:grpSp>
      <p:cxnSp>
        <p:nvCxnSpPr>
          <p:cNvPr id="47" name="直线箭头连接符 46"/>
          <p:cNvCxnSpPr/>
          <p:nvPr/>
        </p:nvCxnSpPr>
        <p:spPr>
          <a:xfrm>
            <a:off x="7160856" y="3344884"/>
            <a:ext cx="69375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/>
          <p:cNvCxnSpPr/>
          <p:nvPr/>
        </p:nvCxnSpPr>
        <p:spPr>
          <a:xfrm>
            <a:off x="7854613" y="3342904"/>
            <a:ext cx="693757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 48"/>
          <p:cNvGrpSpPr/>
          <p:nvPr/>
        </p:nvGrpSpPr>
        <p:grpSpPr>
          <a:xfrm>
            <a:off x="8500321" y="2327629"/>
            <a:ext cx="741806" cy="1339864"/>
            <a:chOff x="2261813" y="1757613"/>
            <a:chExt cx="741806" cy="1339864"/>
          </a:xfrm>
        </p:grpSpPr>
        <p:cxnSp>
          <p:nvCxnSpPr>
            <p:cNvPr id="50" name="直线箭头连接符 49"/>
            <p:cNvCxnSpPr/>
            <p:nvPr/>
          </p:nvCxnSpPr>
          <p:spPr>
            <a:xfrm>
              <a:off x="2628564" y="2254052"/>
              <a:ext cx="1" cy="8434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/>
            <p:cNvSpPr txBox="1"/>
            <p:nvPr/>
          </p:nvSpPr>
          <p:spPr>
            <a:xfrm>
              <a:off x="2261813" y="1757613"/>
              <a:ext cx="7418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VSync</a:t>
              </a:r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305425" y="4212058"/>
            <a:ext cx="11501313" cy="18799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卡顿解决的主要思路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尽可能减少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资源消耗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60FPS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的刷帧率，每隔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16ms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就会有一次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VSync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0D27FF-32E5-764D-AB5C-3456D8AFC098}"/>
              </a:ext>
            </a:extLst>
          </p:cNvPr>
          <p:cNvSpPr txBox="1"/>
          <p:nvPr/>
        </p:nvSpPr>
        <p:spPr>
          <a:xfrm>
            <a:off x="4506752" y="283761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掉帧</a:t>
            </a:r>
          </a:p>
        </p:txBody>
      </p:sp>
    </p:spTree>
    <p:extLst>
      <p:ext uri="{BB962C8B-B14F-4D97-AF65-F5344CB8AC3E}">
        <p14:creationId xmlns:p14="http://schemas.microsoft.com/office/powerpoint/2010/main" val="84772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卡顿优化 </a:t>
            </a:r>
            <a:r>
              <a:rPr lang="en-US" altLang="zh-CN"/>
              <a:t>-</a:t>
            </a:r>
            <a:r>
              <a:rPr lang="zh-CN" altLang="en-US"/>
              <a:t> </a:t>
            </a:r>
            <a:r>
              <a:rPr lang="en-US" altLang="zh-CN"/>
              <a:t>CPU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1"/>
            <a:ext cx="11501313" cy="5327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尽量用轻量级的对象，比如用不到事件处理的地方，可以考虑使用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CALayer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取代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UIView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不要频繁地调用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UIView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的相关属性，比如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frame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bounds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transform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等属性，尽量减少不必要的修改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尽量提前计算好布局，在有需要时一次性调整对应的属性，不要多次修改属性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Autolayout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会比直接设置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frame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消耗更多的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最好刚好跟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UIImageView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保持一致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控制一下线程的最大并发数量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尽量把耗时的操作放到子线程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文本处理（尺寸计算、绘制）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图片处理（解码、绘制）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58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卡顿优化 </a:t>
            </a:r>
            <a:r>
              <a:rPr lang="en-US" altLang="zh-CN"/>
              <a:t>-</a:t>
            </a:r>
            <a:r>
              <a:rPr lang="zh-CN" altLang="en-US"/>
              <a:t> </a:t>
            </a:r>
            <a:r>
              <a:rPr lang="en-US" altLang="zh-CN"/>
              <a:t>GPU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1"/>
            <a:ext cx="11501313" cy="5327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尽量避免短时间内大量图片的显示，尽可能将多张图片合成一张进行显示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能处理的最大纹理尺寸是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4096x4096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，一旦超过这个尺寸，就会占用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资源进行处理，所以纹理尽量不要超过这个尺寸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尽量减少视图数量和层次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减少透明的视图（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alpha&lt;1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），不透明的就设置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opaque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YES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尽量避免出现离屏渲染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790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离屏渲染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1"/>
            <a:ext cx="11501313" cy="5327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OpenGL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种渲染方式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On-Screen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Rendering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：当前屏幕渲染，在当前用于显示的屏幕缓冲区进行渲染操作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Off-Screen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Rendering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：离屏渲染，在当前屏幕缓冲区以外新开辟一个缓冲区进行渲染操作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离屏渲染消耗性能的原因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需要创建新的缓冲区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离屏渲染的整个过程，需要多次切换上下文环境，先是从当前屏幕（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On-Screen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）切换到离屏（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Off-Screen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）；等到离屏渲染结束以后，将离屏缓冲区的渲染结果显示到屏幕上，又需要将上下文环境从离屏切换到当前屏幕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哪些操作会触发离屏渲染？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光栅化，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layer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.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shouldRasterize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 = 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YES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遮罩，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layer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.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mask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圆角，同时设置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layer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.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masksToBounds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 = 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YES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layer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.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cornerRadius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考虑通过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CoreGraphics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绘制裁剪圆角，或者叫美工提供圆角图片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阴影，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layer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.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shadowXXX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如果设置了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layer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.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shadowPath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就不会产生离屏渲染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208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卡顿检测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10410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平时所说的“卡顿”主要是因为在主线程执行了比较耗时的操作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可以添加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到主线程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中，通过监听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状态切换的耗时，以达到监控卡顿的目的</a:t>
            </a:r>
          </a:p>
        </p:txBody>
      </p:sp>
    </p:spTree>
    <p:extLst>
      <p:ext uri="{BB962C8B-B14F-4D97-AF65-F5344CB8AC3E}">
        <p14:creationId xmlns:p14="http://schemas.microsoft.com/office/powerpoint/2010/main" val="151951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耗电的主要来源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495446" y="3085416"/>
            <a:ext cx="11501313" cy="2270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Processing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Networking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Location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Graphics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46" y="1256970"/>
            <a:ext cx="5620346" cy="167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9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耗电优化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76692" y="1268491"/>
            <a:ext cx="11501313" cy="52273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尽可能降低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功耗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少用定时器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尽量不要频繁写入小数据，最好批量一次性写入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读写大量重要数据时，考虑用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dispatch_io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，其提供了基于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的异步操作文件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dispatch_io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系统会优化磁盘访问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数据量比较大的，建议使用数据库（比如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SQLite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CoreData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网络优化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减少、压缩网络数据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如果多次请求的结果是相同的，尽量使用缓存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使用断点续传，否则网络不稳定时可能多次传输相同的内容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网络不可用时，不要尝试执行网络请求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让用户可以取消长时间运行或者速度很慢的网络操作，设置合适的超时时间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传输，比如，下载视频流时，不要传输很小的数据包，直接下载整个文件或者一大块一大块地下载。如果下载广告，一次性多下载一些，然后再慢慢展示。如果下载电子邮件，一次下载多封，不要一封一封地下载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056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耗电优化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76692" y="1268491"/>
            <a:ext cx="11501313" cy="52273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定位优化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如果只是需要快速确定用户位置，最好用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CLLocationManager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requestLocation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方法。定位完成后，会自动让定位硬件断电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如果不是导航应用，尽量不要实时更新位置，定位完毕就关掉定位服务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尽量降低定位精度，比如尽量不要使用精度最高的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kCLLocationAccuracyBest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需要后台定位时，尽量设置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pausesLocationUpdatesAutomatically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YES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，如果用户不太可能移动的时候系统会自动暂停位置更新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尽量不要使用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startMonitoringSignificantLocationChanges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，优先考虑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startMonitoringForRegion: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硬件检测优化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用户移动、摇晃、倾斜设备时，会产生动作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(motion)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事件，这些事件由加速度计、陀螺仪、磁力计等硬件检测。在不需要检测的场合，应该及时关闭这些硬件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997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APP</a:t>
            </a:r>
            <a:r>
              <a:rPr lang="zh-CN" altLang="en-US"/>
              <a:t>的启动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76692" y="1209116"/>
            <a:ext cx="11501313" cy="29353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的启动可以分为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冷启动（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Launch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）：从零开始启动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热启动（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Warm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Launch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已经在内存中，在后台存活着，再次点击图标启动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启动时间的优化，主要是针对冷启动进行优化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通过添加环境变量可以打印出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的启动时间分析（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Edit scheme -&gt; Run -&gt; Arguments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DYLD_PRINT_STATISTICS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如果需要更详细的信息，那就将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DYLD_PRINT_STATISTICS_DETAILS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3360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APP</a:t>
            </a:r>
            <a:r>
              <a:rPr lang="zh-CN" altLang="en-US"/>
              <a:t>的启动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76692" y="1209116"/>
            <a:ext cx="11501313" cy="12847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的冷启动可以概括为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大阶段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dyld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0408"/>
            <a:ext cx="12192000" cy="354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23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APP</a:t>
            </a:r>
            <a:r>
              <a:rPr lang="zh-CN" altLang="en-US"/>
              <a:t>的启动 </a:t>
            </a:r>
            <a:r>
              <a:rPr lang="en-US" altLang="zh-CN"/>
              <a:t>-</a:t>
            </a:r>
            <a:r>
              <a:rPr lang="zh-CN" altLang="en-US"/>
              <a:t> </a:t>
            </a:r>
            <a:r>
              <a:rPr lang="en-US" altLang="zh-CN"/>
              <a:t>dyld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76692" y="1209116"/>
            <a:ext cx="11501313" cy="29353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dyld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link editor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的动态链接器，可以用来装载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Mach-O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文件（可执行文件、动态库等）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dyld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所做的事情有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装载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的可执行文件，同时会递归加载所有依赖的动态库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dyld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把可执行文件、动态库都装载完毕后，会通知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进行下一步的处理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504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APP</a:t>
            </a:r>
            <a:r>
              <a:rPr lang="zh-CN" altLang="en-US"/>
              <a:t>的启动 </a:t>
            </a:r>
            <a:r>
              <a:rPr lang="en-US" altLang="zh-CN"/>
              <a:t>-</a:t>
            </a:r>
            <a:r>
              <a:rPr lang="zh-CN" altLang="en-US"/>
              <a:t> </a:t>
            </a:r>
            <a:r>
              <a:rPr lang="en-US" altLang="zh-CN"/>
              <a:t>runtime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76692" y="1209116"/>
            <a:ext cx="11501313" cy="29353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所做的事情有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map_images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进行可执行文件内容的解析和处理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load_images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中调用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call_load_methods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，调用所有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Category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+load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进行各种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结构的初始化（注册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 、初始化类对象等等）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静态初始化器和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__attribute__((constructor))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修饰的函数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到此为止，可执行文件和动态库中所有的符号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Protocol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Selector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…)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都已经按格式成功加载到内存中，被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所管理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50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APP</a:t>
            </a:r>
            <a:r>
              <a:rPr lang="zh-CN" altLang="en-US"/>
              <a:t>的启动 </a:t>
            </a:r>
            <a:r>
              <a:rPr lang="en-US" altLang="zh-CN"/>
              <a:t>-</a:t>
            </a:r>
            <a:r>
              <a:rPr lang="zh-CN" altLang="en-US"/>
              <a:t> </a:t>
            </a:r>
            <a:r>
              <a:rPr lang="en-US" altLang="zh-CN"/>
              <a:t>main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76692" y="1209116"/>
            <a:ext cx="11501313" cy="29353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总结一下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的启动由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dyld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主导，将可执行文件加载到内存，顺便加载所有依赖的动态库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并由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负责加载成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定义的结构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所有初始化工作结束后，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dyld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就会调用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接下来就是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UIApplicationMain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AppDelegate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application:didFinishLaunchingWithOptions: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172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APP</a:t>
            </a:r>
            <a:r>
              <a:rPr lang="zh-CN" altLang="en-US"/>
              <a:t>的启动优化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76692" y="1209115"/>
            <a:ext cx="11501313" cy="52510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按照不同的阶段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dyld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减少动态库、合并一些动态库（定期清理不必要的动态库）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类、分类的数量、减少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Selector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数量（定期清理不必要的类、分类）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虚函数数量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Swift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尽量使用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struct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+initialize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dispatch_once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取代所有的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__attribute__((constructor))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静态构造器、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+load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在不影响用户体验的前提下，尽可能将一些操作延迟，不要全部都放在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finishLaunching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方法中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按需加载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953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安装包瘦身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76692" y="1268491"/>
            <a:ext cx="11501313" cy="52273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安装包（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IPA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）主要由可执行文件、资源组成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资源（图片、音频、视频等）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采取无损压缩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去除没有用到的资源：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https://github.com/tinymind/LSUnusedResources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可执行文件瘦身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编译器优化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Strip Linked Product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Make Strings Read-Only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Symbols Hidden by Default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YES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去掉异常支持，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Enable C++ Exceptions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Enable Objective-C Exceptions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Other C Flags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-fno-exceptions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AppCode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https://www.jetbrains.com/objc/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）检测未使用的代码：菜单栏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Inspect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插件检测出重复代码、未被调用的代码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689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LinkMap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76692" y="1220991"/>
            <a:ext cx="11501313" cy="46530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LinkMap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文件，可以查看可执行文件的具体组成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36" y="1733797"/>
            <a:ext cx="8420100" cy="2159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376691" y="4247219"/>
            <a:ext cx="11501313" cy="46530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可借助第三方工具解析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LinkMap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文件：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https://github.com/huanxsd/LinkMap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399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-Seemygo.potx" id="{3322639B-F8FE-4D8E-B95A-689F35BC92D4}" vid="{7BDECA8C-96EE-4475-8611-81F66AB506B9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00-学前须知</Template>
  <TotalTime>14976</TotalTime>
  <Words>1627</Words>
  <Application>Microsoft Macintosh PowerPoint</Application>
  <PresentationFormat>宽屏</PresentationFormat>
  <Paragraphs>198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等线</vt:lpstr>
      <vt:lpstr>宋体</vt:lpstr>
      <vt:lpstr>微软雅黑</vt:lpstr>
      <vt:lpstr>Arial</vt:lpstr>
      <vt:lpstr>Calibri</vt:lpstr>
      <vt:lpstr>Calibri Light</vt:lpstr>
      <vt:lpstr>Menlo-Regular</vt:lpstr>
      <vt:lpstr>Wingdings</vt:lpstr>
      <vt:lpstr>Office 主题</vt:lpstr>
      <vt:lpstr>性能优化</vt:lpstr>
      <vt:lpstr>面试题</vt:lpstr>
      <vt:lpstr>CPU和GPU</vt:lpstr>
      <vt:lpstr>屏幕成像原理</vt:lpstr>
      <vt:lpstr>卡顿产生的原因</vt:lpstr>
      <vt:lpstr>卡顿优化 - CPU</vt:lpstr>
      <vt:lpstr>卡顿优化 - GPU</vt:lpstr>
      <vt:lpstr>离屏渲染</vt:lpstr>
      <vt:lpstr>卡顿检测</vt:lpstr>
      <vt:lpstr>耗电的主要来源</vt:lpstr>
      <vt:lpstr>耗电优化</vt:lpstr>
      <vt:lpstr>耗电优化</vt:lpstr>
      <vt:lpstr>APP的启动</vt:lpstr>
      <vt:lpstr>APP的启动</vt:lpstr>
      <vt:lpstr>APP的启动 - dyld</vt:lpstr>
      <vt:lpstr>APP的启动 - runtime</vt:lpstr>
      <vt:lpstr>APP的启动 - main</vt:lpstr>
      <vt:lpstr>APP的启动优化</vt:lpstr>
      <vt:lpstr>安装包瘦身</vt:lpstr>
      <vt:lpstr>LinkMap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李明杰</dc:creator>
  <cp:lastModifiedBy>翁恒丛</cp:lastModifiedBy>
  <cp:revision>998</cp:revision>
  <dcterms:created xsi:type="dcterms:W3CDTF">2017-11-23T13:35:11Z</dcterms:created>
  <dcterms:modified xsi:type="dcterms:W3CDTF">2019-01-02T09:07:41Z</dcterms:modified>
</cp:coreProperties>
</file>